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Times New Roman Bold" charset="1" panose="02020803070505020304"/>
      <p:regular r:id="rId35"/>
    </p:embeddedFont>
    <p:embeddedFont>
      <p:font typeface="Times New Roman" charset="1" panose="02020603050405020304"/>
      <p:regular r:id="rId36"/>
    </p:embeddedFont>
    <p:embeddedFont>
      <p:font typeface="Canva Sans 1 Bold" charset="1" panose="020B0803030501040103"/>
      <p:regular r:id="rId42"/>
    </p:embeddedFont>
    <p:embeddedFont>
      <p:font typeface="Arimo" charset="1" panose="020B0604020202020204"/>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notesMasters/notesMaster1.xml" Type="http://schemas.openxmlformats.org/officeDocument/2006/relationships/notesMaster"/><Relationship Id="rId33" Target="theme/theme2.xml" Type="http://schemas.openxmlformats.org/officeDocument/2006/relationships/theme"/><Relationship Id="rId34" Target="notesSlides/notesSlide1.xml" Type="http://schemas.openxmlformats.org/officeDocument/2006/relationships/notesSlide"/><Relationship Id="rId35" Target="fonts/font35.fntdata" Type="http://schemas.openxmlformats.org/officeDocument/2006/relationships/font"/><Relationship Id="rId36" Target="fonts/font36.fntdata" Type="http://schemas.openxmlformats.org/officeDocument/2006/relationships/font"/><Relationship Id="rId37" Target="notesSlides/notesSlide2.xml" Type="http://schemas.openxmlformats.org/officeDocument/2006/relationships/notesSlide"/><Relationship Id="rId38" Target="notesSlides/notesSlide3.xml" Type="http://schemas.openxmlformats.org/officeDocument/2006/relationships/notesSlide"/><Relationship Id="rId39" Target="notesSlides/notesSlide4.xml" Type="http://schemas.openxmlformats.org/officeDocument/2006/relationships/notesSlide"/><Relationship Id="rId4" Target="theme/theme1.xml" Type="http://schemas.openxmlformats.org/officeDocument/2006/relationships/theme"/><Relationship Id="rId40" Target="notesSlides/notesSlide5.xml" Type="http://schemas.openxmlformats.org/officeDocument/2006/relationships/notesSlide"/><Relationship Id="rId41" Target="notesSlides/notesSlide6.xml" Type="http://schemas.openxmlformats.org/officeDocument/2006/relationships/notesSlide"/><Relationship Id="rId42" Target="fonts/font42.fntdata" Type="http://schemas.openxmlformats.org/officeDocument/2006/relationships/font"/><Relationship Id="rId43" Target="fonts/font43.fntdata" Type="http://schemas.openxmlformats.org/officeDocument/2006/relationships/font"/><Relationship Id="rId44" Target="notesSlides/notesSlide7.xml" Type="http://schemas.openxmlformats.org/officeDocument/2006/relationships/notesSlide"/><Relationship Id="rId45" Target="notesSlides/notesSlide8.xml" Type="http://schemas.openxmlformats.org/officeDocument/2006/relationships/notesSlide"/><Relationship Id="rId46" Target="notesSlides/notesSlide9.xml" Type="http://schemas.openxmlformats.org/officeDocument/2006/relationships/notesSlide"/><Relationship Id="rId47" Target="notesSlides/notesSlide10.xml" Type="http://schemas.openxmlformats.org/officeDocument/2006/relationships/notesSlide"/><Relationship Id="rId48" Target="notesSlides/notesSlide11.xml" Type="http://schemas.openxmlformats.org/officeDocument/2006/relationships/notesSlide"/><Relationship Id="rId49" Target="notesSlides/notesSlide12.xml" Type="http://schemas.openxmlformats.org/officeDocument/2006/relationships/notesSlide"/><Relationship Id="rId5" Target="tableStyles.xml" Type="http://schemas.openxmlformats.org/officeDocument/2006/relationships/tableStyles"/><Relationship Id="rId50" Target="notesSlides/notesSlide13.xml" Type="http://schemas.openxmlformats.org/officeDocument/2006/relationships/notesSlide"/><Relationship Id="rId51" Target="notesSlides/notesSlide14.xml" Type="http://schemas.openxmlformats.org/officeDocument/2006/relationships/notesSlide"/><Relationship Id="rId52" Target="notesSlides/notesSlide15.xml" Type="http://schemas.openxmlformats.org/officeDocument/2006/relationships/notesSlide"/><Relationship Id="rId53" Target="notesSlides/notesSlide16.xml" Type="http://schemas.openxmlformats.org/officeDocument/2006/relationships/notesSlide"/><Relationship Id="rId54" Target="notesSlides/notesSlide17.xml" Type="http://schemas.openxmlformats.org/officeDocument/2006/relationships/notesSlide"/><Relationship Id="rId55" Target="notesSlides/notesSlide18.xml" Type="http://schemas.openxmlformats.org/officeDocument/2006/relationships/notesSlide"/><Relationship Id="rId56" Target="notesSlides/notesSlide19.xml" Type="http://schemas.openxmlformats.org/officeDocument/2006/relationships/notesSlide"/><Relationship Id="rId57" Target="notesSlides/notesSlide20.xml" Type="http://schemas.openxmlformats.org/officeDocument/2006/relationships/notesSlide"/><Relationship Id="rId58" Target="notesSlides/notesSlide21.xml" Type="http://schemas.openxmlformats.org/officeDocument/2006/relationships/notesSlide"/><Relationship Id="rId59" Target="notesSlides/notesSlide22.xml" Type="http://schemas.openxmlformats.org/officeDocument/2006/relationships/notesSlide"/><Relationship Id="rId6" Target="slides/slide1.xml" Type="http://schemas.openxmlformats.org/officeDocument/2006/relationships/slide"/><Relationship Id="rId60" Target="notesSlides/notesSlide23.xml" Type="http://schemas.openxmlformats.org/officeDocument/2006/relationships/notesSlide"/><Relationship Id="rId61" Target="notesSlides/notesSlide24.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NOTE:</a:t>
            </a:r>
          </a:p>
          <a:p>
            <a:r>
              <a:rPr lang="en-US"/>
              <a:t>To change the  image on this slide, select the picture and delete it. Then click the Pictures icon in the placeholder to insert your own image.</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 Id="rId6" Target="../media/image4.png" Type="http://schemas.openxmlformats.org/officeDocument/2006/relationships/image"/><Relationship Id="rId7"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 Id="rId6" Target="../media/image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 Id="rId6"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6.pn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 Id="rId6" Target="../media/image10.png" Type="http://schemas.openxmlformats.org/officeDocument/2006/relationships/image"/><Relationship Id="rId7" Target="../embeddings/oleObject1.bin" Type="http://schemas.openxmlformats.org/officeDocument/2006/relationships/oleObjec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6.pn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https://raptwin.seloraos.online"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0" y="0"/>
            <a:ext cx="18288000" cy="1619822"/>
            <a:chOff x="0" y="0"/>
            <a:chExt cx="24384000" cy="2159762"/>
          </a:xfrm>
        </p:grpSpPr>
        <p:sp>
          <p:nvSpPr>
            <p:cNvPr name="Freeform 5" id="5"/>
            <p:cNvSpPr/>
            <p:nvPr/>
          </p:nvSpPr>
          <p:spPr>
            <a:xfrm flipH="false" flipV="false" rot="0">
              <a:off x="0" y="0"/>
              <a:ext cx="24384000" cy="2159762"/>
            </a:xfrm>
            <a:custGeom>
              <a:avLst/>
              <a:gdLst/>
              <a:ahLst/>
              <a:cxnLst/>
              <a:rect r="r" b="b" t="t" l="l"/>
              <a:pathLst>
                <a:path h="2159762" w="24384000">
                  <a:moveTo>
                    <a:pt x="0" y="0"/>
                  </a:moveTo>
                  <a:lnTo>
                    <a:pt x="24384000" y="0"/>
                  </a:lnTo>
                  <a:lnTo>
                    <a:pt x="24384000" y="2159762"/>
                  </a:lnTo>
                  <a:lnTo>
                    <a:pt x="0" y="2159762"/>
                  </a:lnTo>
                  <a:close/>
                </a:path>
              </a:pathLst>
            </a:custGeom>
            <a:solidFill>
              <a:srgbClr val="514843"/>
            </a:solidFill>
          </p:spPr>
        </p:sp>
      </p:grpSp>
      <p:sp>
        <p:nvSpPr>
          <p:cNvPr name="AutoShape 6" id="6"/>
          <p:cNvSpPr/>
          <p:nvPr/>
        </p:nvSpPr>
        <p:spPr>
          <a:xfrm rot="5340">
            <a:off x="-57198" y="1785376"/>
            <a:ext cx="18402395" cy="0"/>
          </a:xfrm>
          <a:prstGeom prst="line">
            <a:avLst/>
          </a:prstGeom>
          <a:ln cap="rnd" w="19050">
            <a:solidFill>
              <a:srgbClr val="514843"/>
            </a:solidFill>
            <a:prstDash val="solid"/>
            <a:headEnd type="none" len="sm" w="sm"/>
            <a:tailEnd type="none" len="sm" w="sm"/>
          </a:ln>
        </p:spPr>
      </p:sp>
      <p:sp>
        <p:nvSpPr>
          <p:cNvPr name="AutoShape 7" id="7"/>
          <p:cNvSpPr/>
          <p:nvPr/>
        </p:nvSpPr>
        <p:spPr>
          <a:xfrm rot="1800">
            <a:off x="-19050" y="1704975"/>
            <a:ext cx="18326110" cy="0"/>
          </a:xfrm>
          <a:prstGeom prst="line">
            <a:avLst/>
          </a:prstGeom>
          <a:ln cap="rnd" w="9525">
            <a:solidFill>
              <a:srgbClr val="514843"/>
            </a:solidFill>
            <a:prstDash val="solid"/>
            <a:headEnd type="none" len="sm" w="sm"/>
            <a:tailEnd type="none" len="sm" w="sm"/>
          </a:ln>
        </p:spPr>
      </p:sp>
      <p:grpSp>
        <p:nvGrpSpPr>
          <p:cNvPr name="Group 8" id="8"/>
          <p:cNvGrpSpPr/>
          <p:nvPr/>
        </p:nvGrpSpPr>
        <p:grpSpPr>
          <a:xfrm rot="0">
            <a:off x="1988820" y="0"/>
            <a:ext cx="2621280" cy="3438144"/>
            <a:chOff x="0" y="0"/>
            <a:chExt cx="3495040" cy="4584192"/>
          </a:xfrm>
        </p:grpSpPr>
        <p:sp>
          <p:nvSpPr>
            <p:cNvPr name="Freeform 9" id="9"/>
            <p:cNvSpPr/>
            <p:nvPr/>
          </p:nvSpPr>
          <p:spPr>
            <a:xfrm flipH="false" flipV="false" rot="0">
              <a:off x="0" y="0"/>
              <a:ext cx="3495040" cy="4584192"/>
            </a:xfrm>
            <a:custGeom>
              <a:avLst/>
              <a:gdLst/>
              <a:ahLst/>
              <a:cxnLst/>
              <a:rect r="r" b="b" t="t" l="l"/>
              <a:pathLst>
                <a:path h="4584192" w="3495040">
                  <a:moveTo>
                    <a:pt x="0" y="0"/>
                  </a:moveTo>
                  <a:lnTo>
                    <a:pt x="3495040" y="0"/>
                  </a:lnTo>
                  <a:lnTo>
                    <a:pt x="3495040" y="4584192"/>
                  </a:lnTo>
                  <a:lnTo>
                    <a:pt x="0" y="4584192"/>
                  </a:lnTo>
                  <a:lnTo>
                    <a:pt x="0" y="0"/>
                  </a:lnTo>
                  <a:close/>
                </a:path>
              </a:pathLst>
            </a:custGeom>
            <a:blipFill>
              <a:blip r:embed="rId3"/>
              <a:stretch>
                <a:fillRect l="0" t="-36527" r="0" b="-36527"/>
              </a:stretch>
            </a:blipFill>
          </p:spPr>
        </p:sp>
      </p:grpSp>
      <p:sp>
        <p:nvSpPr>
          <p:cNvPr name="AutoShape 10" id="10"/>
          <p:cNvSpPr/>
          <p:nvPr/>
        </p:nvSpPr>
        <p:spPr>
          <a:xfrm rot="5340">
            <a:off x="-57198" y="8444455"/>
            <a:ext cx="18402395" cy="0"/>
          </a:xfrm>
          <a:prstGeom prst="line">
            <a:avLst/>
          </a:prstGeom>
          <a:ln cap="rnd" w="19050">
            <a:solidFill>
              <a:srgbClr val="514843"/>
            </a:solidFill>
            <a:prstDash val="solid"/>
            <a:headEnd type="none" len="sm" w="sm"/>
            <a:tailEnd type="none" len="sm" w="sm"/>
          </a:ln>
        </p:spPr>
      </p:sp>
      <p:sp>
        <p:nvSpPr>
          <p:cNvPr name="AutoShape 11" id="11"/>
          <p:cNvSpPr/>
          <p:nvPr/>
        </p:nvSpPr>
        <p:spPr>
          <a:xfrm rot="1800">
            <a:off x="-19050" y="8553431"/>
            <a:ext cx="18326110" cy="0"/>
          </a:xfrm>
          <a:prstGeom prst="line">
            <a:avLst/>
          </a:prstGeom>
          <a:ln cap="rnd" w="9525">
            <a:solidFill>
              <a:srgbClr val="514843"/>
            </a:solidFill>
            <a:prstDash val="solid"/>
            <a:headEnd type="none" len="sm" w="sm"/>
            <a:tailEnd type="none" len="sm" w="sm"/>
          </a:ln>
        </p:spPr>
      </p:sp>
      <p:grpSp>
        <p:nvGrpSpPr>
          <p:cNvPr name="Group 12" id="12"/>
          <p:cNvGrpSpPr/>
          <p:nvPr/>
        </p:nvGrpSpPr>
        <p:grpSpPr>
          <a:xfrm rot="0">
            <a:off x="0" y="8667188"/>
            <a:ext cx="18288000" cy="1619822"/>
            <a:chOff x="0" y="0"/>
            <a:chExt cx="24384000" cy="2159762"/>
          </a:xfrm>
        </p:grpSpPr>
        <p:sp>
          <p:nvSpPr>
            <p:cNvPr name="Freeform 13" id="13"/>
            <p:cNvSpPr/>
            <p:nvPr/>
          </p:nvSpPr>
          <p:spPr>
            <a:xfrm flipH="false" flipV="false" rot="0">
              <a:off x="0" y="0"/>
              <a:ext cx="24384000" cy="2159762"/>
            </a:xfrm>
            <a:custGeom>
              <a:avLst/>
              <a:gdLst/>
              <a:ahLst/>
              <a:cxnLst/>
              <a:rect r="r" b="b" t="t" l="l"/>
              <a:pathLst>
                <a:path h="2159762" w="24384000">
                  <a:moveTo>
                    <a:pt x="0" y="0"/>
                  </a:moveTo>
                  <a:lnTo>
                    <a:pt x="24384000" y="0"/>
                  </a:lnTo>
                  <a:lnTo>
                    <a:pt x="24384000" y="2159762"/>
                  </a:lnTo>
                  <a:lnTo>
                    <a:pt x="0" y="2159762"/>
                  </a:lnTo>
                  <a:close/>
                </a:path>
              </a:pathLst>
            </a:custGeom>
            <a:solidFill>
              <a:srgbClr val="514843"/>
            </a:solidFill>
          </p:spPr>
        </p:sp>
      </p:grpSp>
      <p:grpSp>
        <p:nvGrpSpPr>
          <p:cNvPr name="Group 14" id="14"/>
          <p:cNvGrpSpPr/>
          <p:nvPr/>
        </p:nvGrpSpPr>
        <p:grpSpPr>
          <a:xfrm rot="0">
            <a:off x="919563" y="3603708"/>
            <a:ext cx="8630669" cy="2440343"/>
            <a:chOff x="0" y="0"/>
            <a:chExt cx="11507559" cy="3253791"/>
          </a:xfrm>
        </p:grpSpPr>
        <p:sp>
          <p:nvSpPr>
            <p:cNvPr name="Freeform 15" id="15"/>
            <p:cNvSpPr/>
            <p:nvPr/>
          </p:nvSpPr>
          <p:spPr>
            <a:xfrm flipH="false" flipV="false" rot="0">
              <a:off x="0" y="0"/>
              <a:ext cx="11507597" cy="3253740"/>
            </a:xfrm>
            <a:custGeom>
              <a:avLst/>
              <a:gdLst/>
              <a:ahLst/>
              <a:cxnLst/>
              <a:rect r="r" b="b" t="t" l="l"/>
              <a:pathLst>
                <a:path h="3253740" w="11507597">
                  <a:moveTo>
                    <a:pt x="0" y="0"/>
                  </a:moveTo>
                  <a:lnTo>
                    <a:pt x="11507597" y="0"/>
                  </a:lnTo>
                  <a:lnTo>
                    <a:pt x="11507597" y="3253740"/>
                  </a:lnTo>
                  <a:lnTo>
                    <a:pt x="0" y="3253740"/>
                  </a:lnTo>
                  <a:close/>
                </a:path>
              </a:pathLst>
            </a:custGeom>
            <a:blipFill>
              <a:blip r:embed="rId4">
                <a:alphaModFix amt="0"/>
              </a:blip>
              <a:stretch>
                <a:fillRect l="0" t="-18864" r="0" b="-18866"/>
              </a:stretch>
            </a:blipFill>
          </p:spPr>
        </p:sp>
      </p:grpSp>
      <p:grpSp>
        <p:nvGrpSpPr>
          <p:cNvPr name="Group 16" id="16"/>
          <p:cNvGrpSpPr/>
          <p:nvPr/>
        </p:nvGrpSpPr>
        <p:grpSpPr>
          <a:xfrm rot="0">
            <a:off x="919563" y="3625139"/>
            <a:ext cx="8630669" cy="2418921"/>
            <a:chOff x="0" y="0"/>
            <a:chExt cx="11507559" cy="3225228"/>
          </a:xfrm>
        </p:grpSpPr>
        <p:sp>
          <p:nvSpPr>
            <p:cNvPr name="Freeform 17" id="17"/>
            <p:cNvSpPr/>
            <p:nvPr/>
          </p:nvSpPr>
          <p:spPr>
            <a:xfrm flipH="false" flipV="false" rot="0">
              <a:off x="0" y="0"/>
              <a:ext cx="11507559" cy="3225225"/>
            </a:xfrm>
            <a:custGeom>
              <a:avLst/>
              <a:gdLst/>
              <a:ahLst/>
              <a:cxnLst/>
              <a:rect r="r" b="b" t="t" l="l"/>
              <a:pathLst>
                <a:path h="3225225" w="11507559">
                  <a:moveTo>
                    <a:pt x="0" y="0"/>
                  </a:moveTo>
                  <a:lnTo>
                    <a:pt x="11507559" y="0"/>
                  </a:lnTo>
                  <a:lnTo>
                    <a:pt x="11507559" y="3225225"/>
                  </a:lnTo>
                  <a:lnTo>
                    <a:pt x="0" y="3225225"/>
                  </a:lnTo>
                  <a:close/>
                </a:path>
              </a:pathLst>
            </a:custGeom>
            <a:blipFill>
              <a:blip r:embed="rId5">
                <a:alphaModFix amt="0"/>
              </a:blip>
              <a:stretch>
                <a:fillRect l="0" t="-19522" r="0" b="-19522"/>
              </a:stretch>
            </a:blipFill>
          </p:spPr>
        </p:sp>
        <p:sp>
          <p:nvSpPr>
            <p:cNvPr name="TextBox 18" id="18"/>
            <p:cNvSpPr txBox="true"/>
            <p:nvPr/>
          </p:nvSpPr>
          <p:spPr>
            <a:xfrm>
              <a:off x="0" y="28575"/>
              <a:ext cx="11507559" cy="3196653"/>
            </a:xfrm>
            <a:prstGeom prst="rect">
              <a:avLst/>
            </a:prstGeom>
          </p:spPr>
          <p:txBody>
            <a:bodyPr anchor="ctr" rtlCol="false" tIns="0" lIns="0" bIns="0" rIns="0"/>
            <a:lstStyle/>
            <a:p>
              <a:pPr algn="l">
                <a:lnSpc>
                  <a:spcPts val="4536"/>
                </a:lnSpc>
              </a:pPr>
              <a:r>
                <a:rPr lang="en-US" sz="42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sp>
        <p:nvSpPr>
          <p:cNvPr name="TextBox 19" id="19"/>
          <p:cNvSpPr txBox="true"/>
          <p:nvPr/>
        </p:nvSpPr>
        <p:spPr>
          <a:xfrm rot="0">
            <a:off x="785203" y="5791486"/>
            <a:ext cx="8660254" cy="2048789"/>
          </a:xfrm>
          <a:prstGeom prst="rect">
            <a:avLst/>
          </a:prstGeom>
        </p:spPr>
        <p:txBody>
          <a:bodyPr anchor="t" rtlCol="false" tIns="0" lIns="0" bIns="0" rIns="0">
            <a:spAutoFit/>
          </a:bodyPr>
          <a:lstStyle/>
          <a:p>
            <a:pPr algn="l">
              <a:lnSpc>
                <a:spcPts val="2332"/>
              </a:lnSpc>
            </a:pPr>
          </a:p>
          <a:p>
            <a:pPr algn="l">
              <a:lnSpc>
                <a:spcPts val="2332"/>
              </a:lnSpc>
            </a:pPr>
            <a:r>
              <a:rPr lang="en-US" sz="2700">
                <a:solidFill>
                  <a:srgbClr val="514843"/>
                </a:solidFill>
                <a:latin typeface="Times New Roman"/>
                <a:ea typeface="Times New Roman"/>
                <a:cs typeface="Times New Roman"/>
                <a:sym typeface="Times New Roman"/>
              </a:rPr>
              <a:t>Presented by: PID-1</a:t>
            </a:r>
          </a:p>
          <a:p>
            <a:pPr algn="l">
              <a:lnSpc>
                <a:spcPts val="2332"/>
              </a:lnSpc>
            </a:pPr>
          </a:p>
          <a:p>
            <a:pPr algn="l">
              <a:lnSpc>
                <a:spcPts val="2332"/>
              </a:lnSpc>
            </a:pPr>
            <a:r>
              <a:rPr lang="en-US" sz="2700">
                <a:solidFill>
                  <a:srgbClr val="514843"/>
                </a:solidFill>
                <a:latin typeface="Times New Roman"/>
                <a:ea typeface="Times New Roman"/>
                <a:cs typeface="Times New Roman"/>
                <a:sym typeface="Times New Roman"/>
              </a:rPr>
              <a:t>Class : TY AIDS(A)</a:t>
            </a:r>
          </a:p>
          <a:p>
            <a:pPr algn="l">
              <a:lnSpc>
                <a:spcPts val="2332"/>
              </a:lnSpc>
            </a:pPr>
          </a:p>
          <a:p>
            <a:pPr algn="l">
              <a:lnSpc>
                <a:spcPts val="2332"/>
              </a:lnSpc>
            </a:pPr>
            <a:r>
              <a:rPr lang="en-US" sz="2700">
                <a:solidFill>
                  <a:srgbClr val="514843"/>
                </a:solidFill>
                <a:latin typeface="Times New Roman"/>
                <a:ea typeface="Times New Roman"/>
                <a:cs typeface="Times New Roman"/>
                <a:sym typeface="Times New Roman"/>
              </a:rPr>
              <a:t>Guided by : K. K. Deshmukh</a:t>
            </a:r>
          </a:p>
          <a:p>
            <a:pPr algn="l">
              <a:lnSpc>
                <a:spcPts val="2332"/>
              </a:lnSpc>
            </a:pPr>
          </a:p>
        </p:txBody>
      </p:sp>
      <p:grpSp>
        <p:nvGrpSpPr>
          <p:cNvPr name="Group 20" id="20"/>
          <p:cNvGrpSpPr/>
          <p:nvPr/>
        </p:nvGrpSpPr>
        <p:grpSpPr>
          <a:xfrm rot="0">
            <a:off x="12599127" y="5016360"/>
            <a:ext cx="4016788" cy="3232880"/>
            <a:chOff x="0" y="0"/>
            <a:chExt cx="5355717" cy="4310507"/>
          </a:xfrm>
        </p:grpSpPr>
        <p:sp>
          <p:nvSpPr>
            <p:cNvPr name="Freeform 21" id="21"/>
            <p:cNvSpPr/>
            <p:nvPr/>
          </p:nvSpPr>
          <p:spPr>
            <a:xfrm flipH="false" flipV="false" rot="0">
              <a:off x="0" y="0"/>
              <a:ext cx="5355717" cy="4310507"/>
            </a:xfrm>
            <a:custGeom>
              <a:avLst/>
              <a:gdLst/>
              <a:ahLst/>
              <a:cxnLst/>
              <a:rect r="r" b="b" t="t" l="l"/>
              <a:pathLst>
                <a:path h="4310507" w="5355717">
                  <a:moveTo>
                    <a:pt x="0" y="0"/>
                  </a:moveTo>
                  <a:lnTo>
                    <a:pt x="5355717" y="0"/>
                  </a:lnTo>
                  <a:lnTo>
                    <a:pt x="5355717" y="4310507"/>
                  </a:lnTo>
                  <a:lnTo>
                    <a:pt x="0" y="4310507"/>
                  </a:lnTo>
                  <a:lnTo>
                    <a:pt x="0" y="0"/>
                  </a:lnTo>
                  <a:close/>
                </a:path>
              </a:pathLst>
            </a:custGeom>
            <a:blipFill>
              <a:blip r:embed="rId6"/>
              <a:stretch>
                <a:fillRect l="0" t="-1874" r="0" b="-1874"/>
              </a:stretch>
            </a:blipFill>
          </p:spPr>
        </p:sp>
      </p:grpSp>
      <p:grpSp>
        <p:nvGrpSpPr>
          <p:cNvPr name="Group 22" id="22"/>
          <p:cNvGrpSpPr/>
          <p:nvPr/>
        </p:nvGrpSpPr>
        <p:grpSpPr>
          <a:xfrm rot="0">
            <a:off x="10443753" y="1966303"/>
            <a:ext cx="7844218" cy="2984183"/>
            <a:chOff x="0" y="0"/>
            <a:chExt cx="10458958" cy="3978910"/>
          </a:xfrm>
        </p:grpSpPr>
        <p:sp>
          <p:nvSpPr>
            <p:cNvPr name="Freeform 23" id="23" descr="C:\Users\itdept\Desktop\Revision2_NAAC_Criteria\KKW Building photo. 27-4-17.jpg"/>
            <p:cNvSpPr/>
            <p:nvPr/>
          </p:nvSpPr>
          <p:spPr>
            <a:xfrm flipH="false" flipV="false" rot="0">
              <a:off x="0" y="0"/>
              <a:ext cx="10458958" cy="3978910"/>
            </a:xfrm>
            <a:custGeom>
              <a:avLst/>
              <a:gdLst/>
              <a:ahLst/>
              <a:cxnLst/>
              <a:rect r="r" b="b" t="t" l="l"/>
              <a:pathLst>
                <a:path h="3978910" w="10458958">
                  <a:moveTo>
                    <a:pt x="0" y="0"/>
                  </a:moveTo>
                  <a:lnTo>
                    <a:pt x="10458958" y="0"/>
                  </a:lnTo>
                  <a:lnTo>
                    <a:pt x="10458958" y="3978910"/>
                  </a:lnTo>
                  <a:lnTo>
                    <a:pt x="0" y="3978910"/>
                  </a:lnTo>
                  <a:lnTo>
                    <a:pt x="0" y="0"/>
                  </a:lnTo>
                  <a:close/>
                </a:path>
              </a:pathLst>
            </a:custGeom>
            <a:blipFill>
              <a:blip r:embed="rId7"/>
              <a:stretch>
                <a:fillRect l="-4939" t="0" r="-4939"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a:solidFill>
                    <a:srgbClr val="514843"/>
                  </a:solidFill>
                  <a:latin typeface="Times New Roman"/>
                  <a:ea typeface="Times New Roman"/>
                  <a:cs typeface="Times New Roman"/>
                  <a:sym typeface="Times New Roman"/>
                </a:rPr>
                <a:t>Outline</a:t>
              </a:r>
            </a:p>
          </p:txBody>
        </p:sp>
      </p:grpSp>
      <p:sp>
        <p:nvSpPr>
          <p:cNvPr name="TextBox 9" id="9"/>
          <p:cNvSpPr txBox="true"/>
          <p:nvPr/>
        </p:nvSpPr>
        <p:spPr>
          <a:xfrm rot="0">
            <a:off x="1504950" y="2361629"/>
            <a:ext cx="14973300" cy="3775434"/>
          </a:xfrm>
          <a:prstGeom prst="rect">
            <a:avLst/>
          </a:prstGeom>
        </p:spPr>
        <p:txBody>
          <a:bodyPr anchor="t" rtlCol="false" tIns="0" lIns="0" bIns="0" rIns="0">
            <a:spAutoFit/>
          </a:bodyPr>
          <a:lstStyle/>
          <a:p>
            <a:pPr algn="l">
              <a:lnSpc>
                <a:spcPts val="3304"/>
              </a:lnSpc>
            </a:pPr>
          </a:p>
          <a:p>
            <a:pPr algn="l" marL="717747" indent="-239249" lvl="2">
              <a:lnSpc>
                <a:spcPts val="3304"/>
              </a:lnSpc>
              <a:buFont typeface="Arial"/>
              <a:buChar char="⚬"/>
            </a:pPr>
            <a:r>
              <a:rPr lang="en-US" sz="3399">
                <a:solidFill>
                  <a:srgbClr val="514843"/>
                </a:solidFill>
                <a:latin typeface="Times New Roman"/>
                <a:ea typeface="Times New Roman"/>
                <a:cs typeface="Times New Roman"/>
                <a:sym typeface="Times New Roman"/>
              </a:rPr>
              <a:t>Introduction</a:t>
            </a:r>
          </a:p>
          <a:p>
            <a:pPr algn="l" marL="717747" indent="-239249" lvl="2">
              <a:lnSpc>
                <a:spcPts val="3304"/>
              </a:lnSpc>
              <a:buFont typeface="Arial"/>
              <a:buChar char="⚬"/>
            </a:pPr>
            <a:r>
              <a:rPr lang="en-US" sz="3399">
                <a:solidFill>
                  <a:srgbClr val="514843"/>
                </a:solidFill>
                <a:latin typeface="Times New Roman"/>
                <a:ea typeface="Times New Roman"/>
                <a:cs typeface="Times New Roman"/>
                <a:sym typeface="Times New Roman"/>
              </a:rPr>
              <a:t>Problem Statement</a:t>
            </a:r>
          </a:p>
          <a:p>
            <a:pPr algn="l" marL="728539" indent="-242846" lvl="2">
              <a:lnSpc>
                <a:spcPts val="3304"/>
              </a:lnSpc>
              <a:buFont typeface="Arial"/>
              <a:buChar char="⚬"/>
            </a:pPr>
            <a:r>
              <a:rPr lang="en-US" sz="3399">
                <a:solidFill>
                  <a:srgbClr val="514843"/>
                </a:solidFill>
                <a:latin typeface="Times New Roman"/>
                <a:ea typeface="Times New Roman"/>
                <a:cs typeface="Times New Roman"/>
                <a:sym typeface="Times New Roman"/>
              </a:rPr>
              <a:t>Objectives</a:t>
            </a:r>
          </a:p>
          <a:p>
            <a:pPr algn="l" marL="717747" indent="-239249" lvl="2">
              <a:lnSpc>
                <a:spcPts val="3304"/>
              </a:lnSpc>
              <a:buFont typeface="Arial"/>
              <a:buChar char="⚬"/>
            </a:pPr>
            <a:r>
              <a:rPr lang="en-US" sz="3399">
                <a:solidFill>
                  <a:srgbClr val="514843"/>
                </a:solidFill>
                <a:latin typeface="Times New Roman"/>
                <a:ea typeface="Times New Roman"/>
                <a:cs typeface="Times New Roman"/>
                <a:sym typeface="Times New Roman"/>
              </a:rPr>
              <a:t>Literature Review </a:t>
            </a:r>
          </a:p>
          <a:p>
            <a:pPr algn="l" marL="717747" indent="-239249" lvl="2">
              <a:lnSpc>
                <a:spcPts val="3304"/>
              </a:lnSpc>
              <a:buFont typeface="Arial"/>
              <a:buChar char="⚬"/>
            </a:pPr>
            <a:r>
              <a:rPr lang="en-US" sz="3399">
                <a:solidFill>
                  <a:srgbClr val="514843"/>
                </a:solidFill>
                <a:latin typeface="Times New Roman"/>
                <a:ea typeface="Times New Roman"/>
                <a:cs typeface="Times New Roman"/>
                <a:sym typeface="Times New Roman"/>
              </a:rPr>
              <a:t>Methodology(Block diagram,Proposed approach,Techniques,tools)</a:t>
            </a:r>
          </a:p>
          <a:p>
            <a:pPr algn="l" marL="728539" indent="-242846" lvl="2">
              <a:lnSpc>
                <a:spcPts val="3304"/>
              </a:lnSpc>
              <a:buFont typeface="Arial"/>
              <a:buChar char="⚬"/>
            </a:pPr>
            <a:r>
              <a:rPr lang="en-US" sz="3399">
                <a:solidFill>
                  <a:srgbClr val="514843"/>
                </a:solidFill>
                <a:latin typeface="Times New Roman"/>
                <a:ea typeface="Times New Roman"/>
                <a:cs typeface="Times New Roman"/>
                <a:sym typeface="Times New Roman"/>
              </a:rPr>
              <a:t>Expected Outcomes (Input,Output)</a:t>
            </a:r>
          </a:p>
          <a:p>
            <a:pPr algn="l" marL="717747" indent="-239249" lvl="2">
              <a:lnSpc>
                <a:spcPts val="3304"/>
              </a:lnSpc>
              <a:buFont typeface="Arial"/>
              <a:buChar char="⚬"/>
            </a:pPr>
            <a:r>
              <a:rPr lang="en-US" sz="3399">
                <a:solidFill>
                  <a:srgbClr val="514843"/>
                </a:solidFill>
                <a:latin typeface="Times New Roman"/>
                <a:ea typeface="Times New Roman"/>
                <a:cs typeface="Times New Roman"/>
                <a:sym typeface="Times New Roman"/>
              </a:rPr>
              <a:t>Summary (Key takeaways from seminar)</a:t>
            </a:r>
          </a:p>
          <a:p>
            <a:pPr algn="l" marL="717747" indent="-239249" lvl="2">
              <a:lnSpc>
                <a:spcPts val="3304"/>
              </a:lnSpc>
              <a:buFont typeface="Arial"/>
              <a:buChar char="⚬"/>
            </a:pPr>
            <a:r>
              <a:rPr lang="en-US" sz="3399">
                <a:solidFill>
                  <a:srgbClr val="514843"/>
                </a:solidFill>
                <a:latin typeface="Times New Roman"/>
                <a:ea typeface="Times New Roman"/>
                <a:cs typeface="Times New Roman"/>
                <a:sym typeface="Times New Roman"/>
              </a:rPr>
              <a:t>References(List of  papers and sources referred)</a:t>
            </a:r>
          </a:p>
        </p:txBody>
      </p:sp>
      <p:grpSp>
        <p:nvGrpSpPr>
          <p:cNvPr name="Group 10" id="10"/>
          <p:cNvGrpSpPr/>
          <p:nvPr/>
        </p:nvGrpSpPr>
        <p:grpSpPr>
          <a:xfrm rot="0">
            <a:off x="16379314" y="226124"/>
            <a:ext cx="1849946" cy="1544669"/>
            <a:chOff x="0" y="0"/>
            <a:chExt cx="2466594" cy="2059559"/>
          </a:xfrm>
        </p:grpSpPr>
        <p:sp>
          <p:nvSpPr>
            <p:cNvPr name="Freeform 11" id="11"/>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2" id="12"/>
          <p:cNvGrpSpPr/>
          <p:nvPr/>
        </p:nvGrpSpPr>
        <p:grpSpPr>
          <a:xfrm rot="0">
            <a:off x="2176672" y="9430341"/>
            <a:ext cx="12165492" cy="909237"/>
            <a:chOff x="0" y="0"/>
            <a:chExt cx="16220656" cy="1212317"/>
          </a:xfrm>
        </p:grpSpPr>
        <p:sp>
          <p:nvSpPr>
            <p:cNvPr name="Freeform 13" id="13"/>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4" id="14"/>
          <p:cNvGrpSpPr/>
          <p:nvPr/>
        </p:nvGrpSpPr>
        <p:grpSpPr>
          <a:xfrm rot="0">
            <a:off x="2176672" y="9423197"/>
            <a:ext cx="12165492" cy="916391"/>
            <a:chOff x="0" y="0"/>
            <a:chExt cx="16220656" cy="1221854"/>
          </a:xfrm>
        </p:grpSpPr>
        <p:sp>
          <p:nvSpPr>
            <p:cNvPr name="Freeform 15" id="15"/>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6" id="16"/>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7" id="17"/>
          <p:cNvGrpSpPr/>
          <p:nvPr/>
        </p:nvGrpSpPr>
        <p:grpSpPr>
          <a:xfrm rot="0">
            <a:off x="1237726" y="9611135"/>
            <a:ext cx="3163948" cy="547649"/>
            <a:chOff x="0" y="0"/>
            <a:chExt cx="4218597" cy="730199"/>
          </a:xfrm>
        </p:grpSpPr>
        <p:sp>
          <p:nvSpPr>
            <p:cNvPr name="Freeform 18" id="18"/>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19" id="19"/>
          <p:cNvGrpSpPr/>
          <p:nvPr/>
        </p:nvGrpSpPr>
        <p:grpSpPr>
          <a:xfrm rot="0">
            <a:off x="1237726" y="9596847"/>
            <a:ext cx="3163948" cy="561937"/>
            <a:chOff x="0" y="0"/>
            <a:chExt cx="4218597" cy="749250"/>
          </a:xfrm>
        </p:grpSpPr>
        <p:sp>
          <p:nvSpPr>
            <p:cNvPr name="Freeform 20" id="20"/>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1" id="21"/>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grpSp>
        <p:nvGrpSpPr>
          <p:cNvPr name="Group 22" id="22"/>
          <p:cNvGrpSpPr/>
          <p:nvPr/>
        </p:nvGrpSpPr>
        <p:grpSpPr>
          <a:xfrm rot="0">
            <a:off x="13899194" y="9534525"/>
            <a:ext cx="2743200" cy="547688"/>
            <a:chOff x="0" y="0"/>
            <a:chExt cx="3657600" cy="730250"/>
          </a:xfrm>
        </p:grpSpPr>
        <p:sp>
          <p:nvSpPr>
            <p:cNvPr name="Freeform 23" id="23"/>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24" id="24"/>
          <p:cNvGrpSpPr/>
          <p:nvPr/>
        </p:nvGrpSpPr>
        <p:grpSpPr>
          <a:xfrm rot="0">
            <a:off x="13899194" y="9520238"/>
            <a:ext cx="2743200" cy="561975"/>
            <a:chOff x="0" y="0"/>
            <a:chExt cx="3657600" cy="749300"/>
          </a:xfrm>
        </p:grpSpPr>
        <p:sp>
          <p:nvSpPr>
            <p:cNvPr name="Freeform 25" id="25"/>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6" id="26"/>
            <p:cNvSpPr txBox="true"/>
            <p:nvPr/>
          </p:nvSpPr>
          <p:spPr>
            <a:xfrm>
              <a:off x="0" y="-19050"/>
              <a:ext cx="3657600" cy="768350"/>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2</a:t>
              </a:r>
            </a:p>
          </p:txBody>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Introduction</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5"/>
            <a:chOff x="0" y="0"/>
            <a:chExt cx="3657600" cy="749300"/>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0"/>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3</a:t>
              </a:r>
            </a:p>
          </p:txBody>
        </p:sp>
      </p:grpSp>
      <p:sp>
        <p:nvSpPr>
          <p:cNvPr name="TextBox 21" id="21"/>
          <p:cNvSpPr txBox="true"/>
          <p:nvPr/>
        </p:nvSpPr>
        <p:spPr>
          <a:xfrm rot="0">
            <a:off x="1626699" y="2151193"/>
            <a:ext cx="15034612" cy="7059482"/>
          </a:xfrm>
          <a:prstGeom prst="rect">
            <a:avLst/>
          </a:prstGeom>
        </p:spPr>
        <p:txBody>
          <a:bodyPr anchor="t" rtlCol="false" tIns="0" lIns="0" bIns="0" rIns="0">
            <a:spAutoFit/>
          </a:bodyPr>
          <a:lstStyle/>
          <a:p>
            <a:pPr algn="just">
              <a:lnSpc>
                <a:spcPts val="4618"/>
              </a:lnSpc>
            </a:pPr>
            <a:r>
              <a:rPr lang="en-US" sz="3299">
                <a:solidFill>
                  <a:srgbClr val="000000"/>
                </a:solidFill>
                <a:latin typeface="Times New Roman"/>
                <a:ea typeface="Times New Roman"/>
                <a:cs typeface="Times New Roman"/>
                <a:sym typeface="Times New Roman"/>
              </a:rPr>
              <a:t>Modern distributed computing infrastructures including cloud, edge, and hybrid environments are characterized by dynamic workloads, heterogeneous hardware, and unpredictable failures. Testing and optimizing such systems in real world environments is both costly and risky, as even minor misconfigurations can lead to significant service disruptions. Existing simulation tools lack the capability to combine Digital Twin modeling, intelligent scheduling strategies, and resilience testing in a unified platform. Therefore, there is a critical need for a safe, scalable, and comprehensive simulation environment that enables researchers and engineers to evaluate infrastructure behavior, experiment with resource management strategies, and assess system resilience without impacting live systems. RAPtwin addresses this need by providing a Digital Twin-based simulation platform that integrates scheduling policy experimentation, chaos engineering, predictive analytics, and performance monitoring in a single unified framework.</a:t>
            </a:r>
          </a:p>
        </p:txBody>
      </p:sp>
      <p:grpSp>
        <p:nvGrpSpPr>
          <p:cNvPr name="Group 22" id="22"/>
          <p:cNvGrpSpPr/>
          <p:nvPr/>
        </p:nvGrpSpPr>
        <p:grpSpPr>
          <a:xfrm rot="0">
            <a:off x="1237726" y="9611135"/>
            <a:ext cx="3163948" cy="547649"/>
            <a:chOff x="0" y="0"/>
            <a:chExt cx="4218597" cy="730199"/>
          </a:xfrm>
        </p:grpSpPr>
        <p:sp>
          <p:nvSpPr>
            <p:cNvPr name="Freeform 23" id="23"/>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4" id="24"/>
          <p:cNvGrpSpPr/>
          <p:nvPr/>
        </p:nvGrpSpPr>
        <p:grpSpPr>
          <a:xfrm rot="0">
            <a:off x="1237726" y="9596847"/>
            <a:ext cx="3163948" cy="561937"/>
            <a:chOff x="0" y="0"/>
            <a:chExt cx="4218597" cy="749250"/>
          </a:xfrm>
        </p:grpSpPr>
        <p:sp>
          <p:nvSpPr>
            <p:cNvPr name="Freeform 25" id="25"/>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6" id="26"/>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Problem Statement</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624259"/>
            <a:chOff x="0" y="0"/>
            <a:chExt cx="3657600" cy="832345"/>
          </a:xfrm>
        </p:grpSpPr>
        <p:sp>
          <p:nvSpPr>
            <p:cNvPr name="Freeform 17" id="17"/>
            <p:cNvSpPr/>
            <p:nvPr/>
          </p:nvSpPr>
          <p:spPr>
            <a:xfrm flipH="false" flipV="false" rot="0">
              <a:off x="0" y="0"/>
              <a:ext cx="3657600" cy="832358"/>
            </a:xfrm>
            <a:custGeom>
              <a:avLst/>
              <a:gdLst/>
              <a:ahLst/>
              <a:cxnLst/>
              <a:rect r="r" b="b" t="t" l="l"/>
              <a:pathLst>
                <a:path h="832358" w="3657600">
                  <a:moveTo>
                    <a:pt x="0" y="0"/>
                  </a:moveTo>
                  <a:lnTo>
                    <a:pt x="3657600" y="0"/>
                  </a:lnTo>
                  <a:lnTo>
                    <a:pt x="3657600" y="832358"/>
                  </a:lnTo>
                  <a:lnTo>
                    <a:pt x="0" y="832358"/>
                  </a:lnTo>
                  <a:close/>
                </a:path>
              </a:pathLst>
            </a:custGeom>
            <a:blipFill>
              <a:blip r:embed="rId3">
                <a:alphaModFix amt="0"/>
              </a:blip>
              <a:stretch>
                <a:fillRect l="0" t="-35563" r="0" b="-35563"/>
              </a:stretch>
            </a:blipFill>
          </p:spPr>
        </p:sp>
      </p:grpSp>
      <p:grpSp>
        <p:nvGrpSpPr>
          <p:cNvPr name="Group 18" id="18"/>
          <p:cNvGrpSpPr/>
          <p:nvPr/>
        </p:nvGrpSpPr>
        <p:grpSpPr>
          <a:xfrm rot="0">
            <a:off x="13885174" y="9520238"/>
            <a:ext cx="2743200" cy="638546"/>
            <a:chOff x="0" y="0"/>
            <a:chExt cx="3657600" cy="851395"/>
          </a:xfrm>
        </p:grpSpPr>
        <p:sp>
          <p:nvSpPr>
            <p:cNvPr name="Freeform 19" id="19"/>
            <p:cNvSpPr/>
            <p:nvPr/>
          </p:nvSpPr>
          <p:spPr>
            <a:xfrm flipH="false" flipV="false" rot="0">
              <a:off x="0" y="0"/>
              <a:ext cx="3657600" cy="851397"/>
            </a:xfrm>
            <a:custGeom>
              <a:avLst/>
              <a:gdLst/>
              <a:ahLst/>
              <a:cxnLst/>
              <a:rect r="r" b="b" t="t" l="l"/>
              <a:pathLst>
                <a:path h="851397" w="3657600">
                  <a:moveTo>
                    <a:pt x="0" y="0"/>
                  </a:moveTo>
                  <a:lnTo>
                    <a:pt x="3657600" y="0"/>
                  </a:lnTo>
                  <a:lnTo>
                    <a:pt x="3657600" y="851397"/>
                  </a:lnTo>
                  <a:lnTo>
                    <a:pt x="0" y="851397"/>
                  </a:lnTo>
                  <a:close/>
                </a:path>
              </a:pathLst>
            </a:custGeom>
            <a:blipFill>
              <a:blip r:embed="rId4">
                <a:alphaModFix amt="0"/>
              </a:blip>
              <a:stretch>
                <a:fillRect l="0" t="-33707" r="0" b="-33707"/>
              </a:stretch>
            </a:blipFill>
          </p:spPr>
        </p:sp>
        <p:sp>
          <p:nvSpPr>
            <p:cNvPr name="TextBox 20" id="20"/>
            <p:cNvSpPr txBox="true"/>
            <p:nvPr/>
          </p:nvSpPr>
          <p:spPr>
            <a:xfrm>
              <a:off x="0" y="-19050"/>
              <a:ext cx="3657600" cy="870445"/>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4</a:t>
              </a:r>
            </a:p>
          </p:txBody>
        </p:sp>
      </p:grpSp>
      <p:sp>
        <p:nvSpPr>
          <p:cNvPr name="TextBox 21" id="21"/>
          <p:cNvSpPr txBox="true"/>
          <p:nvPr/>
        </p:nvSpPr>
        <p:spPr>
          <a:xfrm rot="0">
            <a:off x="1657350" y="2151193"/>
            <a:ext cx="15034612" cy="2411578"/>
          </a:xfrm>
          <a:prstGeom prst="rect">
            <a:avLst/>
          </a:prstGeom>
        </p:spPr>
        <p:txBody>
          <a:bodyPr anchor="t" rtlCol="false" tIns="0" lIns="0" bIns="0" rIns="0">
            <a:spAutoFit/>
          </a:bodyPr>
          <a:lstStyle/>
          <a:p>
            <a:pPr algn="just">
              <a:lnSpc>
                <a:spcPts val="4618"/>
              </a:lnSpc>
            </a:pPr>
            <a:r>
              <a:rPr lang="en-US" sz="3299">
                <a:solidFill>
                  <a:srgbClr val="000000"/>
                </a:solidFill>
                <a:latin typeface="Times New Roman"/>
                <a:ea typeface="Times New Roman"/>
                <a:cs typeface="Times New Roman"/>
                <a:sym typeface="Times New Roman"/>
              </a:rPr>
              <a:t>To address the lack of safe and scalable experimentation platforms for distributed computing infrastructure by developing a digital twin based simulation environment that enables testing of scheduling strategies, fault injection, and resource optimization without impacting real systems.</a:t>
            </a:r>
          </a:p>
        </p:txBody>
      </p:sp>
      <p:grpSp>
        <p:nvGrpSpPr>
          <p:cNvPr name="Group 22" id="22"/>
          <p:cNvGrpSpPr/>
          <p:nvPr/>
        </p:nvGrpSpPr>
        <p:grpSpPr>
          <a:xfrm rot="0">
            <a:off x="1237726" y="9611135"/>
            <a:ext cx="3163948" cy="547649"/>
            <a:chOff x="0" y="0"/>
            <a:chExt cx="4218597" cy="730199"/>
          </a:xfrm>
        </p:grpSpPr>
        <p:sp>
          <p:nvSpPr>
            <p:cNvPr name="Freeform 23" id="23"/>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4" id="24"/>
          <p:cNvGrpSpPr/>
          <p:nvPr/>
        </p:nvGrpSpPr>
        <p:grpSpPr>
          <a:xfrm rot="0">
            <a:off x="1237726" y="9596847"/>
            <a:ext cx="3163948" cy="561937"/>
            <a:chOff x="0" y="0"/>
            <a:chExt cx="4218597" cy="749250"/>
          </a:xfrm>
        </p:grpSpPr>
        <p:sp>
          <p:nvSpPr>
            <p:cNvPr name="Freeform 25" id="25"/>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6" id="26"/>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Objectives</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5"/>
            <a:chOff x="0" y="0"/>
            <a:chExt cx="3657600" cy="749300"/>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0"/>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5</a:t>
              </a:r>
            </a:p>
          </p:txBody>
        </p:sp>
      </p:grpSp>
      <p:sp>
        <p:nvSpPr>
          <p:cNvPr name="TextBox 21" id="21"/>
          <p:cNvSpPr txBox="true"/>
          <p:nvPr/>
        </p:nvSpPr>
        <p:spPr>
          <a:xfrm rot="0">
            <a:off x="1626699" y="1820466"/>
            <a:ext cx="15034612" cy="8221456"/>
          </a:xfrm>
          <a:prstGeom prst="rect">
            <a:avLst/>
          </a:prstGeom>
        </p:spPr>
        <p:txBody>
          <a:bodyPr anchor="t" rtlCol="false" tIns="0" lIns="0" bIns="0" rIns="0">
            <a:spAutoFit/>
          </a:bodyPr>
          <a:lstStyle/>
          <a:p>
            <a:pPr algn="l" marL="754257" indent="-251419" lvl="2">
              <a:lnSpc>
                <a:spcPts val="4618"/>
              </a:lnSpc>
              <a:buFont typeface="Arial"/>
              <a:buChar char="⚬"/>
            </a:pPr>
            <a:r>
              <a:rPr lang="en-US" sz="3299">
                <a:solidFill>
                  <a:srgbClr val="000000"/>
                </a:solidFill>
                <a:latin typeface="Times New Roman"/>
                <a:ea typeface="Times New Roman"/>
                <a:cs typeface="Times New Roman"/>
                <a:sym typeface="Times New Roman"/>
              </a:rPr>
              <a:t>To Develop a comprehensive digital twin and planning sandbox for distributed computing fabrics.</a:t>
            </a:r>
          </a:p>
          <a:p>
            <a:pPr algn="l" marL="754257" indent="-251419" lvl="2">
              <a:lnSpc>
                <a:spcPts val="4618"/>
              </a:lnSpc>
              <a:buFont typeface="Arial"/>
              <a:buChar char="⚬"/>
            </a:pPr>
            <a:r>
              <a:rPr lang="en-US" sz="3299">
                <a:solidFill>
                  <a:srgbClr val="000000"/>
                </a:solidFill>
                <a:latin typeface="Times New Roman"/>
                <a:ea typeface="Times New Roman"/>
                <a:cs typeface="Times New Roman"/>
                <a:sym typeface="Times New Roman"/>
              </a:rPr>
              <a:t>To implement a multi strategy scheduling engine supporting greedy, resilient, network aware, and reinforcement learning-based policies for comparative analysis across distributed workloads.</a:t>
            </a:r>
          </a:p>
          <a:p>
            <a:pPr algn="l" marL="754257" indent="-251419" lvl="2">
              <a:lnSpc>
                <a:spcPts val="4618"/>
              </a:lnSpc>
              <a:buFont typeface="Arial"/>
              <a:buChar char="⚬"/>
            </a:pPr>
            <a:r>
              <a:rPr lang="en-US" sz="3299">
                <a:solidFill>
                  <a:srgbClr val="000000"/>
                </a:solidFill>
                <a:latin typeface="Times New Roman"/>
                <a:ea typeface="Times New Roman"/>
                <a:cs typeface="Times New Roman"/>
                <a:sym typeface="Times New Roman"/>
              </a:rPr>
              <a:t>To simulate real world failures such as network faults and node crashes to validate scheduling policy resilience before actual deployment.</a:t>
            </a:r>
          </a:p>
          <a:p>
            <a:pPr algn="l" marL="754257" indent="-251419" lvl="2">
              <a:lnSpc>
                <a:spcPts val="4618"/>
              </a:lnSpc>
              <a:buFont typeface="Arial"/>
              <a:buChar char="⚬"/>
            </a:pPr>
            <a:r>
              <a:rPr lang="en-US" sz="3299">
                <a:solidFill>
                  <a:srgbClr val="000000"/>
                </a:solidFill>
                <a:latin typeface="Times New Roman"/>
                <a:ea typeface="Times New Roman"/>
                <a:cs typeface="Times New Roman"/>
                <a:sym typeface="Times New Roman"/>
              </a:rPr>
              <a:t>To provide an interactive dashboard for performance analytics and simulations, enabling users to monitor system behavior and support informed infrastructure planning decisions.</a:t>
            </a:r>
          </a:p>
          <a:p>
            <a:pPr algn="l" marL="754257" indent="-251419" lvl="2">
              <a:lnSpc>
                <a:spcPts val="4618"/>
              </a:lnSpc>
              <a:buFont typeface="Arial"/>
              <a:buChar char="⚬"/>
            </a:pPr>
            <a:r>
              <a:rPr lang="en-US" sz="3299">
                <a:solidFill>
                  <a:srgbClr val="000000"/>
                </a:solidFill>
                <a:latin typeface="Times New Roman"/>
                <a:ea typeface="Times New Roman"/>
                <a:cs typeface="Times New Roman"/>
                <a:sym typeface="Times New Roman"/>
              </a:rPr>
              <a:t>To maintain real time synchronization between the digital twin and physical infrastructure by continuously integrating hardware data with live telemetry for accurate system representation</a:t>
            </a:r>
          </a:p>
          <a:p>
            <a:pPr algn="just" marL="754257" indent="-251419" lvl="2">
              <a:lnSpc>
                <a:spcPts val="4618"/>
              </a:lnSpc>
            </a:pPr>
          </a:p>
        </p:txBody>
      </p:sp>
      <p:grpSp>
        <p:nvGrpSpPr>
          <p:cNvPr name="Group 22" id="22"/>
          <p:cNvGrpSpPr/>
          <p:nvPr/>
        </p:nvGrpSpPr>
        <p:grpSpPr>
          <a:xfrm rot="0">
            <a:off x="1237726" y="9611135"/>
            <a:ext cx="3163948" cy="547649"/>
            <a:chOff x="0" y="0"/>
            <a:chExt cx="4218597" cy="730199"/>
          </a:xfrm>
        </p:grpSpPr>
        <p:sp>
          <p:nvSpPr>
            <p:cNvPr name="Freeform 23" id="23"/>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4" id="24"/>
          <p:cNvGrpSpPr/>
          <p:nvPr/>
        </p:nvGrpSpPr>
        <p:grpSpPr>
          <a:xfrm rot="0">
            <a:off x="1237726" y="9596847"/>
            <a:ext cx="3163948" cy="561937"/>
            <a:chOff x="0" y="0"/>
            <a:chExt cx="4218597" cy="749250"/>
          </a:xfrm>
        </p:grpSpPr>
        <p:sp>
          <p:nvSpPr>
            <p:cNvPr name="Freeform 25" id="25"/>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6" id="26"/>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23940">
            <a:off x="1612230" y="1670742"/>
            <a:ext cx="15063549" cy="0"/>
          </a:xfrm>
          <a:prstGeom prst="line">
            <a:avLst/>
          </a:prstGeom>
          <a:ln cap="rnd" w="19050">
            <a:solidFill>
              <a:srgbClr val="514843"/>
            </a:solidFill>
            <a:prstDash val="solid"/>
            <a:headEnd type="none" len="sm" w="sm"/>
            <a:tailEnd type="none" len="sm" w="sm"/>
          </a:ln>
        </p:spPr>
      </p:sp>
      <p:sp>
        <p:nvSpPr>
          <p:cNvPr name="AutoShape 3" id="3"/>
          <p:cNvSpPr/>
          <p:nvPr/>
        </p:nvSpPr>
        <p:spPr>
          <a:xfrm rot="7980">
            <a:off x="1640824" y="1748609"/>
            <a:ext cx="15006352"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50082"/>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2865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Literature Review </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624259"/>
            <a:chOff x="0" y="0"/>
            <a:chExt cx="3657600" cy="832345"/>
          </a:xfrm>
        </p:grpSpPr>
        <p:sp>
          <p:nvSpPr>
            <p:cNvPr name="Freeform 17" id="17"/>
            <p:cNvSpPr/>
            <p:nvPr/>
          </p:nvSpPr>
          <p:spPr>
            <a:xfrm flipH="false" flipV="false" rot="0">
              <a:off x="0" y="0"/>
              <a:ext cx="3657600" cy="832358"/>
            </a:xfrm>
            <a:custGeom>
              <a:avLst/>
              <a:gdLst/>
              <a:ahLst/>
              <a:cxnLst/>
              <a:rect r="r" b="b" t="t" l="l"/>
              <a:pathLst>
                <a:path h="832358" w="3657600">
                  <a:moveTo>
                    <a:pt x="0" y="0"/>
                  </a:moveTo>
                  <a:lnTo>
                    <a:pt x="3657600" y="0"/>
                  </a:lnTo>
                  <a:lnTo>
                    <a:pt x="3657600" y="832358"/>
                  </a:lnTo>
                  <a:lnTo>
                    <a:pt x="0" y="832358"/>
                  </a:lnTo>
                  <a:close/>
                </a:path>
              </a:pathLst>
            </a:custGeom>
            <a:blipFill>
              <a:blip r:embed="rId3">
                <a:alphaModFix amt="0"/>
              </a:blip>
              <a:stretch>
                <a:fillRect l="0" t="-35563" r="0" b="-35563"/>
              </a:stretch>
            </a:blipFill>
          </p:spPr>
        </p:sp>
      </p:grpSp>
      <p:grpSp>
        <p:nvGrpSpPr>
          <p:cNvPr name="Group 18" id="18"/>
          <p:cNvGrpSpPr/>
          <p:nvPr/>
        </p:nvGrpSpPr>
        <p:grpSpPr>
          <a:xfrm rot="0">
            <a:off x="13885174" y="9520238"/>
            <a:ext cx="2743200" cy="638548"/>
            <a:chOff x="0" y="0"/>
            <a:chExt cx="3657600" cy="851397"/>
          </a:xfrm>
        </p:grpSpPr>
        <p:sp>
          <p:nvSpPr>
            <p:cNvPr name="Freeform 19" id="19"/>
            <p:cNvSpPr/>
            <p:nvPr/>
          </p:nvSpPr>
          <p:spPr>
            <a:xfrm flipH="false" flipV="false" rot="0">
              <a:off x="0" y="0"/>
              <a:ext cx="3657600" cy="851398"/>
            </a:xfrm>
            <a:custGeom>
              <a:avLst/>
              <a:gdLst/>
              <a:ahLst/>
              <a:cxnLst/>
              <a:rect r="r" b="b" t="t" l="l"/>
              <a:pathLst>
                <a:path h="851398" w="3657600">
                  <a:moveTo>
                    <a:pt x="0" y="0"/>
                  </a:moveTo>
                  <a:lnTo>
                    <a:pt x="3657600" y="0"/>
                  </a:lnTo>
                  <a:lnTo>
                    <a:pt x="3657600" y="851398"/>
                  </a:lnTo>
                  <a:lnTo>
                    <a:pt x="0" y="851398"/>
                  </a:lnTo>
                  <a:close/>
                </a:path>
              </a:pathLst>
            </a:custGeom>
            <a:blipFill>
              <a:blip r:embed="rId4">
                <a:alphaModFix amt="0"/>
              </a:blip>
              <a:stretch>
                <a:fillRect l="0" t="-33707" r="0" b="-33707"/>
              </a:stretch>
            </a:blipFill>
          </p:spPr>
        </p:sp>
        <p:sp>
          <p:nvSpPr>
            <p:cNvPr name="TextBox 20" id="20"/>
            <p:cNvSpPr txBox="true"/>
            <p:nvPr/>
          </p:nvSpPr>
          <p:spPr>
            <a:xfrm>
              <a:off x="0" y="-19050"/>
              <a:ext cx="3657600" cy="870447"/>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7</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graphicFrame>
        <p:nvGraphicFramePr>
          <p:cNvPr name="Table 26" id="26"/>
          <p:cNvGraphicFramePr>
            <a:graphicFrameLocks noGrp="true"/>
          </p:cNvGraphicFramePr>
          <p:nvPr/>
        </p:nvGraphicFramePr>
        <p:xfrm>
          <a:off x="1657350" y="1913706"/>
          <a:ext cx="15760700" cy="7099300"/>
        </p:xfrm>
        <a:graphic>
          <a:graphicData uri="http://schemas.openxmlformats.org/drawingml/2006/table">
            <a:tbl>
              <a:tblPr/>
              <a:tblGrid>
                <a:gridCol w="3036510"/>
                <a:gridCol w="2273882"/>
                <a:gridCol w="2620939"/>
                <a:gridCol w="3029491"/>
                <a:gridCol w="4799879"/>
              </a:tblGrid>
              <a:tr h="1232446">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Research Paper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b="true">
                          <a:solidFill>
                            <a:srgbClr val="000000"/>
                          </a:solidFill>
                          <a:latin typeface="Times New Roman Bold"/>
                          <a:ea typeface="Times New Roman Bold"/>
                          <a:cs typeface="Times New Roman Bold"/>
                          <a:sym typeface="Times New Roman Bold"/>
                        </a:rPr>
                        <a:t>Author(s) &amp; Year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b="true">
                          <a:solidFill>
                            <a:srgbClr val="000000"/>
                          </a:solidFill>
                          <a:latin typeface="Times New Roman Bold"/>
                          <a:ea typeface="Times New Roman Bold"/>
                          <a:cs typeface="Times New Roman Bold"/>
                          <a:sym typeface="Times New Roman Bold"/>
                        </a:rPr>
                        <a:t>Methodology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b="true">
                          <a:solidFill>
                            <a:srgbClr val="000000"/>
                          </a:solidFill>
                          <a:latin typeface="Times New Roman Bold"/>
                          <a:ea typeface="Times New Roman Bold"/>
                          <a:cs typeface="Times New Roman Bold"/>
                          <a:sym typeface="Times New Roman Bold"/>
                        </a:rPr>
                        <a:t>Key Takeaway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D0D0D"/>
                          </a:solidFill>
                          <a:latin typeface="Canva Sans 1 Bold"/>
                          <a:ea typeface="Canva Sans 1 Bold"/>
                          <a:cs typeface="Canva Sans 1 Bold"/>
                          <a:sym typeface="Canva Sans 1 Bold"/>
                        </a:rPr>
                        <a:t>Research Gap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928767">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Digital Twin: Enabling Technologies, Challenges and Open Research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endParaRPr lang="en-US" sz="1100"/>
                    </a:p>
                    <a:p>
                      <a:pPr algn="ctr">
                        <a:lnSpc>
                          <a:spcPts val="2798"/>
                        </a:lnSpc>
                      </a:pPr>
                      <a:r>
                        <a:rPr lang="en-US" sz="1998">
                          <a:solidFill>
                            <a:srgbClr val="000000"/>
                          </a:solidFill>
                          <a:latin typeface="Times New Roman"/>
                          <a:ea typeface="Times New Roman"/>
                          <a:cs typeface="Times New Roman"/>
                          <a:sym typeface="Times New Roman"/>
                        </a:rPr>
                        <a:t>Aidan Fuller et al. (2020)</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Categorical literature review classifying DT architectures across manufacturing, healthcare, and smart cities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Clarifies DT definitions (Digital Model vs. Shadow vs. Twin) and maps functional domains across application, middleware, network, and object layers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D0D0D"/>
                          </a:solidFill>
                          <a:latin typeface="Arimo"/>
                          <a:ea typeface="Arimo"/>
                          <a:cs typeface="Arimo"/>
                          <a:sym typeface="Arimo"/>
                        </a:rPr>
                        <a:t>Highlights the lack of standardized modeling frameworks and gaps in integrating physical and virtual data streams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938087">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A Comprehensive Survey on Digital Twin for Future Networks and Emerging IoT Industry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Akram Hakiri et al. (2024)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Comprehensive survey evaluating DT software frameworks, international standards (DTC, ISO, IETF), and IoT/5G projects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Defines core DT properties (reflection, persistency, composability) and details reference architectures across 5G/6G and IIoT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Notes software fragmentation, lack of cell-based microservices, and absence of standardized fault-tolerance testing tools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23940">
            <a:off x="1612230" y="1670742"/>
            <a:ext cx="15063549" cy="0"/>
          </a:xfrm>
          <a:prstGeom prst="line">
            <a:avLst/>
          </a:prstGeom>
          <a:ln cap="rnd" w="19050">
            <a:solidFill>
              <a:srgbClr val="514843"/>
            </a:solidFill>
            <a:prstDash val="solid"/>
            <a:headEnd type="none" len="sm" w="sm"/>
            <a:tailEnd type="none" len="sm" w="sm"/>
          </a:ln>
        </p:spPr>
      </p:sp>
      <p:sp>
        <p:nvSpPr>
          <p:cNvPr name="AutoShape 3" id="3"/>
          <p:cNvSpPr/>
          <p:nvPr/>
        </p:nvSpPr>
        <p:spPr>
          <a:xfrm rot="7980">
            <a:off x="1640824" y="1748609"/>
            <a:ext cx="15006352"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50082"/>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2865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Literature Review</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624259"/>
            <a:chOff x="0" y="0"/>
            <a:chExt cx="3657600" cy="832345"/>
          </a:xfrm>
        </p:grpSpPr>
        <p:sp>
          <p:nvSpPr>
            <p:cNvPr name="Freeform 17" id="17"/>
            <p:cNvSpPr/>
            <p:nvPr/>
          </p:nvSpPr>
          <p:spPr>
            <a:xfrm flipH="false" flipV="false" rot="0">
              <a:off x="0" y="0"/>
              <a:ext cx="3657600" cy="832358"/>
            </a:xfrm>
            <a:custGeom>
              <a:avLst/>
              <a:gdLst/>
              <a:ahLst/>
              <a:cxnLst/>
              <a:rect r="r" b="b" t="t" l="l"/>
              <a:pathLst>
                <a:path h="832358" w="3657600">
                  <a:moveTo>
                    <a:pt x="0" y="0"/>
                  </a:moveTo>
                  <a:lnTo>
                    <a:pt x="3657600" y="0"/>
                  </a:lnTo>
                  <a:lnTo>
                    <a:pt x="3657600" y="832358"/>
                  </a:lnTo>
                  <a:lnTo>
                    <a:pt x="0" y="832358"/>
                  </a:lnTo>
                  <a:close/>
                </a:path>
              </a:pathLst>
            </a:custGeom>
            <a:blipFill>
              <a:blip r:embed="rId3">
                <a:alphaModFix amt="0"/>
              </a:blip>
              <a:stretch>
                <a:fillRect l="0" t="-35563" r="0" b="-35563"/>
              </a:stretch>
            </a:blipFill>
          </p:spPr>
        </p:sp>
      </p:grpSp>
      <p:grpSp>
        <p:nvGrpSpPr>
          <p:cNvPr name="Group 18" id="18"/>
          <p:cNvGrpSpPr/>
          <p:nvPr/>
        </p:nvGrpSpPr>
        <p:grpSpPr>
          <a:xfrm rot="0">
            <a:off x="13885174" y="9520238"/>
            <a:ext cx="2743200" cy="638548"/>
            <a:chOff x="0" y="0"/>
            <a:chExt cx="3657600" cy="851397"/>
          </a:xfrm>
        </p:grpSpPr>
        <p:sp>
          <p:nvSpPr>
            <p:cNvPr name="Freeform 19" id="19"/>
            <p:cNvSpPr/>
            <p:nvPr/>
          </p:nvSpPr>
          <p:spPr>
            <a:xfrm flipH="false" flipV="false" rot="0">
              <a:off x="0" y="0"/>
              <a:ext cx="3657600" cy="851398"/>
            </a:xfrm>
            <a:custGeom>
              <a:avLst/>
              <a:gdLst/>
              <a:ahLst/>
              <a:cxnLst/>
              <a:rect r="r" b="b" t="t" l="l"/>
              <a:pathLst>
                <a:path h="851398" w="3657600">
                  <a:moveTo>
                    <a:pt x="0" y="0"/>
                  </a:moveTo>
                  <a:lnTo>
                    <a:pt x="3657600" y="0"/>
                  </a:lnTo>
                  <a:lnTo>
                    <a:pt x="3657600" y="851398"/>
                  </a:lnTo>
                  <a:lnTo>
                    <a:pt x="0" y="851398"/>
                  </a:lnTo>
                  <a:close/>
                </a:path>
              </a:pathLst>
            </a:custGeom>
            <a:blipFill>
              <a:blip r:embed="rId4">
                <a:alphaModFix amt="0"/>
              </a:blip>
              <a:stretch>
                <a:fillRect l="0" t="-33707" r="0" b="-33707"/>
              </a:stretch>
            </a:blipFill>
          </p:spPr>
        </p:sp>
        <p:sp>
          <p:nvSpPr>
            <p:cNvPr name="TextBox 20" id="20"/>
            <p:cNvSpPr txBox="true"/>
            <p:nvPr/>
          </p:nvSpPr>
          <p:spPr>
            <a:xfrm>
              <a:off x="0" y="-19050"/>
              <a:ext cx="3657600" cy="870447"/>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8</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graphicFrame>
        <p:nvGraphicFramePr>
          <p:cNvPr name="Table 26" id="26"/>
          <p:cNvGraphicFramePr>
            <a:graphicFrameLocks noGrp="true"/>
          </p:cNvGraphicFramePr>
          <p:nvPr/>
        </p:nvGraphicFramePr>
        <p:xfrm>
          <a:off x="1657350" y="1913706"/>
          <a:ext cx="16002000" cy="7442200"/>
        </p:xfrm>
        <a:graphic>
          <a:graphicData uri="http://schemas.openxmlformats.org/drawingml/2006/table">
            <a:tbl>
              <a:tblPr/>
              <a:tblGrid>
                <a:gridCol w="3084601"/>
                <a:gridCol w="2320856"/>
                <a:gridCol w="2668422"/>
                <a:gridCol w="3077571"/>
                <a:gridCol w="4850551"/>
              </a:tblGrid>
              <a:tr h="1232445">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Research Paper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b="true">
                          <a:solidFill>
                            <a:srgbClr val="000000"/>
                          </a:solidFill>
                          <a:latin typeface="Times New Roman Bold"/>
                          <a:ea typeface="Times New Roman Bold"/>
                          <a:cs typeface="Times New Roman Bold"/>
                          <a:sym typeface="Times New Roman Bold"/>
                        </a:rPr>
                        <a:t>Author(s) &amp; Year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b="true">
                          <a:solidFill>
                            <a:srgbClr val="000000"/>
                          </a:solidFill>
                          <a:latin typeface="Times New Roman Bold"/>
                          <a:ea typeface="Times New Roman Bold"/>
                          <a:cs typeface="Times New Roman Bold"/>
                          <a:sym typeface="Times New Roman Bold"/>
                        </a:rPr>
                        <a:t>Methodology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b="true">
                          <a:solidFill>
                            <a:srgbClr val="000000"/>
                          </a:solidFill>
                          <a:latin typeface="Times New Roman Bold"/>
                          <a:ea typeface="Times New Roman Bold"/>
                          <a:cs typeface="Times New Roman Bold"/>
                          <a:sym typeface="Times New Roman Bold"/>
                        </a:rPr>
                        <a:t>Key Takeaway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D0D0D"/>
                          </a:solidFill>
                          <a:latin typeface="Canva Sans 1 Bold"/>
                          <a:ea typeface="Canva Sans 1 Bold"/>
                          <a:cs typeface="Canva Sans 1 Bold"/>
                          <a:sym typeface="Canva Sans 1 Bold"/>
                        </a:rPr>
                        <a:t>Research Gap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271700">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Federated Deep Reinforcement Learning for Task Offloading in Digital Twin Edge Networks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Yueyue Dai et al. (2024)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Two-layer DT Edge Network combined with Federated DRL (global agent using DDPG for edge resources/IRS; local agents for task offloading)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Reduces overall system cost (latency + energy) by up to 67.1% while maintaining localized training privacy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D0D0D"/>
                          </a:solidFill>
                          <a:latin typeface="Arimo"/>
                          <a:ea typeface="Arimo"/>
                          <a:cs typeface="Arimo"/>
                          <a:sym typeface="Arimo"/>
                        </a:rPr>
                        <a:t>Does not incorporate physical hardware derating (e.g., thermal throttling) or live streaming telemetry overrides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938055">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Digital Twins: A Survey on Enabling Technologies, Challenges, Trends and Future Prospects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Stefan Mihai et al. (2022)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Broad literature survey exploring the 5D DT model, enabling technologies (ML, Cloud/Edge, CPS, VR/AR), and 3 industrial case studies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Establishes DT as a symbiotic system-of-systems requiring bi-directional feedback, self-evolution, and real-time synchronicity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8"/>
                        </a:lnSpc>
                        <a:defRPr/>
                      </a:pPr>
                      <a:r>
                        <a:rPr lang="en-US" sz="1998">
                          <a:solidFill>
                            <a:srgbClr val="000000"/>
                          </a:solidFill>
                          <a:latin typeface="Times New Roman"/>
                          <a:ea typeface="Times New Roman"/>
                          <a:cs typeface="Times New Roman"/>
                          <a:sym typeface="Times New Roman"/>
                        </a:rPr>
                        <a:t>Identifies high investment costs, lack of standardized development methodologies, and difficulty quantifying ROI for non-revenue-generating sandboxes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23940">
            <a:off x="1612230" y="1670742"/>
            <a:ext cx="15063549" cy="0"/>
          </a:xfrm>
          <a:prstGeom prst="line">
            <a:avLst/>
          </a:prstGeom>
          <a:ln cap="rnd" w="19050">
            <a:solidFill>
              <a:srgbClr val="514843"/>
            </a:solidFill>
            <a:prstDash val="solid"/>
            <a:headEnd type="none" len="sm" w="sm"/>
            <a:tailEnd type="none" len="sm" w="sm"/>
          </a:ln>
        </p:spPr>
      </p:sp>
      <p:sp>
        <p:nvSpPr>
          <p:cNvPr name="AutoShape 3" id="3"/>
          <p:cNvSpPr/>
          <p:nvPr/>
        </p:nvSpPr>
        <p:spPr>
          <a:xfrm rot="7980">
            <a:off x="1640824" y="1748609"/>
            <a:ext cx="15006352"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50082"/>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2865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Literature Review </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624259"/>
            <a:chOff x="0" y="0"/>
            <a:chExt cx="3657600" cy="832345"/>
          </a:xfrm>
        </p:grpSpPr>
        <p:sp>
          <p:nvSpPr>
            <p:cNvPr name="Freeform 17" id="17"/>
            <p:cNvSpPr/>
            <p:nvPr/>
          </p:nvSpPr>
          <p:spPr>
            <a:xfrm flipH="false" flipV="false" rot="0">
              <a:off x="0" y="0"/>
              <a:ext cx="3657600" cy="832358"/>
            </a:xfrm>
            <a:custGeom>
              <a:avLst/>
              <a:gdLst/>
              <a:ahLst/>
              <a:cxnLst/>
              <a:rect r="r" b="b" t="t" l="l"/>
              <a:pathLst>
                <a:path h="832358" w="3657600">
                  <a:moveTo>
                    <a:pt x="0" y="0"/>
                  </a:moveTo>
                  <a:lnTo>
                    <a:pt x="3657600" y="0"/>
                  </a:lnTo>
                  <a:lnTo>
                    <a:pt x="3657600" y="832358"/>
                  </a:lnTo>
                  <a:lnTo>
                    <a:pt x="0" y="832358"/>
                  </a:lnTo>
                  <a:close/>
                </a:path>
              </a:pathLst>
            </a:custGeom>
            <a:blipFill>
              <a:blip r:embed="rId3">
                <a:alphaModFix amt="0"/>
              </a:blip>
              <a:stretch>
                <a:fillRect l="0" t="-35563" r="0" b="-35563"/>
              </a:stretch>
            </a:blipFill>
          </p:spPr>
        </p:sp>
      </p:grpSp>
      <p:grpSp>
        <p:nvGrpSpPr>
          <p:cNvPr name="Group 18" id="18"/>
          <p:cNvGrpSpPr/>
          <p:nvPr/>
        </p:nvGrpSpPr>
        <p:grpSpPr>
          <a:xfrm rot="0">
            <a:off x="13885174" y="9520238"/>
            <a:ext cx="2743200" cy="638548"/>
            <a:chOff x="0" y="0"/>
            <a:chExt cx="3657600" cy="851397"/>
          </a:xfrm>
        </p:grpSpPr>
        <p:sp>
          <p:nvSpPr>
            <p:cNvPr name="Freeform 19" id="19"/>
            <p:cNvSpPr/>
            <p:nvPr/>
          </p:nvSpPr>
          <p:spPr>
            <a:xfrm flipH="false" flipV="false" rot="0">
              <a:off x="0" y="0"/>
              <a:ext cx="3657600" cy="851398"/>
            </a:xfrm>
            <a:custGeom>
              <a:avLst/>
              <a:gdLst/>
              <a:ahLst/>
              <a:cxnLst/>
              <a:rect r="r" b="b" t="t" l="l"/>
              <a:pathLst>
                <a:path h="851398" w="3657600">
                  <a:moveTo>
                    <a:pt x="0" y="0"/>
                  </a:moveTo>
                  <a:lnTo>
                    <a:pt x="3657600" y="0"/>
                  </a:lnTo>
                  <a:lnTo>
                    <a:pt x="3657600" y="851398"/>
                  </a:lnTo>
                  <a:lnTo>
                    <a:pt x="0" y="851398"/>
                  </a:lnTo>
                  <a:close/>
                </a:path>
              </a:pathLst>
            </a:custGeom>
            <a:blipFill>
              <a:blip r:embed="rId4">
                <a:alphaModFix amt="0"/>
              </a:blip>
              <a:stretch>
                <a:fillRect l="0" t="-33707" r="0" b="-33707"/>
              </a:stretch>
            </a:blipFill>
          </p:spPr>
        </p:sp>
        <p:sp>
          <p:nvSpPr>
            <p:cNvPr name="TextBox 20" id="20"/>
            <p:cNvSpPr txBox="true"/>
            <p:nvPr/>
          </p:nvSpPr>
          <p:spPr>
            <a:xfrm>
              <a:off x="0" y="-19050"/>
              <a:ext cx="3657600" cy="870447"/>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9</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graphicFrame>
        <p:nvGraphicFramePr>
          <p:cNvPr name="Table 26" id="26"/>
          <p:cNvGraphicFramePr>
            <a:graphicFrameLocks noGrp="true"/>
          </p:cNvGraphicFramePr>
          <p:nvPr/>
        </p:nvGraphicFramePr>
        <p:xfrm>
          <a:off x="1657350" y="1913706"/>
          <a:ext cx="15760700" cy="4368800"/>
        </p:xfrm>
        <a:graphic>
          <a:graphicData uri="http://schemas.openxmlformats.org/drawingml/2006/table">
            <a:tbl>
              <a:tblPr/>
              <a:tblGrid>
                <a:gridCol w="3036510"/>
                <a:gridCol w="2273882"/>
                <a:gridCol w="2620939"/>
                <a:gridCol w="3029491"/>
                <a:gridCol w="4799879"/>
              </a:tblGrid>
              <a:tr h="1267792">
                <a:tc>
                  <a:txBody>
                    <a:bodyPr anchor="t" rtlCol="false"/>
                    <a:lstStyle/>
                    <a:p>
                      <a:pPr algn="ctr">
                        <a:lnSpc>
                          <a:spcPts val="2939"/>
                        </a:lnSpc>
                        <a:defRPr/>
                      </a:pPr>
                      <a:r>
                        <a:rPr lang="en-US" sz="2099">
                          <a:solidFill>
                            <a:srgbClr val="000000"/>
                          </a:solidFill>
                          <a:latin typeface="Times New Roman"/>
                          <a:ea typeface="Times New Roman"/>
                          <a:cs typeface="Times New Roman"/>
                          <a:sym typeface="Times New Roman"/>
                        </a:rPr>
                        <a:t>Research Paper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Times New Roman Bold"/>
                          <a:ea typeface="Times New Roman Bold"/>
                          <a:cs typeface="Times New Roman Bold"/>
                          <a:sym typeface="Times New Roman Bold"/>
                        </a:rPr>
                        <a:t>Author(s) &amp; Year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Times New Roman Bold"/>
                          <a:ea typeface="Times New Roman Bold"/>
                          <a:cs typeface="Times New Roman Bold"/>
                          <a:sym typeface="Times New Roman Bold"/>
                        </a:rPr>
                        <a:t>Methodology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Times New Roman Bold"/>
                          <a:ea typeface="Times New Roman Bold"/>
                          <a:cs typeface="Times New Roman Bold"/>
                          <a:sym typeface="Times New Roman Bold"/>
                        </a:rPr>
                        <a:t>Key Takeaway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498"/>
                        </a:lnSpc>
                        <a:defRPr/>
                      </a:pPr>
                      <a:r>
                        <a:rPr lang="en-US" sz="2499" b="true">
                          <a:solidFill>
                            <a:srgbClr val="0D0D0D"/>
                          </a:solidFill>
                          <a:latin typeface="Canva Sans 1 Bold"/>
                          <a:ea typeface="Canva Sans 1 Bold"/>
                          <a:cs typeface="Canva Sans 1 Bold"/>
                          <a:sym typeface="Canva Sans 1 Bold"/>
                        </a:rPr>
                        <a:t>Research Gap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101008">
                <a:tc>
                  <a:txBody>
                    <a:bodyPr anchor="t" rtlCol="false"/>
                    <a:lstStyle/>
                    <a:p>
                      <a:pPr algn="ctr">
                        <a:lnSpc>
                          <a:spcPts val="2939"/>
                        </a:lnSpc>
                        <a:defRPr/>
                      </a:pPr>
                      <a:r>
                        <a:rPr lang="en-US" sz="2099">
                          <a:solidFill>
                            <a:srgbClr val="000000"/>
                          </a:solidFill>
                          <a:latin typeface="Times New Roman"/>
                          <a:ea typeface="Times New Roman"/>
                          <a:cs typeface="Times New Roman"/>
                          <a:sym typeface="Times New Roman"/>
                        </a:rPr>
                        <a:t>Chaos Experiments in Microservice Architectures: A Systematic Literature Review</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Times New Roman"/>
                          <a:ea typeface="Times New Roman"/>
                          <a:cs typeface="Times New Roman"/>
                          <a:sym typeface="Times New Roman"/>
                        </a:rPr>
                        <a:t>Emrah Esen et al. (2026)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Times New Roman"/>
                          <a:ea typeface="Times New Roman"/>
                          <a:cs typeface="Times New Roman"/>
                          <a:sym typeface="Times New Roman"/>
                        </a:rPr>
                        <a:t>Systematic Literature Review (SLR) of 31 primary studies analyzing 38 Chaos Engineering fault-injection tools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Times New Roman"/>
                          <a:ea typeface="Times New Roman"/>
                          <a:cs typeface="Times New Roman"/>
                          <a:sym typeface="Times New Roman"/>
                        </a:rPr>
                        <a:t>Proves that controlled chaos experiments significantly improve software fault tolerance, security, and steady-state resilience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498"/>
                        </a:lnSpc>
                        <a:defRPr/>
                      </a:pPr>
                      <a:r>
                        <a:rPr lang="en-US" sz="2499">
                          <a:solidFill>
                            <a:srgbClr val="0D0D0D"/>
                          </a:solidFill>
                          <a:latin typeface="Arimo"/>
                          <a:ea typeface="Arimo"/>
                          <a:cs typeface="Arimo"/>
                          <a:sym typeface="Arimo"/>
                        </a:rPr>
                        <a:t>Microservice chaos tools focus almost exclusively on application/software-level failures rather than physical-layer edge hardware disruptions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23940">
            <a:off x="1612230" y="1670742"/>
            <a:ext cx="15063549" cy="0"/>
          </a:xfrm>
          <a:prstGeom prst="line">
            <a:avLst/>
          </a:prstGeom>
          <a:ln cap="rnd" w="19050">
            <a:solidFill>
              <a:srgbClr val="514843"/>
            </a:solidFill>
            <a:prstDash val="solid"/>
            <a:headEnd type="none" len="sm" w="sm"/>
            <a:tailEnd type="none" len="sm" w="sm"/>
          </a:ln>
        </p:spPr>
      </p:sp>
      <p:sp>
        <p:nvSpPr>
          <p:cNvPr name="AutoShape 3" id="3"/>
          <p:cNvSpPr/>
          <p:nvPr/>
        </p:nvSpPr>
        <p:spPr>
          <a:xfrm rot="7980">
            <a:off x="1640824" y="1748609"/>
            <a:ext cx="15006352"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50082"/>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2865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Scope</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624259"/>
            <a:chOff x="0" y="0"/>
            <a:chExt cx="3657600" cy="832345"/>
          </a:xfrm>
        </p:grpSpPr>
        <p:sp>
          <p:nvSpPr>
            <p:cNvPr name="Freeform 17" id="17"/>
            <p:cNvSpPr/>
            <p:nvPr/>
          </p:nvSpPr>
          <p:spPr>
            <a:xfrm flipH="false" flipV="false" rot="0">
              <a:off x="0" y="0"/>
              <a:ext cx="3657600" cy="832358"/>
            </a:xfrm>
            <a:custGeom>
              <a:avLst/>
              <a:gdLst/>
              <a:ahLst/>
              <a:cxnLst/>
              <a:rect r="r" b="b" t="t" l="l"/>
              <a:pathLst>
                <a:path h="832358" w="3657600">
                  <a:moveTo>
                    <a:pt x="0" y="0"/>
                  </a:moveTo>
                  <a:lnTo>
                    <a:pt x="3657600" y="0"/>
                  </a:lnTo>
                  <a:lnTo>
                    <a:pt x="3657600" y="832358"/>
                  </a:lnTo>
                  <a:lnTo>
                    <a:pt x="0" y="832358"/>
                  </a:lnTo>
                  <a:close/>
                </a:path>
              </a:pathLst>
            </a:custGeom>
            <a:blipFill>
              <a:blip r:embed="rId3">
                <a:alphaModFix amt="0"/>
              </a:blip>
              <a:stretch>
                <a:fillRect l="0" t="-35563" r="0" b="-35563"/>
              </a:stretch>
            </a:blipFill>
          </p:spPr>
        </p:sp>
      </p:grpSp>
      <p:grpSp>
        <p:nvGrpSpPr>
          <p:cNvPr name="Group 18" id="18"/>
          <p:cNvGrpSpPr/>
          <p:nvPr/>
        </p:nvGrpSpPr>
        <p:grpSpPr>
          <a:xfrm rot="0">
            <a:off x="13885174" y="9520238"/>
            <a:ext cx="2743200" cy="638548"/>
            <a:chOff x="0" y="0"/>
            <a:chExt cx="3657600" cy="851397"/>
          </a:xfrm>
        </p:grpSpPr>
        <p:sp>
          <p:nvSpPr>
            <p:cNvPr name="Freeform 19" id="19"/>
            <p:cNvSpPr/>
            <p:nvPr/>
          </p:nvSpPr>
          <p:spPr>
            <a:xfrm flipH="false" flipV="false" rot="0">
              <a:off x="0" y="0"/>
              <a:ext cx="3657600" cy="851398"/>
            </a:xfrm>
            <a:custGeom>
              <a:avLst/>
              <a:gdLst/>
              <a:ahLst/>
              <a:cxnLst/>
              <a:rect r="r" b="b" t="t" l="l"/>
              <a:pathLst>
                <a:path h="851398" w="3657600">
                  <a:moveTo>
                    <a:pt x="0" y="0"/>
                  </a:moveTo>
                  <a:lnTo>
                    <a:pt x="3657600" y="0"/>
                  </a:lnTo>
                  <a:lnTo>
                    <a:pt x="3657600" y="851398"/>
                  </a:lnTo>
                  <a:lnTo>
                    <a:pt x="0" y="851398"/>
                  </a:lnTo>
                  <a:close/>
                </a:path>
              </a:pathLst>
            </a:custGeom>
            <a:blipFill>
              <a:blip r:embed="rId4">
                <a:alphaModFix amt="0"/>
              </a:blip>
              <a:stretch>
                <a:fillRect l="0" t="-33707" r="0" b="-33707"/>
              </a:stretch>
            </a:blipFill>
          </p:spPr>
        </p:sp>
        <p:sp>
          <p:nvSpPr>
            <p:cNvPr name="TextBox 20" id="20"/>
            <p:cNvSpPr txBox="true"/>
            <p:nvPr/>
          </p:nvSpPr>
          <p:spPr>
            <a:xfrm>
              <a:off x="0" y="-19050"/>
              <a:ext cx="3657600" cy="870447"/>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10</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sp>
        <p:nvSpPr>
          <p:cNvPr name="TextBox 26" id="26"/>
          <p:cNvSpPr txBox="true"/>
          <p:nvPr/>
        </p:nvSpPr>
        <p:spPr>
          <a:xfrm rot="0">
            <a:off x="1028700" y="1933766"/>
            <a:ext cx="16226190" cy="7324725"/>
          </a:xfrm>
          <a:prstGeom prst="rect">
            <a:avLst/>
          </a:prstGeom>
        </p:spPr>
        <p:txBody>
          <a:bodyPr anchor="t" rtlCol="false" tIns="0" lIns="0" bIns="0" rIns="0">
            <a:spAutoFit/>
          </a:bodyPr>
          <a:lstStyle/>
          <a:p>
            <a:pPr algn="l">
              <a:lnSpc>
                <a:spcPts val="3891"/>
              </a:lnSpc>
            </a:pPr>
          </a:p>
          <a:p>
            <a:pPr algn="l" marL="741416" indent="-247139" lvl="2">
              <a:lnSpc>
                <a:spcPts val="3891"/>
              </a:lnSpc>
              <a:buFont typeface="Arial"/>
              <a:buChar char="⚬"/>
            </a:pPr>
            <a:r>
              <a:rPr lang="en-US" sz="3243">
                <a:solidFill>
                  <a:srgbClr val="000000"/>
                </a:solidFill>
                <a:latin typeface="Times New Roman"/>
                <a:ea typeface="Times New Roman"/>
                <a:cs typeface="Times New Roman"/>
                <a:sym typeface="Times New Roman"/>
              </a:rPr>
              <a:t>Simulated digital twin of a heterogeneous compute fabric (edge, campus, cloud-tier nodes)</a:t>
            </a:r>
          </a:p>
          <a:p>
            <a:pPr algn="l" marL="741416" indent="-247139" lvl="2">
              <a:lnSpc>
                <a:spcPts val="3891"/>
              </a:lnSpc>
            </a:pPr>
          </a:p>
          <a:p>
            <a:pPr algn="l" marL="741416" indent="-247139" lvl="2">
              <a:lnSpc>
                <a:spcPts val="3891"/>
              </a:lnSpc>
              <a:buFont typeface="Arial"/>
              <a:buChar char="⚬"/>
            </a:pPr>
            <a:r>
              <a:rPr lang="en-US" sz="3243">
                <a:solidFill>
                  <a:srgbClr val="000000"/>
                </a:solidFill>
                <a:latin typeface="Times New Roman"/>
                <a:ea typeface="Times New Roman"/>
                <a:cs typeface="Times New Roman"/>
                <a:sym typeface="Times New Roman"/>
              </a:rPr>
              <a:t>Job placement/scheduling across multiple strategies greedy, resilient/federated, RL Markov.</a:t>
            </a:r>
          </a:p>
          <a:p>
            <a:pPr algn="l" marL="741416" indent="-247139" lvl="2">
              <a:lnSpc>
                <a:spcPts val="3891"/>
              </a:lnSpc>
            </a:pPr>
          </a:p>
          <a:p>
            <a:pPr algn="l" marL="741416" indent="-247139" lvl="2">
              <a:lnSpc>
                <a:spcPts val="3891"/>
              </a:lnSpc>
              <a:buFont typeface="Arial"/>
              <a:buChar char="⚬"/>
            </a:pPr>
            <a:r>
              <a:rPr lang="en-US" sz="3243">
                <a:solidFill>
                  <a:srgbClr val="000000"/>
                </a:solidFill>
                <a:latin typeface="Times New Roman"/>
                <a:ea typeface="Times New Roman"/>
                <a:cs typeface="Times New Roman"/>
                <a:sym typeface="Times New Roman"/>
              </a:rPr>
              <a:t>Chaos engineering controlled fault injection (node failure, thermal derating, link loss/latency)</a:t>
            </a:r>
          </a:p>
          <a:p>
            <a:pPr algn="l" marL="741416" indent="-247139" lvl="2">
              <a:lnSpc>
                <a:spcPts val="3891"/>
              </a:lnSpc>
            </a:pPr>
          </a:p>
          <a:p>
            <a:pPr algn="l" marL="741416" indent="-247139" lvl="2">
              <a:lnSpc>
                <a:spcPts val="3891"/>
              </a:lnSpc>
              <a:buFont typeface="Arial"/>
              <a:buChar char="⚬"/>
            </a:pPr>
            <a:r>
              <a:rPr lang="en-US" sz="3243">
                <a:solidFill>
                  <a:srgbClr val="000000"/>
                </a:solidFill>
                <a:latin typeface="Times New Roman"/>
                <a:ea typeface="Times New Roman"/>
                <a:cs typeface="Times New Roman"/>
                <a:sym typeface="Times New Roman"/>
              </a:rPr>
              <a:t>Predictive analytics utilization forecasts, failure-window prediction, reliability scoring</a:t>
            </a:r>
          </a:p>
          <a:p>
            <a:pPr algn="l" marL="741416" indent="-247139" lvl="2">
              <a:lnSpc>
                <a:spcPts val="3891"/>
              </a:lnSpc>
            </a:pPr>
          </a:p>
          <a:p>
            <a:pPr algn="l" marL="741416" indent="-247139" lvl="2">
              <a:lnSpc>
                <a:spcPts val="3891"/>
              </a:lnSpc>
              <a:buFont typeface="Arial"/>
              <a:buChar char="⚬"/>
            </a:pPr>
            <a:r>
              <a:rPr lang="en-US" sz="3243">
                <a:solidFill>
                  <a:srgbClr val="000000"/>
                </a:solidFill>
                <a:latin typeface="Times New Roman"/>
                <a:ea typeface="Times New Roman"/>
                <a:cs typeface="Times New Roman"/>
                <a:sym typeface="Times New Roman"/>
              </a:rPr>
              <a:t>Monte Carlo based statistical evaluation of scheduling strategies under randomized conditions</a:t>
            </a:r>
          </a:p>
          <a:p>
            <a:pPr algn="l" marL="741416" indent="-247139" lvl="2">
              <a:lnSpc>
                <a:spcPts val="3891"/>
              </a:lnSpc>
            </a:pPr>
          </a:p>
          <a:p>
            <a:pPr algn="l" marL="741416" indent="-247139" lvl="2">
              <a:lnSpc>
                <a:spcPts val="3891"/>
              </a:lnSpc>
              <a:buFont typeface="Arial"/>
              <a:buChar char="⚬"/>
            </a:pPr>
            <a:r>
              <a:rPr lang="en-US" sz="3243">
                <a:solidFill>
                  <a:srgbClr val="000000"/>
                </a:solidFill>
                <a:latin typeface="Times New Roman"/>
                <a:ea typeface="Times New Roman"/>
                <a:cs typeface="Times New Roman"/>
                <a:sym typeface="Times New Roman"/>
              </a:rPr>
              <a:t>Optional container based emulation (Docker) for closer-to-real testing beyond pure simulation</a:t>
            </a:r>
          </a:p>
          <a:p>
            <a:pPr algn="l" marL="741416" indent="-247139" lvl="2">
              <a:lnSpc>
                <a:spcPts val="3891"/>
              </a:lnSpc>
            </a:pPr>
          </a:p>
          <a:p>
            <a:pPr algn="l" marL="741416" indent="-247139" lvl="2">
              <a:lnSpc>
                <a:spcPts val="3891"/>
              </a:lnSpc>
              <a:buFont typeface="Arial"/>
              <a:buChar char="⚬"/>
            </a:pPr>
            <a:r>
              <a:rPr lang="en-US" sz="3243">
                <a:solidFill>
                  <a:srgbClr val="000000"/>
                </a:solidFill>
                <a:latin typeface="Times New Roman"/>
                <a:ea typeface="Times New Roman"/>
                <a:cs typeface="Times New Roman"/>
                <a:sym typeface="Times New Roman"/>
              </a:rPr>
              <a:t>Interactive dashboard + REST API + CLI for running and observing experiments</a:t>
            </a:r>
          </a:p>
          <a:p>
            <a:pPr algn="l" marL="741416" indent="-247139" lvl="2">
              <a:lnSpc>
                <a:spcPts val="3891"/>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23940">
            <a:off x="1445114" y="927983"/>
            <a:ext cx="15063549" cy="0"/>
          </a:xfrm>
          <a:prstGeom prst="line">
            <a:avLst/>
          </a:prstGeom>
          <a:ln cap="rnd" w="19050">
            <a:solidFill>
              <a:srgbClr val="514843"/>
            </a:solidFill>
            <a:prstDash val="solid"/>
            <a:headEnd type="none" len="sm" w="sm"/>
            <a:tailEnd type="none" len="sm" w="sm"/>
          </a:ln>
        </p:spPr>
      </p:sp>
      <p:sp>
        <p:nvSpPr>
          <p:cNvPr name="AutoShape 3" id="3"/>
          <p:cNvSpPr/>
          <p:nvPr/>
        </p:nvSpPr>
        <p:spPr>
          <a:xfrm rot="7980">
            <a:off x="1473708" y="1059351"/>
            <a:ext cx="15006352"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490234" y="-776992"/>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490234" y="-75556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Methodology - RAP twin Core Architecture</a:t>
              </a:r>
            </a:p>
          </p:txBody>
        </p:sp>
      </p:grpSp>
      <p:grpSp>
        <p:nvGrpSpPr>
          <p:cNvPr name="Group 9" id="9"/>
          <p:cNvGrpSpPr/>
          <p:nvPr/>
        </p:nvGrpSpPr>
        <p:grpSpPr>
          <a:xfrm rot="0">
            <a:off x="16416452" y="21869"/>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11</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grpSp>
        <p:nvGrpSpPr>
          <p:cNvPr name="Group 26" id="26"/>
          <p:cNvGrpSpPr/>
          <p:nvPr/>
        </p:nvGrpSpPr>
        <p:grpSpPr>
          <a:xfrm rot="0">
            <a:off x="1573139" y="1205541"/>
            <a:ext cx="14001845" cy="8487251"/>
            <a:chOff x="0" y="0"/>
            <a:chExt cx="18669127" cy="11316335"/>
          </a:xfrm>
        </p:grpSpPr>
        <p:sp>
          <p:nvSpPr>
            <p:cNvPr name="Freeform 27" id="27"/>
            <p:cNvSpPr/>
            <p:nvPr/>
          </p:nvSpPr>
          <p:spPr>
            <a:xfrm flipH="false" flipV="false" rot="0">
              <a:off x="0" y="0"/>
              <a:ext cx="18669127" cy="11316335"/>
            </a:xfrm>
            <a:custGeom>
              <a:avLst/>
              <a:gdLst/>
              <a:ahLst/>
              <a:cxnLst/>
              <a:rect r="r" b="b" t="t" l="l"/>
              <a:pathLst>
                <a:path h="11316335" w="18669127">
                  <a:moveTo>
                    <a:pt x="0" y="0"/>
                  </a:moveTo>
                  <a:lnTo>
                    <a:pt x="18669127" y="0"/>
                  </a:lnTo>
                  <a:lnTo>
                    <a:pt x="18669127" y="11316335"/>
                  </a:lnTo>
                  <a:lnTo>
                    <a:pt x="0" y="11316335"/>
                  </a:lnTo>
                  <a:lnTo>
                    <a:pt x="0" y="0"/>
                  </a:lnTo>
                  <a:close/>
                </a:path>
              </a:pathLst>
            </a:custGeom>
            <a:blipFill>
              <a:blip r:embed="rId6"/>
              <a:stretch>
                <a:fillRect l="0" t="-3293" r="0" b="-3293"/>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014374" y="982770"/>
            <a:ext cx="15063406" cy="0"/>
          </a:xfrm>
          <a:prstGeom prst="line">
            <a:avLst/>
          </a:prstGeom>
          <a:ln cap="rnd" w="28575">
            <a:solidFill>
              <a:srgbClr val="514843"/>
            </a:solidFill>
            <a:prstDash val="solid"/>
            <a:headEnd type="none" len="sm" w="sm"/>
            <a:tailEnd type="none" len="sm" w="sm"/>
          </a:ln>
        </p:spPr>
      </p:sp>
      <p:sp>
        <p:nvSpPr>
          <p:cNvPr name="AutoShape 3" id="3"/>
          <p:cNvSpPr/>
          <p:nvPr/>
        </p:nvSpPr>
        <p:spPr>
          <a:xfrm rot="2160">
            <a:off x="1042902" y="1128427"/>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059418" y="-703155"/>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059418" y="-681723"/>
            <a:ext cx="14971024" cy="1624012"/>
            <a:chOff x="0" y="0"/>
            <a:chExt cx="19961365" cy="2165350"/>
          </a:xfrm>
        </p:grpSpPr>
        <p:sp>
          <p:nvSpPr>
            <p:cNvPr name="Freeform 7" id="7"/>
            <p:cNvSpPr/>
            <p:nvPr/>
          </p:nvSpPr>
          <p:spPr>
            <a:xfrm flipH="false" flipV="false" rot="0">
              <a:off x="0" y="0"/>
              <a:ext cx="19961365" cy="2165349"/>
            </a:xfrm>
            <a:custGeom>
              <a:avLst/>
              <a:gdLst/>
              <a:ahLst/>
              <a:cxnLst/>
              <a:rect r="r" b="b" t="t" l="l"/>
              <a:pathLst>
                <a:path h="2165349" w="19961365">
                  <a:moveTo>
                    <a:pt x="0" y="0"/>
                  </a:moveTo>
                  <a:lnTo>
                    <a:pt x="19961365" y="0"/>
                  </a:lnTo>
                  <a:lnTo>
                    <a:pt x="19961365"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Methodology - RAP twin Core Architecture</a:t>
              </a:r>
            </a:p>
          </p:txBody>
        </p:sp>
      </p:grpSp>
      <p:grpSp>
        <p:nvGrpSpPr>
          <p:cNvPr name="Group 9" id="9"/>
          <p:cNvGrpSpPr/>
          <p:nvPr/>
        </p:nvGrpSpPr>
        <p:grpSpPr>
          <a:xfrm rot="0">
            <a:off x="16334346" y="0"/>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12</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grpSp>
        <p:nvGrpSpPr>
          <p:cNvPr name="Group 26" id="26"/>
          <p:cNvGrpSpPr/>
          <p:nvPr/>
        </p:nvGrpSpPr>
        <p:grpSpPr>
          <a:xfrm rot="0">
            <a:off x="798681" y="1074449"/>
            <a:ext cx="16460619" cy="8536686"/>
            <a:chOff x="0" y="0"/>
            <a:chExt cx="21947492" cy="11382248"/>
          </a:xfrm>
        </p:grpSpPr>
        <p:sp>
          <p:nvSpPr>
            <p:cNvPr name="Freeform 27" id="27"/>
            <p:cNvSpPr/>
            <p:nvPr/>
          </p:nvSpPr>
          <p:spPr>
            <a:xfrm flipH="false" flipV="false" rot="0">
              <a:off x="0" y="0"/>
              <a:ext cx="21947505" cy="11382248"/>
            </a:xfrm>
            <a:custGeom>
              <a:avLst/>
              <a:gdLst/>
              <a:ahLst/>
              <a:cxnLst/>
              <a:rect r="r" b="b" t="t" l="l"/>
              <a:pathLst>
                <a:path h="11382248" w="21947505">
                  <a:moveTo>
                    <a:pt x="0" y="0"/>
                  </a:moveTo>
                  <a:lnTo>
                    <a:pt x="21947505" y="0"/>
                  </a:lnTo>
                  <a:lnTo>
                    <a:pt x="21947505" y="11382248"/>
                  </a:lnTo>
                  <a:lnTo>
                    <a:pt x="0" y="11382248"/>
                  </a:lnTo>
                  <a:lnTo>
                    <a:pt x="0" y="0"/>
                  </a:lnTo>
                  <a:close/>
                </a:path>
              </a:pathLst>
            </a:custGeom>
            <a:blipFill>
              <a:blip r:embed="rId6"/>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23940">
            <a:off x="1352274" y="1392193"/>
            <a:ext cx="15063549" cy="0"/>
          </a:xfrm>
          <a:prstGeom prst="line">
            <a:avLst/>
          </a:prstGeom>
          <a:ln cap="rnd" w="19050">
            <a:solidFill>
              <a:srgbClr val="514843"/>
            </a:solidFill>
            <a:prstDash val="solid"/>
            <a:headEnd type="none" len="sm" w="sm"/>
            <a:tailEnd type="none" len="sm" w="sm"/>
          </a:ln>
        </p:spPr>
      </p:sp>
      <p:sp>
        <p:nvSpPr>
          <p:cNvPr name="AutoShape 3" id="3"/>
          <p:cNvSpPr/>
          <p:nvPr/>
        </p:nvSpPr>
        <p:spPr>
          <a:xfrm rot="7980">
            <a:off x="1380868" y="1523562"/>
            <a:ext cx="15006352"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379314" y="226124"/>
            <a:ext cx="1849946" cy="1544669"/>
            <a:chOff x="0" y="0"/>
            <a:chExt cx="2466594" cy="2059559"/>
          </a:xfrm>
        </p:grpSpPr>
        <p:sp>
          <p:nvSpPr>
            <p:cNvPr name="Freeform 5" id="5"/>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3"/>
              <a:stretch>
                <a:fillRect l="0" t="-2" r="0" b="-1"/>
              </a:stretch>
            </a:blipFill>
          </p:spPr>
        </p:sp>
      </p:grpSp>
      <p:grpSp>
        <p:nvGrpSpPr>
          <p:cNvPr name="Group 6" id="6"/>
          <p:cNvGrpSpPr/>
          <p:nvPr/>
        </p:nvGrpSpPr>
        <p:grpSpPr>
          <a:xfrm rot="0">
            <a:off x="2176672" y="9534525"/>
            <a:ext cx="12165492" cy="909237"/>
            <a:chOff x="0" y="0"/>
            <a:chExt cx="16220656" cy="1212317"/>
          </a:xfrm>
        </p:grpSpPr>
        <p:sp>
          <p:nvSpPr>
            <p:cNvPr name="Freeform 7" id="7"/>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4">
                <a:alphaModFix amt="0"/>
              </a:blip>
              <a:stretch>
                <a:fillRect l="0" t="-210521" r="0" b="-210519"/>
              </a:stretch>
            </a:blipFill>
          </p:spPr>
        </p:sp>
      </p:grpSp>
      <p:grpSp>
        <p:nvGrpSpPr>
          <p:cNvPr name="Group 8" id="8"/>
          <p:cNvGrpSpPr/>
          <p:nvPr/>
        </p:nvGrpSpPr>
        <p:grpSpPr>
          <a:xfrm rot="0">
            <a:off x="2176672" y="9527381"/>
            <a:ext cx="12165492" cy="916391"/>
            <a:chOff x="0" y="0"/>
            <a:chExt cx="16220656" cy="1221854"/>
          </a:xfrm>
        </p:grpSpPr>
        <p:sp>
          <p:nvSpPr>
            <p:cNvPr name="Freeform 9" id="9"/>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5">
                <a:alphaModFix amt="0"/>
              </a:blip>
              <a:stretch>
                <a:fillRect l="0" t="-208673" r="0" b="-208673"/>
              </a:stretch>
            </a:blipFill>
          </p:spPr>
        </p:sp>
        <p:sp>
          <p:nvSpPr>
            <p:cNvPr name="TextBox 10" id="10"/>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1" id="11"/>
          <p:cNvGrpSpPr/>
          <p:nvPr/>
        </p:nvGrpSpPr>
        <p:grpSpPr>
          <a:xfrm rot="0">
            <a:off x="13885174" y="9534525"/>
            <a:ext cx="2743200" cy="547688"/>
            <a:chOff x="0" y="0"/>
            <a:chExt cx="3657600" cy="730250"/>
          </a:xfrm>
        </p:grpSpPr>
        <p:sp>
          <p:nvSpPr>
            <p:cNvPr name="Freeform 12" id="12"/>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4">
                <a:alphaModFix amt="0"/>
              </a:blip>
              <a:stretch>
                <a:fillRect l="0" t="-47526" r="0" b="-47526"/>
              </a:stretch>
            </a:blipFill>
          </p:spPr>
        </p:sp>
      </p:grpSp>
      <p:grpSp>
        <p:nvGrpSpPr>
          <p:cNvPr name="Group 13" id="13"/>
          <p:cNvGrpSpPr/>
          <p:nvPr/>
        </p:nvGrpSpPr>
        <p:grpSpPr>
          <a:xfrm rot="0">
            <a:off x="13885174" y="9520238"/>
            <a:ext cx="2743200" cy="561975"/>
            <a:chOff x="0" y="0"/>
            <a:chExt cx="3657600" cy="749300"/>
          </a:xfrm>
        </p:grpSpPr>
        <p:sp>
          <p:nvSpPr>
            <p:cNvPr name="Freeform 14" id="14"/>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5">
                <a:alphaModFix amt="0"/>
              </a:blip>
              <a:stretch>
                <a:fillRect l="0" t="-45113" r="0" b="-45113"/>
              </a:stretch>
            </a:blipFill>
          </p:spPr>
        </p:sp>
        <p:sp>
          <p:nvSpPr>
            <p:cNvPr name="TextBox 15" id="15"/>
            <p:cNvSpPr txBox="true"/>
            <p:nvPr/>
          </p:nvSpPr>
          <p:spPr>
            <a:xfrm>
              <a:off x="0" y="-19050"/>
              <a:ext cx="3657600" cy="768350"/>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8</a:t>
              </a:r>
            </a:p>
          </p:txBody>
        </p:sp>
      </p:grpSp>
      <p:grpSp>
        <p:nvGrpSpPr>
          <p:cNvPr name="Group 16" id="16"/>
          <p:cNvGrpSpPr/>
          <p:nvPr/>
        </p:nvGrpSpPr>
        <p:grpSpPr>
          <a:xfrm rot="0">
            <a:off x="1237726" y="9611135"/>
            <a:ext cx="3163948" cy="547649"/>
            <a:chOff x="0" y="0"/>
            <a:chExt cx="4218597" cy="730199"/>
          </a:xfrm>
        </p:grpSpPr>
        <p:sp>
          <p:nvSpPr>
            <p:cNvPr name="Freeform 17" id="17"/>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4">
                <a:alphaModFix amt="0"/>
              </a:blip>
              <a:stretch>
                <a:fillRect l="0" t="-62488" r="0" b="-62481"/>
              </a:stretch>
            </a:blipFill>
          </p:spPr>
        </p:sp>
      </p:grpSp>
      <p:grpSp>
        <p:nvGrpSpPr>
          <p:cNvPr name="Group 18" id="18"/>
          <p:cNvGrpSpPr/>
          <p:nvPr/>
        </p:nvGrpSpPr>
        <p:grpSpPr>
          <a:xfrm rot="0">
            <a:off x="1237726" y="9596847"/>
            <a:ext cx="3163948" cy="561937"/>
            <a:chOff x="0" y="0"/>
            <a:chExt cx="4218597" cy="749250"/>
          </a:xfrm>
        </p:grpSpPr>
        <p:sp>
          <p:nvSpPr>
            <p:cNvPr name="Freeform 19" id="19"/>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5">
                <a:alphaModFix amt="0"/>
              </a:blip>
              <a:stretch>
                <a:fillRect l="0" t="-59709" r="0" b="-59708"/>
              </a:stretch>
            </a:blipFill>
          </p:spPr>
        </p:sp>
        <p:sp>
          <p:nvSpPr>
            <p:cNvPr name="TextBox 20" id="20"/>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graphicFrame>
        <p:nvGraphicFramePr>
          <p:cNvPr name="Object 21" id="21"/>
          <p:cNvGraphicFramePr/>
          <p:nvPr/>
        </p:nvGraphicFramePr>
        <p:xfrm>
          <a:off x="718509" y="2109997"/>
          <a:ext cx="8726279" cy="8229600"/>
        </p:xfrm>
        <a:graphic>
          <a:graphicData uri="http://schemas.openxmlformats.org/presentationml/2006/ole">
            <p:oleObj imgW="10464800" imgH="99695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22" id="22"/>
          <p:cNvSpPr txBox="true"/>
          <p:nvPr/>
        </p:nvSpPr>
        <p:spPr>
          <a:xfrm rot="0">
            <a:off x="1420235" y="1605210"/>
            <a:ext cx="3315891" cy="428587"/>
          </a:xfrm>
          <a:prstGeom prst="rect">
            <a:avLst/>
          </a:prstGeom>
        </p:spPr>
        <p:txBody>
          <a:bodyPr anchor="t" rtlCol="false" tIns="0" lIns="0" bIns="0" rIns="0">
            <a:spAutoFit/>
          </a:bodyPr>
          <a:lstStyle/>
          <a:p>
            <a:pPr algn="ctr">
              <a:lnSpc>
                <a:spcPts val="3119"/>
              </a:lnSpc>
            </a:pPr>
            <a:r>
              <a:rPr lang="en-US" sz="2598">
                <a:solidFill>
                  <a:srgbClr val="000000"/>
                </a:solidFill>
                <a:latin typeface="Times New Roman"/>
                <a:ea typeface="Times New Roman"/>
                <a:cs typeface="Times New Roman"/>
                <a:sym typeface="Times New Roman"/>
              </a:rPr>
              <a:t>Tools And Technologies :</a:t>
            </a:r>
          </a:p>
        </p:txBody>
      </p:sp>
      <p:sp>
        <p:nvSpPr>
          <p:cNvPr name="TextBox 23" id="23"/>
          <p:cNvSpPr txBox="true"/>
          <p:nvPr/>
        </p:nvSpPr>
        <p:spPr>
          <a:xfrm rot="0">
            <a:off x="9292552" y="1995697"/>
            <a:ext cx="8592483" cy="7828832"/>
          </a:xfrm>
          <a:prstGeom prst="rect">
            <a:avLst/>
          </a:prstGeom>
        </p:spPr>
        <p:txBody>
          <a:bodyPr anchor="t" rtlCol="false" tIns="0" lIns="0" bIns="0" rIns="0">
            <a:spAutoFit/>
          </a:bodyPr>
          <a:lstStyle/>
          <a:p>
            <a:pPr algn="just">
              <a:lnSpc>
                <a:spcPts val="3120"/>
              </a:lnSpc>
            </a:pPr>
            <a:r>
              <a:rPr lang="en-US" sz="2601">
                <a:solidFill>
                  <a:srgbClr val="000000"/>
                </a:solidFill>
                <a:latin typeface="Times New Roman"/>
                <a:ea typeface="Times New Roman"/>
                <a:cs typeface="Times New Roman"/>
                <a:sym typeface="Times New Roman"/>
              </a:rPr>
              <a:t>    </a:t>
            </a:r>
            <a:r>
              <a:rPr lang="en-US" sz="2601">
                <a:solidFill>
                  <a:srgbClr val="000000"/>
                </a:solidFill>
                <a:latin typeface="Times New Roman"/>
                <a:ea typeface="Times New Roman"/>
                <a:cs typeface="Times New Roman"/>
                <a:sym typeface="Times New Roman"/>
              </a:rPr>
              <a:t>Techniques :</a:t>
            </a:r>
          </a:p>
          <a:p>
            <a:pPr algn="just" marL="594628" indent="-198209" lvl="2">
              <a:lnSpc>
                <a:spcPts val="3120"/>
              </a:lnSpc>
              <a:buFont typeface="Arial"/>
              <a:buChar char="⚬"/>
            </a:pPr>
            <a:r>
              <a:rPr lang="en-US" sz="2601">
                <a:solidFill>
                  <a:srgbClr val="000000"/>
                </a:solidFill>
                <a:latin typeface="Times New Roman"/>
                <a:ea typeface="Times New Roman"/>
                <a:cs typeface="Times New Roman"/>
                <a:sym typeface="Times New Roman"/>
              </a:rPr>
              <a:t>Digital Twin Modeling for Distributed Fabric State</a:t>
            </a:r>
          </a:p>
          <a:p>
            <a:pPr algn="just" marL="594628" indent="-198209" lvl="2">
              <a:lnSpc>
                <a:spcPts val="3120"/>
              </a:lnSpc>
              <a:buFont typeface="Arial"/>
              <a:buChar char="⚬"/>
            </a:pPr>
            <a:r>
              <a:rPr lang="en-US" sz="2601">
                <a:solidFill>
                  <a:srgbClr val="000000"/>
                </a:solidFill>
                <a:latin typeface="Times New Roman"/>
                <a:ea typeface="Times New Roman"/>
                <a:cs typeface="Times New Roman"/>
                <a:sym typeface="Times New Roman"/>
              </a:rPr>
              <a:t>Declarative Topology and Node Descriptor Driven Simulation</a:t>
            </a:r>
          </a:p>
          <a:p>
            <a:pPr algn="just" marL="594628" indent="-198209" lvl="2">
              <a:lnSpc>
                <a:spcPts val="3120"/>
              </a:lnSpc>
              <a:buFont typeface="Arial"/>
              <a:buChar char="⚬"/>
            </a:pPr>
            <a:r>
              <a:rPr lang="en-US" sz="2601">
                <a:solidFill>
                  <a:srgbClr val="000000"/>
                </a:solidFill>
                <a:latin typeface="Times New Roman"/>
                <a:ea typeface="Times New Roman"/>
                <a:cs typeface="Times New Roman"/>
                <a:sym typeface="Times New Roman"/>
              </a:rPr>
              <a:t>Multi Strategy Job Placement and Scheduling (Greedy, Resilient, Federated, Bandit, RL / MDP Oriented Policies)</a:t>
            </a:r>
          </a:p>
          <a:p>
            <a:pPr algn="just" marL="594628" indent="-198209" lvl="2">
              <a:lnSpc>
                <a:spcPts val="3120"/>
              </a:lnSpc>
              <a:buFont typeface="Arial"/>
              <a:buChar char="⚬"/>
            </a:pPr>
            <a:r>
              <a:rPr lang="en-US" sz="2601">
                <a:solidFill>
                  <a:srgbClr val="000000"/>
                </a:solidFill>
                <a:latin typeface="Times New Roman"/>
                <a:ea typeface="Times New Roman"/>
                <a:cs typeface="Times New Roman"/>
                <a:sym typeface="Times New Roman"/>
              </a:rPr>
              <a:t>Monte Carlo Simulation for Workload and Policy Evaluation</a:t>
            </a:r>
          </a:p>
          <a:p>
            <a:pPr algn="just" marL="594628" indent="-198209" lvl="2">
              <a:lnSpc>
                <a:spcPts val="3120"/>
              </a:lnSpc>
              <a:buFont typeface="Arial"/>
              <a:buChar char="⚬"/>
            </a:pPr>
            <a:r>
              <a:rPr lang="en-US" sz="2601">
                <a:solidFill>
                  <a:srgbClr val="000000"/>
                </a:solidFill>
                <a:latin typeface="Times New Roman"/>
                <a:ea typeface="Times New Roman"/>
                <a:cs typeface="Times New Roman"/>
                <a:sym typeface="Times New Roman"/>
              </a:rPr>
              <a:t>Chaos Engineering and Fault Injection via Scenario Schedules</a:t>
            </a:r>
          </a:p>
          <a:p>
            <a:pPr algn="just" marL="594628" indent="-198209" lvl="2">
              <a:lnSpc>
                <a:spcPts val="3120"/>
              </a:lnSpc>
              <a:buFont typeface="Arial"/>
              <a:buChar char="⚬"/>
            </a:pPr>
            <a:r>
              <a:rPr lang="en-US" sz="2601">
                <a:solidFill>
                  <a:srgbClr val="000000"/>
                </a:solidFill>
                <a:latin typeface="Times New Roman"/>
                <a:ea typeface="Times New Roman"/>
                <a:cs typeface="Times New Roman"/>
                <a:sym typeface="Times New Roman"/>
              </a:rPr>
              <a:t>Predictive Analytics for Utilisation, Risk, and Reliability Forecasting</a:t>
            </a:r>
          </a:p>
          <a:p>
            <a:pPr algn="just" marL="594628" indent="-198209" lvl="2">
              <a:lnSpc>
                <a:spcPts val="3120"/>
              </a:lnSpc>
              <a:buFont typeface="Arial"/>
              <a:buChar char="⚬"/>
            </a:pPr>
            <a:r>
              <a:rPr lang="en-US" sz="2601">
                <a:solidFill>
                  <a:srgbClr val="000000"/>
                </a:solidFill>
                <a:latin typeface="Times New Roman"/>
                <a:ea typeface="Times New Roman"/>
                <a:cs typeface="Times New Roman"/>
                <a:sym typeface="Times New Roman"/>
              </a:rPr>
              <a:t>Hybrid Static Dynamic Configuration (YAML/JSON Schemas + Live Overrides and Observations)</a:t>
            </a:r>
          </a:p>
          <a:p>
            <a:pPr algn="just" marL="594628" indent="-198209" lvl="2">
              <a:lnSpc>
                <a:spcPts val="3120"/>
              </a:lnSpc>
              <a:buFont typeface="Arial"/>
              <a:buChar char="⚬"/>
            </a:pPr>
            <a:r>
              <a:rPr lang="en-US" sz="2601">
                <a:solidFill>
                  <a:srgbClr val="000000"/>
                </a:solidFill>
                <a:latin typeface="Times New Roman"/>
                <a:ea typeface="Times New Roman"/>
                <a:cs typeface="Times New Roman"/>
                <a:sym typeface="Times New Roman"/>
              </a:rPr>
              <a:t>Closed Loop Validation (Plan → Reserve → Observe → Re-Plan)</a:t>
            </a:r>
          </a:p>
          <a:p>
            <a:pPr algn="just" marL="594628" indent="-198209" lvl="2">
              <a:lnSpc>
                <a:spcPts val="3120"/>
              </a:lnSpc>
              <a:buFont typeface="Arial"/>
              <a:buChar char="⚬"/>
            </a:pPr>
            <a:r>
              <a:rPr lang="en-US" sz="2601">
                <a:solidFill>
                  <a:srgbClr val="000000"/>
                </a:solidFill>
                <a:latin typeface="Times New Roman"/>
                <a:ea typeface="Times New Roman"/>
                <a:cs typeface="Times New Roman"/>
                <a:sym typeface="Times New Roman"/>
              </a:rPr>
              <a:t>Policy Benchmarking and Comparative Metrics Visualization</a:t>
            </a:r>
          </a:p>
          <a:p>
            <a:pPr algn="just" marL="594628" indent="-198209" lvl="2">
              <a:lnSpc>
                <a:spcPts val="3120"/>
              </a:lnSpc>
              <a:buFont typeface="Arial"/>
              <a:buChar char="⚬"/>
            </a:pPr>
            <a:r>
              <a:rPr lang="en-US" sz="2601">
                <a:solidFill>
                  <a:srgbClr val="000000"/>
                </a:solidFill>
                <a:latin typeface="Times New Roman"/>
                <a:ea typeface="Times New Roman"/>
                <a:cs typeface="Times New Roman"/>
                <a:sym typeface="Times New Roman"/>
              </a:rPr>
              <a:t>Optional Container Based Fabric Emulation for End to End Testbeds</a:t>
            </a:r>
          </a:p>
          <a:p>
            <a:pPr algn="just" marL="594628" indent="-198209" lvl="2">
              <a:lnSpc>
                <a:spcPts val="3120"/>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379314" y="226124"/>
            <a:ext cx="1849946" cy="1544669"/>
            <a:chOff x="0" y="0"/>
            <a:chExt cx="2466594" cy="2059559"/>
          </a:xfrm>
        </p:grpSpPr>
        <p:sp>
          <p:nvSpPr>
            <p:cNvPr name="Freeform 5" id="5"/>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3"/>
              <a:stretch>
                <a:fillRect l="0" t="-2" r="0" b="-1"/>
              </a:stretch>
            </a:blipFill>
          </p:spPr>
        </p:sp>
      </p:grpSp>
      <p:grpSp>
        <p:nvGrpSpPr>
          <p:cNvPr name="Group 6" id="6"/>
          <p:cNvGrpSpPr/>
          <p:nvPr/>
        </p:nvGrpSpPr>
        <p:grpSpPr>
          <a:xfrm rot="0">
            <a:off x="2176672" y="9430341"/>
            <a:ext cx="12165492" cy="909237"/>
            <a:chOff x="0" y="0"/>
            <a:chExt cx="16220656" cy="1212317"/>
          </a:xfrm>
        </p:grpSpPr>
        <p:sp>
          <p:nvSpPr>
            <p:cNvPr name="Freeform 7" id="7"/>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4">
                <a:alphaModFix amt="0"/>
              </a:blip>
              <a:stretch>
                <a:fillRect l="0" t="-210521" r="0" b="-210519"/>
              </a:stretch>
            </a:blipFill>
          </p:spPr>
        </p:sp>
      </p:grpSp>
      <p:grpSp>
        <p:nvGrpSpPr>
          <p:cNvPr name="Group 8" id="8"/>
          <p:cNvGrpSpPr/>
          <p:nvPr/>
        </p:nvGrpSpPr>
        <p:grpSpPr>
          <a:xfrm rot="0">
            <a:off x="2176672" y="9423197"/>
            <a:ext cx="12165492" cy="916391"/>
            <a:chOff x="0" y="0"/>
            <a:chExt cx="16220656" cy="1221854"/>
          </a:xfrm>
        </p:grpSpPr>
        <p:sp>
          <p:nvSpPr>
            <p:cNvPr name="Freeform 9" id="9"/>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5">
                <a:alphaModFix amt="0"/>
              </a:blip>
              <a:stretch>
                <a:fillRect l="0" t="-208673" r="0" b="-208673"/>
              </a:stretch>
            </a:blipFill>
          </p:spPr>
        </p:sp>
        <p:sp>
          <p:nvSpPr>
            <p:cNvPr name="TextBox 10" id="10"/>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1" id="11"/>
          <p:cNvGrpSpPr/>
          <p:nvPr/>
        </p:nvGrpSpPr>
        <p:grpSpPr>
          <a:xfrm rot="0">
            <a:off x="13885174" y="9534525"/>
            <a:ext cx="2743200" cy="547688"/>
            <a:chOff x="0" y="0"/>
            <a:chExt cx="3657600" cy="730250"/>
          </a:xfrm>
        </p:grpSpPr>
        <p:sp>
          <p:nvSpPr>
            <p:cNvPr name="Freeform 12" id="12"/>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4">
                <a:alphaModFix amt="0"/>
              </a:blip>
              <a:stretch>
                <a:fillRect l="0" t="-47526" r="0" b="-47526"/>
              </a:stretch>
            </a:blipFill>
          </p:spPr>
        </p:sp>
      </p:grpSp>
      <p:grpSp>
        <p:nvGrpSpPr>
          <p:cNvPr name="Group 13" id="13"/>
          <p:cNvGrpSpPr/>
          <p:nvPr/>
        </p:nvGrpSpPr>
        <p:grpSpPr>
          <a:xfrm rot="0">
            <a:off x="13885174" y="9520238"/>
            <a:ext cx="2743200" cy="561976"/>
            <a:chOff x="0" y="0"/>
            <a:chExt cx="3657600" cy="749301"/>
          </a:xfrm>
        </p:grpSpPr>
        <p:sp>
          <p:nvSpPr>
            <p:cNvPr name="Freeform 14" id="14"/>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5">
                <a:alphaModFix amt="0"/>
              </a:blip>
              <a:stretch>
                <a:fillRect l="0" t="-45113" r="0" b="-45113"/>
              </a:stretch>
            </a:blipFill>
          </p:spPr>
        </p:sp>
        <p:sp>
          <p:nvSpPr>
            <p:cNvPr name="TextBox 15" id="15"/>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14</a:t>
              </a:r>
            </a:p>
          </p:txBody>
        </p:sp>
      </p:grpSp>
      <p:grpSp>
        <p:nvGrpSpPr>
          <p:cNvPr name="Group 16" id="16"/>
          <p:cNvGrpSpPr/>
          <p:nvPr/>
        </p:nvGrpSpPr>
        <p:grpSpPr>
          <a:xfrm rot="0">
            <a:off x="1237726" y="9611135"/>
            <a:ext cx="3163948" cy="547649"/>
            <a:chOff x="0" y="0"/>
            <a:chExt cx="4218597" cy="730199"/>
          </a:xfrm>
        </p:grpSpPr>
        <p:sp>
          <p:nvSpPr>
            <p:cNvPr name="Freeform 17" id="17"/>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4">
                <a:alphaModFix amt="0"/>
              </a:blip>
              <a:stretch>
                <a:fillRect l="0" t="-62488" r="0" b="-62481"/>
              </a:stretch>
            </a:blipFill>
          </p:spPr>
        </p:sp>
      </p:grpSp>
      <p:grpSp>
        <p:nvGrpSpPr>
          <p:cNvPr name="Group 18" id="18"/>
          <p:cNvGrpSpPr/>
          <p:nvPr/>
        </p:nvGrpSpPr>
        <p:grpSpPr>
          <a:xfrm rot="0">
            <a:off x="1237726" y="9596847"/>
            <a:ext cx="3163948" cy="561937"/>
            <a:chOff x="0" y="0"/>
            <a:chExt cx="4218597" cy="749250"/>
          </a:xfrm>
        </p:grpSpPr>
        <p:sp>
          <p:nvSpPr>
            <p:cNvPr name="Freeform 19" id="19"/>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5">
                <a:alphaModFix amt="0"/>
              </a:blip>
              <a:stretch>
                <a:fillRect l="0" t="-59709" r="0" b="-59708"/>
              </a:stretch>
            </a:blipFill>
          </p:spPr>
        </p:sp>
        <p:sp>
          <p:nvSpPr>
            <p:cNvPr name="TextBox 20" id="20"/>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grpSp>
        <p:nvGrpSpPr>
          <p:cNvPr name="Group 21" id="21"/>
          <p:cNvGrpSpPr/>
          <p:nvPr/>
        </p:nvGrpSpPr>
        <p:grpSpPr>
          <a:xfrm rot="0">
            <a:off x="1408290" y="205978"/>
            <a:ext cx="14971024" cy="1645444"/>
            <a:chOff x="0" y="0"/>
            <a:chExt cx="19961365" cy="2193925"/>
          </a:xfrm>
        </p:grpSpPr>
        <p:sp>
          <p:nvSpPr>
            <p:cNvPr name="Freeform 22" id="22"/>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4">
                <a:alphaModFix amt="0"/>
              </a:blip>
              <a:stretch>
                <a:fillRect l="0" t="-127160" r="0" b="-127161"/>
              </a:stretch>
            </a:blipFill>
          </p:spPr>
        </p:sp>
      </p:grpSp>
      <p:grpSp>
        <p:nvGrpSpPr>
          <p:cNvPr name="Group 23" id="23"/>
          <p:cNvGrpSpPr/>
          <p:nvPr/>
        </p:nvGrpSpPr>
        <p:grpSpPr>
          <a:xfrm rot="0">
            <a:off x="1408290" y="227409"/>
            <a:ext cx="14971024" cy="1624012"/>
            <a:chOff x="0" y="0"/>
            <a:chExt cx="19961365" cy="2165350"/>
          </a:xfrm>
        </p:grpSpPr>
        <p:sp>
          <p:nvSpPr>
            <p:cNvPr name="Freeform 24" id="24"/>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5">
                <a:alphaModFix amt="0"/>
              </a:blip>
              <a:stretch>
                <a:fillRect l="0" t="-129623" r="0" b="-129623"/>
              </a:stretch>
            </a:blipFill>
          </p:spPr>
        </p:sp>
        <p:sp>
          <p:nvSpPr>
            <p:cNvPr name="TextBox 25" id="25"/>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Requirement Specification</a:t>
              </a:r>
            </a:p>
          </p:txBody>
        </p:sp>
      </p:grpSp>
      <p:sp>
        <p:nvSpPr>
          <p:cNvPr name="TextBox 26" id="26"/>
          <p:cNvSpPr txBox="true"/>
          <p:nvPr/>
        </p:nvSpPr>
        <p:spPr>
          <a:xfrm rot="0">
            <a:off x="1626699" y="2020491"/>
            <a:ext cx="15632601" cy="3517144"/>
          </a:xfrm>
          <a:prstGeom prst="rect">
            <a:avLst/>
          </a:prstGeom>
        </p:spPr>
        <p:txBody>
          <a:bodyPr anchor="t" rtlCol="false" tIns="0" lIns="0" bIns="0" rIns="0">
            <a:spAutoFit/>
          </a:bodyPr>
          <a:lstStyle/>
          <a:p>
            <a:pPr algn="l">
              <a:lnSpc>
                <a:spcPts val="3696"/>
              </a:lnSpc>
            </a:pPr>
            <a:r>
              <a:rPr lang="en-US" sz="3080">
                <a:solidFill>
                  <a:srgbClr val="000000"/>
                </a:solidFill>
                <a:latin typeface="Times New Roman"/>
                <a:ea typeface="Times New Roman"/>
                <a:cs typeface="Times New Roman"/>
                <a:sym typeface="Times New Roman"/>
              </a:rPr>
              <a:t>1.</a:t>
            </a:r>
            <a:r>
              <a:rPr lang="en-US" sz="3080" b="true">
                <a:solidFill>
                  <a:srgbClr val="000000"/>
                </a:solidFill>
                <a:latin typeface="Times New Roman Bold"/>
                <a:ea typeface="Times New Roman Bold"/>
                <a:cs typeface="Times New Roman Bold"/>
                <a:sym typeface="Times New Roman Bold"/>
              </a:rPr>
              <a:t> Functional Requirements</a:t>
            </a:r>
          </a:p>
          <a:p>
            <a:pPr algn="l" marL="657058" indent="-219019" lvl="2">
              <a:lnSpc>
                <a:spcPts val="3449"/>
              </a:lnSpc>
              <a:buFont typeface="Arial"/>
              <a:buChar char="⚬"/>
            </a:pPr>
            <a:r>
              <a:rPr lang="en-US" sz="2874">
                <a:solidFill>
                  <a:srgbClr val="000000"/>
                </a:solidFill>
                <a:latin typeface="Times New Roman"/>
                <a:ea typeface="Times New Roman"/>
                <a:cs typeface="Times New Roman"/>
                <a:sym typeface="Times New Roman"/>
              </a:rPr>
              <a:t>System shall allow generation of synthetic node descriptors and network topology</a:t>
            </a:r>
          </a:p>
          <a:p>
            <a:pPr algn="l" marL="657058" indent="-219019" lvl="2">
              <a:lnSpc>
                <a:spcPts val="3449"/>
              </a:lnSpc>
              <a:buFont typeface="Arial"/>
              <a:buChar char="⚬"/>
            </a:pPr>
            <a:r>
              <a:rPr lang="en-US" sz="2874">
                <a:solidFill>
                  <a:srgbClr val="000000"/>
                </a:solidFill>
                <a:latin typeface="Times New Roman"/>
                <a:ea typeface="Times New Roman"/>
                <a:cs typeface="Times New Roman"/>
                <a:sym typeface="Times New Roman"/>
              </a:rPr>
              <a:t>System shall accept job descriptors (YAML/JSON) with stages, resource needs, deadlines, and fault tolerance settings</a:t>
            </a:r>
          </a:p>
          <a:p>
            <a:pPr algn="l" marL="657058" indent="-219019" lvl="2">
              <a:lnSpc>
                <a:spcPts val="3449"/>
              </a:lnSpc>
              <a:buFont typeface="Arial"/>
              <a:buChar char="⚬"/>
            </a:pPr>
            <a:r>
              <a:rPr lang="en-US" sz="2874">
                <a:solidFill>
                  <a:srgbClr val="000000"/>
                </a:solidFill>
                <a:latin typeface="Times New Roman"/>
                <a:ea typeface="Times New Roman"/>
                <a:cs typeface="Times New Roman"/>
                <a:sym typeface="Times New Roman"/>
              </a:rPr>
              <a:t>System shall validate job/topology/node files against defined JSON schemas</a:t>
            </a:r>
          </a:p>
          <a:p>
            <a:pPr algn="l" marL="657058" indent="-219019" lvl="2">
              <a:lnSpc>
                <a:spcPts val="3449"/>
              </a:lnSpc>
              <a:buFont typeface="Arial"/>
              <a:buChar char="⚬"/>
            </a:pPr>
            <a:r>
              <a:rPr lang="en-US" sz="2874">
                <a:solidFill>
                  <a:srgbClr val="000000"/>
                </a:solidFill>
                <a:latin typeface="Times New Roman"/>
                <a:ea typeface="Times New Roman"/>
                <a:cs typeface="Times New Roman"/>
                <a:sym typeface="Times New Roman"/>
              </a:rPr>
              <a:t>System shall support multiple scheduling strategies (greedy, resilient, federated, bandit, RL Markov) selectable at runtime</a:t>
            </a:r>
          </a:p>
          <a:p>
            <a:pPr algn="l" marL="657058" indent="-219019" lvl="2">
              <a:lnSpc>
                <a:spcPts val="3449"/>
              </a:lnSpc>
            </a:pPr>
          </a:p>
        </p:txBody>
      </p:sp>
      <p:sp>
        <p:nvSpPr>
          <p:cNvPr name="TextBox 27" id="27"/>
          <p:cNvSpPr txBox="true"/>
          <p:nvPr/>
        </p:nvSpPr>
        <p:spPr>
          <a:xfrm rot="0">
            <a:off x="1645606" y="5991806"/>
            <a:ext cx="15613694" cy="3562255"/>
          </a:xfrm>
          <a:prstGeom prst="rect">
            <a:avLst/>
          </a:prstGeom>
        </p:spPr>
        <p:txBody>
          <a:bodyPr anchor="t" rtlCol="false" tIns="0" lIns="0" bIns="0" rIns="0">
            <a:spAutoFit/>
          </a:bodyPr>
          <a:lstStyle/>
          <a:p>
            <a:pPr algn="l">
              <a:lnSpc>
                <a:spcPts val="3599"/>
              </a:lnSpc>
            </a:pPr>
            <a:r>
              <a:rPr lang="en-US" sz="2999" b="true">
                <a:solidFill>
                  <a:srgbClr val="000000"/>
                </a:solidFill>
                <a:latin typeface="Times New Roman Bold"/>
                <a:ea typeface="Times New Roman Bold"/>
                <a:cs typeface="Times New Roman Bold"/>
                <a:sym typeface="Times New Roman Bold"/>
              </a:rPr>
              <a:t>2. Non-Functional Requirements</a:t>
            </a:r>
          </a:p>
          <a:p>
            <a:pPr algn="l" marL="639958" indent="-213319" lvl="2">
              <a:lnSpc>
                <a:spcPts val="3358"/>
              </a:lnSpc>
              <a:buFont typeface="Arial"/>
              <a:buChar char="⚬"/>
            </a:pPr>
            <a:r>
              <a:rPr lang="en-US" sz="2799">
                <a:solidFill>
                  <a:srgbClr val="000000"/>
                </a:solidFill>
                <a:latin typeface="Times New Roman"/>
                <a:ea typeface="Times New Roman"/>
                <a:cs typeface="Times New Roman"/>
                <a:sym typeface="Times New Roman"/>
              </a:rPr>
              <a:t>Performance: Planner should return placement decisions with low latency (near real time) for interactive use in the dashboard</a:t>
            </a:r>
          </a:p>
          <a:p>
            <a:pPr algn="l" marL="662818" indent="-220939" lvl="2">
              <a:lnSpc>
                <a:spcPts val="3478"/>
              </a:lnSpc>
              <a:buFont typeface="Arial"/>
              <a:buChar char="⚬"/>
            </a:pPr>
            <a:r>
              <a:rPr lang="en-US" sz="2898">
                <a:solidFill>
                  <a:srgbClr val="000000"/>
                </a:solidFill>
                <a:latin typeface="Times New Roman"/>
                <a:ea typeface="Times New Roman"/>
                <a:cs typeface="Times New Roman"/>
                <a:sym typeface="Times New Roman"/>
              </a:rPr>
              <a:t>Scalability: Should handle at least tens of simulated nodes and jobs with multiple stages without degradation</a:t>
            </a:r>
          </a:p>
          <a:p>
            <a:pPr algn="l" marL="662818" indent="-220939" lvl="2">
              <a:lnSpc>
                <a:spcPts val="3478"/>
              </a:lnSpc>
              <a:buFont typeface="Arial"/>
              <a:buChar char="⚬"/>
            </a:pPr>
            <a:r>
              <a:rPr lang="en-US" sz="2898">
                <a:solidFill>
                  <a:srgbClr val="000000"/>
                </a:solidFill>
                <a:latin typeface="Times New Roman"/>
                <a:ea typeface="Times New Roman"/>
                <a:cs typeface="Times New Roman"/>
                <a:sym typeface="Times New Roman"/>
              </a:rPr>
              <a:t>Reliability: Self healing controller and resource guardian should recover from expired reservations / degraded nodes automatically</a:t>
            </a:r>
          </a:p>
          <a:p>
            <a:pPr algn="l" marL="662818" indent="-220939" lvl="2">
              <a:lnSpc>
                <a:spcPts val="3838"/>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Expected Outcomes (Inputs &amp; Outputs)</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15›</a:t>
              </a:r>
            </a:p>
          </p:txBody>
        </p:sp>
      </p:grpSp>
      <p:sp>
        <p:nvSpPr>
          <p:cNvPr name="TextBox 21" id="21"/>
          <p:cNvSpPr txBox="true"/>
          <p:nvPr/>
        </p:nvSpPr>
        <p:spPr>
          <a:xfrm rot="0">
            <a:off x="1504950" y="2077641"/>
            <a:ext cx="15156361" cy="7649310"/>
          </a:xfrm>
          <a:prstGeom prst="rect">
            <a:avLst/>
          </a:prstGeom>
        </p:spPr>
        <p:txBody>
          <a:bodyPr anchor="t" rtlCol="false" tIns="0" lIns="0" bIns="0" rIns="0">
            <a:spAutoFit/>
          </a:bodyPr>
          <a:lstStyle/>
          <a:p>
            <a:pPr algn="l" marL="754380" indent="-251460" lvl="2">
              <a:lnSpc>
                <a:spcPts val="3206"/>
              </a:lnSpc>
              <a:buFont typeface="Arial"/>
              <a:buChar char="⚬"/>
            </a:pPr>
            <a:r>
              <a:rPr lang="en-US" sz="3300">
                <a:solidFill>
                  <a:srgbClr val="000000"/>
                </a:solidFill>
                <a:latin typeface="Times New Roman"/>
                <a:ea typeface="Times New Roman"/>
                <a:cs typeface="Times New Roman"/>
                <a:sym typeface="Times New Roman"/>
              </a:rPr>
              <a:t>System Inputs:</a:t>
            </a:r>
          </a:p>
          <a:p>
            <a:pPr algn="l" marL="754380" indent="-251460" lvl="2">
              <a:lnSpc>
                <a:spcPts val="3206"/>
              </a:lnSpc>
            </a:pPr>
          </a:p>
          <a:p>
            <a:pPr algn="l" marL="1348106" indent="-337027" lvl="3">
              <a:lnSpc>
                <a:spcPts val="3206"/>
              </a:lnSpc>
              <a:buFont typeface="Arial"/>
              <a:buChar char="￭"/>
            </a:pPr>
            <a:r>
              <a:rPr lang="en-US" sz="3300">
                <a:solidFill>
                  <a:srgbClr val="000000"/>
                </a:solidFill>
                <a:latin typeface="Times New Roman"/>
                <a:ea typeface="Times New Roman"/>
                <a:cs typeface="Times New Roman"/>
                <a:sym typeface="Times New Roman"/>
              </a:rPr>
              <a:t>Static node/topology descriptors (YAML).</a:t>
            </a:r>
          </a:p>
          <a:p>
            <a:pPr algn="l" marL="1348106" indent="-337027" lvl="3">
              <a:lnSpc>
                <a:spcPts val="3206"/>
              </a:lnSpc>
            </a:pPr>
          </a:p>
          <a:p>
            <a:pPr algn="l" marL="1348106" indent="-337027" lvl="3">
              <a:lnSpc>
                <a:spcPts val="3206"/>
              </a:lnSpc>
              <a:buFont typeface="Arial"/>
              <a:buChar char="￭"/>
            </a:pPr>
            <a:r>
              <a:rPr lang="en-US" sz="3300">
                <a:solidFill>
                  <a:srgbClr val="000000"/>
                </a:solidFill>
                <a:latin typeface="Times New Roman"/>
                <a:ea typeface="Times New Roman"/>
                <a:cs typeface="Times New Roman"/>
                <a:sym typeface="Times New Roman"/>
              </a:rPr>
              <a:t>Complex workload descriptors (JSON/YAML) with strict SLA deadlines, resource constraints, and fault-tolerance rules.</a:t>
            </a:r>
          </a:p>
          <a:p>
            <a:pPr algn="l" marL="1348106" indent="-337027" lvl="3">
              <a:lnSpc>
                <a:spcPts val="3206"/>
              </a:lnSpc>
            </a:pPr>
          </a:p>
          <a:p>
            <a:pPr algn="l" marL="1348106" indent="-337027" lvl="3">
              <a:lnSpc>
                <a:spcPts val="3206"/>
              </a:lnSpc>
              <a:buFont typeface="Arial"/>
              <a:buChar char="￭"/>
            </a:pPr>
            <a:r>
              <a:rPr lang="en-US" sz="3300">
                <a:solidFill>
                  <a:srgbClr val="000000"/>
                </a:solidFill>
                <a:latin typeface="Times New Roman"/>
                <a:ea typeface="Times New Roman"/>
                <a:cs typeface="Times New Roman"/>
                <a:sym typeface="Times New Roman"/>
              </a:rPr>
              <a:t>Live telemetry and deterministic chaos schedules.</a:t>
            </a:r>
          </a:p>
          <a:p>
            <a:pPr algn="l" marL="1348106" indent="-337027" lvl="3">
              <a:lnSpc>
                <a:spcPts val="3206"/>
              </a:lnSpc>
            </a:pPr>
          </a:p>
          <a:p>
            <a:pPr algn="l" marL="1348106" indent="-337027" lvl="3">
              <a:lnSpc>
                <a:spcPts val="3206"/>
              </a:lnSpc>
            </a:pPr>
          </a:p>
          <a:p>
            <a:pPr algn="l" marL="754380" indent="-251460" lvl="2">
              <a:lnSpc>
                <a:spcPts val="3206"/>
              </a:lnSpc>
              <a:buFont typeface="Arial"/>
              <a:buChar char="⚬"/>
            </a:pPr>
            <a:r>
              <a:rPr lang="en-US" sz="3300">
                <a:solidFill>
                  <a:srgbClr val="000000"/>
                </a:solidFill>
                <a:latin typeface="Times New Roman"/>
                <a:ea typeface="Times New Roman"/>
                <a:cs typeface="Times New Roman"/>
                <a:sym typeface="Times New Roman"/>
              </a:rPr>
              <a:t>System Outputs:</a:t>
            </a:r>
          </a:p>
          <a:p>
            <a:pPr algn="l" marL="754380" indent="-251460" lvl="2">
              <a:lnSpc>
                <a:spcPts val="3206"/>
              </a:lnSpc>
            </a:pPr>
          </a:p>
          <a:p>
            <a:pPr algn="l" marL="1348106" indent="-337027" lvl="3">
              <a:lnSpc>
                <a:spcPts val="3206"/>
              </a:lnSpc>
              <a:buFont typeface="Arial"/>
              <a:buChar char="￭"/>
            </a:pPr>
            <a:r>
              <a:rPr lang="en-US" sz="3300">
                <a:solidFill>
                  <a:srgbClr val="000000"/>
                </a:solidFill>
                <a:latin typeface="Times New Roman"/>
                <a:ea typeface="Times New Roman"/>
                <a:cs typeface="Times New Roman"/>
                <a:sym typeface="Times New Roman"/>
              </a:rPr>
              <a:t>Actionable placement plans mapping tasks to the optimal edge nodes.</a:t>
            </a:r>
          </a:p>
          <a:p>
            <a:pPr algn="l" marL="1348106" indent="-337027" lvl="3">
              <a:lnSpc>
                <a:spcPts val="3206"/>
              </a:lnSpc>
            </a:pPr>
          </a:p>
          <a:p>
            <a:pPr algn="l" marL="1348106" indent="-337027" lvl="3">
              <a:lnSpc>
                <a:spcPts val="3206"/>
              </a:lnSpc>
              <a:buFont typeface="Arial"/>
              <a:buChar char="￭"/>
            </a:pPr>
            <a:r>
              <a:rPr lang="en-US" sz="3300">
                <a:solidFill>
                  <a:srgbClr val="000000"/>
                </a:solidFill>
                <a:latin typeface="Times New Roman"/>
                <a:ea typeface="Times New Roman"/>
                <a:cs typeface="Times New Roman"/>
                <a:sym typeface="Times New Roman"/>
              </a:rPr>
              <a:t>Statistical proofs (CSVs) demonstrating that intelligent policies (Federated/RL) minimize system cost, latency, and energy compared to static baselines.</a:t>
            </a:r>
          </a:p>
          <a:p>
            <a:pPr algn="l" marL="1348106" indent="-337027" lvl="3">
              <a:lnSpc>
                <a:spcPts val="3206"/>
              </a:lnSpc>
            </a:pPr>
          </a:p>
          <a:p>
            <a:pPr algn="l" marL="1348106" indent="-337027" lvl="3">
              <a:lnSpc>
                <a:spcPts val="3206"/>
              </a:lnSpc>
              <a:buFont typeface="Arial"/>
              <a:buChar char="￭"/>
            </a:pPr>
            <a:r>
              <a:rPr lang="en-US" sz="3300">
                <a:solidFill>
                  <a:srgbClr val="000000"/>
                </a:solidFill>
                <a:latin typeface="Times New Roman"/>
                <a:ea typeface="Times New Roman"/>
                <a:cs typeface="Times New Roman"/>
                <a:sym typeface="Times New Roman"/>
              </a:rPr>
              <a:t>Real time topology visualizations showing predictive hardware health</a:t>
            </a:r>
          </a:p>
          <a:p>
            <a:pPr algn="l" marL="1348106" indent="-337027" lvl="3">
              <a:lnSpc>
                <a:spcPts val="3206"/>
              </a:lnSpc>
            </a:pPr>
          </a:p>
        </p:txBody>
      </p:sp>
      <p:grpSp>
        <p:nvGrpSpPr>
          <p:cNvPr name="Group 22" id="22"/>
          <p:cNvGrpSpPr/>
          <p:nvPr/>
        </p:nvGrpSpPr>
        <p:grpSpPr>
          <a:xfrm rot="0">
            <a:off x="1237726" y="9611135"/>
            <a:ext cx="3163948" cy="547649"/>
            <a:chOff x="0" y="0"/>
            <a:chExt cx="4218597" cy="730199"/>
          </a:xfrm>
        </p:grpSpPr>
        <p:sp>
          <p:nvSpPr>
            <p:cNvPr name="Freeform 23" id="23"/>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4" id="24"/>
          <p:cNvGrpSpPr/>
          <p:nvPr/>
        </p:nvGrpSpPr>
        <p:grpSpPr>
          <a:xfrm rot="0">
            <a:off x="1237726" y="9596847"/>
            <a:ext cx="3163948" cy="561937"/>
            <a:chOff x="0" y="0"/>
            <a:chExt cx="4218597" cy="749250"/>
          </a:xfrm>
        </p:grpSpPr>
        <p:sp>
          <p:nvSpPr>
            <p:cNvPr name="Freeform 25" id="25"/>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6" id="26"/>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Program Outcome (PO) Mapping</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16</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grpSp>
        <p:nvGrpSpPr>
          <p:cNvPr name="Group 26" id="26"/>
          <p:cNvGrpSpPr/>
          <p:nvPr/>
        </p:nvGrpSpPr>
        <p:grpSpPr>
          <a:xfrm rot="0">
            <a:off x="1626699" y="2030016"/>
            <a:ext cx="6971243" cy="4328922"/>
            <a:chOff x="0" y="0"/>
            <a:chExt cx="9294990" cy="5771896"/>
          </a:xfrm>
        </p:grpSpPr>
        <p:sp>
          <p:nvSpPr>
            <p:cNvPr name="Freeform 27" id="27"/>
            <p:cNvSpPr/>
            <p:nvPr/>
          </p:nvSpPr>
          <p:spPr>
            <a:xfrm flipH="false" flipV="false" rot="0">
              <a:off x="0" y="0"/>
              <a:ext cx="9295003" cy="5771896"/>
            </a:xfrm>
            <a:custGeom>
              <a:avLst/>
              <a:gdLst/>
              <a:ahLst/>
              <a:cxnLst/>
              <a:rect r="r" b="b" t="t" l="l"/>
              <a:pathLst>
                <a:path h="5771896" w="9295003">
                  <a:moveTo>
                    <a:pt x="0" y="0"/>
                  </a:moveTo>
                  <a:lnTo>
                    <a:pt x="9295003" y="0"/>
                  </a:lnTo>
                  <a:lnTo>
                    <a:pt x="9295003" y="5771896"/>
                  </a:lnTo>
                  <a:lnTo>
                    <a:pt x="0" y="5771896"/>
                  </a:lnTo>
                  <a:lnTo>
                    <a:pt x="0" y="0"/>
                  </a:lnTo>
                  <a:close/>
                </a:path>
              </a:pathLst>
            </a:custGeom>
            <a:blipFill>
              <a:blip r:embed="rId6"/>
              <a:stretch>
                <a:fillRect l="0" t="-667" r="0" b="-667"/>
              </a:stretch>
            </a:blipFill>
          </p:spPr>
        </p:sp>
      </p:grpSp>
      <p:grpSp>
        <p:nvGrpSpPr>
          <p:cNvPr name="Group 28" id="28"/>
          <p:cNvGrpSpPr/>
          <p:nvPr/>
        </p:nvGrpSpPr>
        <p:grpSpPr>
          <a:xfrm rot="0">
            <a:off x="1657350" y="6358938"/>
            <a:ext cx="6940591" cy="2701109"/>
            <a:chOff x="0" y="0"/>
            <a:chExt cx="9254122" cy="3601479"/>
          </a:xfrm>
        </p:grpSpPr>
        <p:sp>
          <p:nvSpPr>
            <p:cNvPr name="Freeform 29" id="29"/>
            <p:cNvSpPr/>
            <p:nvPr/>
          </p:nvSpPr>
          <p:spPr>
            <a:xfrm flipH="false" flipV="false" rot="0">
              <a:off x="0" y="0"/>
              <a:ext cx="9254109" cy="3601466"/>
            </a:xfrm>
            <a:custGeom>
              <a:avLst/>
              <a:gdLst/>
              <a:ahLst/>
              <a:cxnLst/>
              <a:rect r="r" b="b" t="t" l="l"/>
              <a:pathLst>
                <a:path h="3601466" w="9254109">
                  <a:moveTo>
                    <a:pt x="0" y="0"/>
                  </a:moveTo>
                  <a:lnTo>
                    <a:pt x="9254109" y="0"/>
                  </a:lnTo>
                  <a:lnTo>
                    <a:pt x="9254109" y="3601466"/>
                  </a:lnTo>
                  <a:lnTo>
                    <a:pt x="0" y="3601466"/>
                  </a:lnTo>
                  <a:lnTo>
                    <a:pt x="0" y="0"/>
                  </a:lnTo>
                  <a:close/>
                </a:path>
              </a:pathLst>
            </a:custGeom>
            <a:blipFill>
              <a:blip r:embed="rId7"/>
              <a:stretch>
                <a:fillRect l="0" t="0" r="0" b="0"/>
              </a:stretch>
            </a:blipFill>
          </p:spPr>
        </p:sp>
      </p:grpSp>
      <p:grpSp>
        <p:nvGrpSpPr>
          <p:cNvPr name="Group 30" id="30"/>
          <p:cNvGrpSpPr/>
          <p:nvPr/>
        </p:nvGrpSpPr>
        <p:grpSpPr>
          <a:xfrm rot="0">
            <a:off x="8905980" y="2030016"/>
            <a:ext cx="6958479" cy="7030031"/>
            <a:chOff x="0" y="0"/>
            <a:chExt cx="9277972" cy="9373375"/>
          </a:xfrm>
        </p:grpSpPr>
        <p:sp>
          <p:nvSpPr>
            <p:cNvPr name="Freeform 31" id="31"/>
            <p:cNvSpPr/>
            <p:nvPr/>
          </p:nvSpPr>
          <p:spPr>
            <a:xfrm flipH="false" flipV="false" rot="0">
              <a:off x="0" y="0"/>
              <a:ext cx="9277985" cy="9373362"/>
            </a:xfrm>
            <a:custGeom>
              <a:avLst/>
              <a:gdLst/>
              <a:ahLst/>
              <a:cxnLst/>
              <a:rect r="r" b="b" t="t" l="l"/>
              <a:pathLst>
                <a:path h="9373362" w="9277985">
                  <a:moveTo>
                    <a:pt x="0" y="0"/>
                  </a:moveTo>
                  <a:lnTo>
                    <a:pt x="9277985" y="0"/>
                  </a:lnTo>
                  <a:lnTo>
                    <a:pt x="9277985" y="9373362"/>
                  </a:lnTo>
                  <a:lnTo>
                    <a:pt x="0" y="9373362"/>
                  </a:lnTo>
                  <a:lnTo>
                    <a:pt x="0" y="0"/>
                  </a:lnTo>
                  <a:close/>
                </a:path>
              </a:pathLst>
            </a:custGeom>
            <a:blipFill>
              <a:blip r:embed="rId8"/>
              <a:stretch>
                <a:fillRect l="0" t="0" r="0"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Program Outcome (PO) Mapping</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17</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grpSp>
        <p:nvGrpSpPr>
          <p:cNvPr name="Group 26" id="26"/>
          <p:cNvGrpSpPr/>
          <p:nvPr/>
        </p:nvGrpSpPr>
        <p:grpSpPr>
          <a:xfrm rot="0">
            <a:off x="1657350" y="2030016"/>
            <a:ext cx="6343774" cy="7495708"/>
            <a:chOff x="0" y="0"/>
            <a:chExt cx="8458365" cy="9994278"/>
          </a:xfrm>
        </p:grpSpPr>
        <p:sp>
          <p:nvSpPr>
            <p:cNvPr name="Freeform 27" id="27"/>
            <p:cNvSpPr/>
            <p:nvPr/>
          </p:nvSpPr>
          <p:spPr>
            <a:xfrm flipH="false" flipV="false" rot="0">
              <a:off x="0" y="0"/>
              <a:ext cx="8458327" cy="9994265"/>
            </a:xfrm>
            <a:custGeom>
              <a:avLst/>
              <a:gdLst/>
              <a:ahLst/>
              <a:cxnLst/>
              <a:rect r="r" b="b" t="t" l="l"/>
              <a:pathLst>
                <a:path h="9994265" w="8458327">
                  <a:moveTo>
                    <a:pt x="0" y="0"/>
                  </a:moveTo>
                  <a:lnTo>
                    <a:pt x="8458327" y="0"/>
                  </a:lnTo>
                  <a:lnTo>
                    <a:pt x="8458327" y="9994265"/>
                  </a:lnTo>
                  <a:lnTo>
                    <a:pt x="0" y="9994265"/>
                  </a:lnTo>
                  <a:lnTo>
                    <a:pt x="0" y="0"/>
                  </a:lnTo>
                  <a:close/>
                </a:path>
              </a:pathLst>
            </a:custGeom>
            <a:blipFill>
              <a:blip r:embed="rId6"/>
              <a:stretch>
                <a:fillRect l="0" t="0" r="0" b="0"/>
              </a:stretch>
            </a:blipFill>
          </p:spPr>
        </p:sp>
      </p:grpSp>
      <p:grpSp>
        <p:nvGrpSpPr>
          <p:cNvPr name="Group 28" id="28"/>
          <p:cNvGrpSpPr/>
          <p:nvPr/>
        </p:nvGrpSpPr>
        <p:grpSpPr>
          <a:xfrm rot="0">
            <a:off x="9392060" y="2049066"/>
            <a:ext cx="7326401" cy="4056993"/>
            <a:chOff x="0" y="0"/>
            <a:chExt cx="9768535" cy="5409324"/>
          </a:xfrm>
        </p:grpSpPr>
        <p:sp>
          <p:nvSpPr>
            <p:cNvPr name="Freeform 29" id="29"/>
            <p:cNvSpPr/>
            <p:nvPr/>
          </p:nvSpPr>
          <p:spPr>
            <a:xfrm flipH="false" flipV="false" rot="0">
              <a:off x="0" y="0"/>
              <a:ext cx="9768586" cy="5409311"/>
            </a:xfrm>
            <a:custGeom>
              <a:avLst/>
              <a:gdLst/>
              <a:ahLst/>
              <a:cxnLst/>
              <a:rect r="r" b="b" t="t" l="l"/>
              <a:pathLst>
                <a:path h="5409311" w="9768586">
                  <a:moveTo>
                    <a:pt x="0" y="0"/>
                  </a:moveTo>
                  <a:lnTo>
                    <a:pt x="9768586" y="0"/>
                  </a:lnTo>
                  <a:lnTo>
                    <a:pt x="9768586" y="5409311"/>
                  </a:lnTo>
                  <a:lnTo>
                    <a:pt x="0" y="5409311"/>
                  </a:lnTo>
                  <a:lnTo>
                    <a:pt x="0" y="0"/>
                  </a:lnTo>
                  <a:close/>
                </a:path>
              </a:pathLst>
            </a:custGeom>
            <a:blipFill>
              <a:blip r:embed="rId7"/>
              <a:stretch>
                <a:fillRect l="-5" t="0" r="-4" b="0"/>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49"/>
          </a:xfrm>
        </p:grpSpPr>
        <p:sp>
          <p:nvSpPr>
            <p:cNvPr name="Freeform 7" id="7"/>
            <p:cNvSpPr/>
            <p:nvPr/>
          </p:nvSpPr>
          <p:spPr>
            <a:xfrm flipH="false" flipV="false" rot="0">
              <a:off x="0" y="0"/>
              <a:ext cx="19961366" cy="2165348"/>
            </a:xfrm>
            <a:custGeom>
              <a:avLst/>
              <a:gdLst/>
              <a:ahLst/>
              <a:cxnLst/>
              <a:rect r="r" b="b" t="t" l="l"/>
              <a:pathLst>
                <a:path h="2165348" w="19961366">
                  <a:moveTo>
                    <a:pt x="0" y="0"/>
                  </a:moveTo>
                  <a:lnTo>
                    <a:pt x="19961366" y="0"/>
                  </a:lnTo>
                  <a:lnTo>
                    <a:pt x="19961366" y="2165348"/>
                  </a:lnTo>
                  <a:lnTo>
                    <a:pt x="0" y="2165348"/>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4"/>
            </a:xfrm>
            <a:prstGeom prst="rect">
              <a:avLst/>
            </a:prstGeom>
          </p:spPr>
          <p:txBody>
            <a:bodyPr anchor="b" rtlCol="false" tIns="0" lIns="0" bIns="0" rIns="0"/>
            <a:lstStyle/>
            <a:p>
              <a:pPr algn="l">
                <a:lnSpc>
                  <a:spcPts val="5291"/>
                </a:lnSpc>
              </a:pPr>
              <a:r>
                <a:rPr lang="en-US" sz="4899" b="true">
                  <a:solidFill>
                    <a:srgbClr val="514843"/>
                  </a:solidFill>
                  <a:latin typeface="Times New Roman Bold"/>
                  <a:ea typeface="Times New Roman Bold"/>
                  <a:cs typeface="Times New Roman Bold"/>
                  <a:sym typeface="Times New Roman Bold"/>
                </a:rPr>
                <a:t>Performance Parameters</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18</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sp>
        <p:nvSpPr>
          <p:cNvPr name="TextBox 26" id="26"/>
          <p:cNvSpPr txBox="true"/>
          <p:nvPr/>
        </p:nvSpPr>
        <p:spPr>
          <a:xfrm rot="0">
            <a:off x="1657350" y="2306375"/>
            <a:ext cx="14813069" cy="6782079"/>
          </a:xfrm>
          <a:prstGeom prst="rect">
            <a:avLst/>
          </a:prstGeom>
        </p:spPr>
        <p:txBody>
          <a:bodyPr anchor="t" rtlCol="false" tIns="0" lIns="0" bIns="0" rIns="0">
            <a:spAutoFit/>
          </a:bodyPr>
          <a:lstStyle/>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Planning Speed – Time taken to assign a job to the right machine; slower planning delays job start</a:t>
            </a:r>
          </a:p>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Job Latency &amp; Deadline Hit Rate – Whether jobs finish within their set deadline; tracked as average, worst case, and % on time</a:t>
            </a:r>
          </a:p>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Energy Used – Estimated power cost of running a job on a chosen node; can be optimized instead of speed</a:t>
            </a:r>
          </a:p>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Reliability &amp; Risk – Likelihood of a node or link failing; system avoids risky placements and self-heals</a:t>
            </a:r>
          </a:p>
          <a:p>
            <a:pPr algn="ctr"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Resource Usage – Live view of free vs. used CPU, memory, and GPU on each node</a:t>
            </a:r>
          </a:p>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Network Quality – Speed, delay, and data loss between nodes; affects how fast job stages exchange data</a:t>
            </a:r>
          </a:p>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System Responsiveness – How quickly the system detects changes like failures or file edits; updates pushed instantly with a backup check every 30s</a:t>
            </a:r>
          </a:p>
          <a:p>
            <a:pPr algn="l">
              <a:lnSpc>
                <a:spcPts val="256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49"/>
          </a:xfrm>
        </p:grpSpPr>
        <p:sp>
          <p:nvSpPr>
            <p:cNvPr name="Freeform 7" id="7"/>
            <p:cNvSpPr/>
            <p:nvPr/>
          </p:nvSpPr>
          <p:spPr>
            <a:xfrm flipH="false" flipV="false" rot="0">
              <a:off x="0" y="0"/>
              <a:ext cx="19961366" cy="2165348"/>
            </a:xfrm>
            <a:custGeom>
              <a:avLst/>
              <a:gdLst/>
              <a:ahLst/>
              <a:cxnLst/>
              <a:rect r="r" b="b" t="t" l="l"/>
              <a:pathLst>
                <a:path h="2165348" w="19961366">
                  <a:moveTo>
                    <a:pt x="0" y="0"/>
                  </a:moveTo>
                  <a:lnTo>
                    <a:pt x="19961366" y="0"/>
                  </a:lnTo>
                  <a:lnTo>
                    <a:pt x="19961366" y="2165348"/>
                  </a:lnTo>
                  <a:lnTo>
                    <a:pt x="0" y="2165348"/>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4"/>
            </a:xfrm>
            <a:prstGeom prst="rect">
              <a:avLst/>
            </a:prstGeom>
          </p:spPr>
          <p:txBody>
            <a:bodyPr anchor="b" rtlCol="false" tIns="0" lIns="0" bIns="0" rIns="0"/>
            <a:lstStyle/>
            <a:p>
              <a:pPr algn="l">
                <a:lnSpc>
                  <a:spcPts val="5291"/>
                </a:lnSpc>
              </a:pPr>
              <a:r>
                <a:rPr lang="en-US" sz="4899" b="true">
                  <a:solidFill>
                    <a:srgbClr val="514843"/>
                  </a:solidFill>
                  <a:latin typeface="Times New Roman Bold"/>
                  <a:ea typeface="Times New Roman Bold"/>
                  <a:cs typeface="Times New Roman Bold"/>
                  <a:sym typeface="Times New Roman Bold"/>
                </a:rPr>
                <a:t>Efficiency Issues</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19›</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sp>
        <p:nvSpPr>
          <p:cNvPr name="TextBox 26" id="26"/>
          <p:cNvSpPr txBox="true"/>
          <p:nvPr/>
        </p:nvSpPr>
        <p:spPr>
          <a:xfrm rot="0">
            <a:off x="1657350" y="2306375"/>
            <a:ext cx="14813069" cy="6782079"/>
          </a:xfrm>
          <a:prstGeom prst="rect">
            <a:avLst/>
          </a:prstGeom>
        </p:spPr>
        <p:txBody>
          <a:bodyPr anchor="t" rtlCol="false" tIns="0" lIns="0" bIns="0" rIns="0">
            <a:spAutoFit/>
          </a:bodyPr>
          <a:lstStyle/>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Rechecks Everything Too Often – System scans all node files every 0.5s; one small change reloads all files, not just the changed one</a:t>
            </a:r>
          </a:p>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One Lock Blocks Everything – A single lock controls all actions, so requests wait in line instead of running together</a:t>
            </a:r>
          </a:p>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Copies All Data Every Time – Every status check duplicates the entire system state, even with no change</a:t>
            </a:r>
          </a:p>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Simulation Copies Too Much – Test runs duplicate all node/link data on every single trial, wasting time</a:t>
            </a:r>
          </a:p>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Requests Sent One by One – Network calls go out individually instead of in batches, slowing simulations</a:t>
            </a:r>
          </a:p>
          <a:p>
            <a:pPr algn="l" marL="712470" indent="-356235" lvl="1">
              <a:lnSpc>
                <a:spcPts val="3960"/>
              </a:lnSpc>
              <a:buFont typeface="Arial"/>
              <a:buChar char="•"/>
            </a:pPr>
            <a:r>
              <a:rPr lang="en-US" sz="3300">
                <a:solidFill>
                  <a:srgbClr val="000000"/>
                </a:solidFill>
                <a:latin typeface="Times New Roman"/>
                <a:ea typeface="Times New Roman"/>
                <a:cs typeface="Times New Roman"/>
                <a:sym typeface="Times New Roman"/>
              </a:rPr>
              <a:t>Repeats Work Unnecessarily – Planner recalculates the same results for every job step instead of reusing them</a:t>
            </a:r>
          </a:p>
          <a:p>
            <a:pPr algn="l">
              <a:lnSpc>
                <a:spcPts val="3960"/>
              </a:lnSpc>
            </a:pPr>
          </a:p>
          <a:p>
            <a:pPr algn="l">
              <a:lnSpc>
                <a:spcPts val="256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a:off x="1640835" y="1945929"/>
            <a:ext cx="15006330" cy="9429"/>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49"/>
          </a:xfrm>
        </p:grpSpPr>
        <p:sp>
          <p:nvSpPr>
            <p:cNvPr name="Freeform 7" id="7"/>
            <p:cNvSpPr/>
            <p:nvPr/>
          </p:nvSpPr>
          <p:spPr>
            <a:xfrm flipH="false" flipV="false" rot="0">
              <a:off x="0" y="0"/>
              <a:ext cx="19961366" cy="2165348"/>
            </a:xfrm>
            <a:custGeom>
              <a:avLst/>
              <a:gdLst/>
              <a:ahLst/>
              <a:cxnLst/>
              <a:rect r="r" b="b" t="t" l="l"/>
              <a:pathLst>
                <a:path h="2165348" w="19961366">
                  <a:moveTo>
                    <a:pt x="0" y="0"/>
                  </a:moveTo>
                  <a:lnTo>
                    <a:pt x="19961366" y="0"/>
                  </a:lnTo>
                  <a:lnTo>
                    <a:pt x="19961366" y="2165348"/>
                  </a:lnTo>
                  <a:lnTo>
                    <a:pt x="0" y="2165348"/>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4"/>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Working modules / Simulation</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21</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sp>
        <p:nvSpPr>
          <p:cNvPr name="Freeform 26" id="26"/>
          <p:cNvSpPr/>
          <p:nvPr/>
        </p:nvSpPr>
        <p:spPr>
          <a:xfrm flipH="false" flipV="false" rot="0">
            <a:off x="1768741" y="2141096"/>
            <a:ext cx="5265603" cy="7470039"/>
          </a:xfrm>
          <a:custGeom>
            <a:avLst/>
            <a:gdLst/>
            <a:ahLst/>
            <a:cxnLst/>
            <a:rect r="r" b="b" t="t" l="l"/>
            <a:pathLst>
              <a:path h="7470039" w="5265603">
                <a:moveTo>
                  <a:pt x="0" y="0"/>
                </a:moveTo>
                <a:lnTo>
                  <a:pt x="5265603" y="0"/>
                </a:lnTo>
                <a:lnTo>
                  <a:pt x="5265603" y="7470039"/>
                </a:lnTo>
                <a:lnTo>
                  <a:pt x="0" y="7470039"/>
                </a:lnTo>
                <a:lnTo>
                  <a:pt x="0" y="0"/>
                </a:lnTo>
                <a:close/>
              </a:path>
            </a:pathLst>
          </a:custGeom>
          <a:blipFill>
            <a:blip r:embed="rId6"/>
            <a:stretch>
              <a:fillRect l="0" t="0" r="0" b="0"/>
            </a:stretch>
          </a:blipFill>
        </p:spPr>
      </p:sp>
      <p:sp>
        <p:nvSpPr>
          <p:cNvPr name="Freeform 27" id="27"/>
          <p:cNvSpPr/>
          <p:nvPr/>
        </p:nvSpPr>
        <p:spPr>
          <a:xfrm flipH="false" flipV="false" rot="0">
            <a:off x="8561199" y="2131571"/>
            <a:ext cx="7484777" cy="6637532"/>
          </a:xfrm>
          <a:custGeom>
            <a:avLst/>
            <a:gdLst/>
            <a:ahLst/>
            <a:cxnLst/>
            <a:rect r="r" b="b" t="t" l="l"/>
            <a:pathLst>
              <a:path h="6637532" w="7484777">
                <a:moveTo>
                  <a:pt x="0" y="0"/>
                </a:moveTo>
                <a:lnTo>
                  <a:pt x="7484777" y="0"/>
                </a:lnTo>
                <a:lnTo>
                  <a:pt x="7484777" y="6637532"/>
                </a:lnTo>
                <a:lnTo>
                  <a:pt x="0" y="6637532"/>
                </a:lnTo>
                <a:lnTo>
                  <a:pt x="0" y="0"/>
                </a:lnTo>
                <a:close/>
              </a:path>
            </a:pathLst>
          </a:custGeom>
          <a:blipFill>
            <a:blip r:embed="rId7"/>
            <a:stretch>
              <a:fillRect l="0" t="0" r="0" b="0"/>
            </a:stretch>
          </a:blipFill>
        </p:spPr>
      </p:sp>
      <p:sp>
        <p:nvSpPr>
          <p:cNvPr name="TextBox 28" id="28"/>
          <p:cNvSpPr txBox="true"/>
          <p:nvPr/>
        </p:nvSpPr>
        <p:spPr>
          <a:xfrm rot="0">
            <a:off x="8259418" y="9144609"/>
            <a:ext cx="1803797" cy="285731"/>
          </a:xfrm>
          <a:prstGeom prst="rect">
            <a:avLst/>
          </a:prstGeom>
        </p:spPr>
        <p:txBody>
          <a:bodyPr anchor="t" rtlCol="false" tIns="0" lIns="0" bIns="0" rIns="0">
            <a:spAutoFit/>
          </a:bodyPr>
          <a:lstStyle/>
          <a:p>
            <a:pPr algn="ctr">
              <a:lnSpc>
                <a:spcPts val="2160"/>
              </a:lnSpc>
              <a:spcBef>
                <a:spcPct val="0"/>
              </a:spcBef>
            </a:pPr>
            <a:r>
              <a:rPr lang="en-US" sz="1800">
                <a:solidFill>
                  <a:srgbClr val="FFFFFF"/>
                </a:solidFill>
                <a:latin typeface="Times New Roman"/>
                <a:ea typeface="Times New Roman"/>
                <a:cs typeface="Times New Roman"/>
                <a:sym typeface="Times New Roman"/>
              </a:rPr>
              <a:t>Your paragraph text</a:t>
            </a:r>
          </a:p>
        </p:txBody>
      </p:sp>
      <p:sp>
        <p:nvSpPr>
          <p:cNvPr name="TextBox 29" id="29"/>
          <p:cNvSpPr txBox="true"/>
          <p:nvPr/>
        </p:nvSpPr>
        <p:spPr>
          <a:xfrm rot="0">
            <a:off x="8242102" y="9045328"/>
            <a:ext cx="1803797" cy="285731"/>
          </a:xfrm>
          <a:prstGeom prst="rect">
            <a:avLst/>
          </a:prstGeom>
        </p:spPr>
        <p:txBody>
          <a:bodyPr anchor="t" rtlCol="false" tIns="0" lIns="0" bIns="0" rIns="0">
            <a:spAutoFit/>
          </a:bodyPr>
          <a:lstStyle/>
          <a:p>
            <a:pPr algn="ctr">
              <a:lnSpc>
                <a:spcPts val="2160"/>
              </a:lnSpc>
              <a:spcBef>
                <a:spcPct val="0"/>
              </a:spcBef>
            </a:pPr>
            <a:r>
              <a:rPr lang="en-US" sz="1800">
                <a:solidFill>
                  <a:srgbClr val="FFFFFF"/>
                </a:solidFill>
                <a:latin typeface="Times New Roman"/>
                <a:ea typeface="Times New Roman"/>
                <a:cs typeface="Times New Roman"/>
                <a:sym typeface="Times New Roman"/>
              </a:rPr>
              <a:t>Your paragraph text</a:t>
            </a:r>
          </a:p>
        </p:txBody>
      </p:sp>
      <p:sp>
        <p:nvSpPr>
          <p:cNvPr name="TextBox 30" id="30"/>
          <p:cNvSpPr txBox="true"/>
          <p:nvPr/>
        </p:nvSpPr>
        <p:spPr>
          <a:xfrm rot="0">
            <a:off x="8561199" y="9015403"/>
            <a:ext cx="8830253" cy="466744"/>
          </a:xfrm>
          <a:prstGeom prst="rect">
            <a:avLst/>
          </a:prstGeom>
        </p:spPr>
        <p:txBody>
          <a:bodyPr anchor="t" rtlCol="false" tIns="0" lIns="0" bIns="0" rIns="0">
            <a:spAutoFit/>
          </a:bodyPr>
          <a:lstStyle/>
          <a:p>
            <a:pPr algn="l">
              <a:lnSpc>
                <a:spcPts val="3599"/>
              </a:lnSpc>
              <a:spcBef>
                <a:spcPct val="0"/>
              </a:spcBef>
            </a:pPr>
            <a:r>
              <a:rPr lang="en-US" sz="2999" u="sng">
                <a:solidFill>
                  <a:srgbClr val="000000"/>
                </a:solidFill>
                <a:latin typeface="Times New Roman"/>
                <a:ea typeface="Times New Roman"/>
                <a:cs typeface="Times New Roman"/>
                <a:sym typeface="Times New Roman"/>
                <a:hlinkClick r:id="rId8" tooltip="https://raptwin.seloraos.online"/>
              </a:rPr>
              <a:t>Working Simulation : https://raptwin.seloraos.online/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a:off x="1640835" y="1945929"/>
            <a:ext cx="15006330" cy="9429"/>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49"/>
          </a:xfrm>
        </p:grpSpPr>
        <p:sp>
          <p:nvSpPr>
            <p:cNvPr name="Freeform 7" id="7"/>
            <p:cNvSpPr/>
            <p:nvPr/>
          </p:nvSpPr>
          <p:spPr>
            <a:xfrm flipH="false" flipV="false" rot="0">
              <a:off x="0" y="0"/>
              <a:ext cx="19961366" cy="2165348"/>
            </a:xfrm>
            <a:custGeom>
              <a:avLst/>
              <a:gdLst/>
              <a:ahLst/>
              <a:cxnLst/>
              <a:rect r="r" b="b" t="t" l="l"/>
              <a:pathLst>
                <a:path h="2165348" w="19961366">
                  <a:moveTo>
                    <a:pt x="0" y="0"/>
                  </a:moveTo>
                  <a:lnTo>
                    <a:pt x="19961366" y="0"/>
                  </a:lnTo>
                  <a:lnTo>
                    <a:pt x="19961366" y="2165348"/>
                  </a:lnTo>
                  <a:lnTo>
                    <a:pt x="0" y="2165348"/>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4"/>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Working modules / Simulation</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22</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sp>
        <p:nvSpPr>
          <p:cNvPr name="Freeform 26" id="26"/>
          <p:cNvSpPr/>
          <p:nvPr/>
        </p:nvSpPr>
        <p:spPr>
          <a:xfrm flipH="false" flipV="false" rot="0">
            <a:off x="10394612" y="2064896"/>
            <a:ext cx="5984702" cy="7358301"/>
          </a:xfrm>
          <a:custGeom>
            <a:avLst/>
            <a:gdLst/>
            <a:ahLst/>
            <a:cxnLst/>
            <a:rect r="r" b="b" t="t" l="l"/>
            <a:pathLst>
              <a:path h="7358301" w="5984702">
                <a:moveTo>
                  <a:pt x="0" y="0"/>
                </a:moveTo>
                <a:lnTo>
                  <a:pt x="5984702" y="0"/>
                </a:lnTo>
                <a:lnTo>
                  <a:pt x="5984702" y="7358301"/>
                </a:lnTo>
                <a:lnTo>
                  <a:pt x="0" y="7358301"/>
                </a:lnTo>
                <a:lnTo>
                  <a:pt x="0" y="0"/>
                </a:lnTo>
                <a:close/>
              </a:path>
            </a:pathLst>
          </a:custGeom>
          <a:blipFill>
            <a:blip r:embed="rId6"/>
            <a:stretch>
              <a:fillRect l="0" t="0" r="0" b="0"/>
            </a:stretch>
          </a:blipFill>
        </p:spPr>
      </p:sp>
      <p:sp>
        <p:nvSpPr>
          <p:cNvPr name="Freeform 27" id="27"/>
          <p:cNvSpPr/>
          <p:nvPr/>
        </p:nvSpPr>
        <p:spPr>
          <a:xfrm flipH="false" flipV="false" rot="0">
            <a:off x="1852981" y="2027315"/>
            <a:ext cx="6716345" cy="7492923"/>
          </a:xfrm>
          <a:custGeom>
            <a:avLst/>
            <a:gdLst/>
            <a:ahLst/>
            <a:cxnLst/>
            <a:rect r="r" b="b" t="t" l="l"/>
            <a:pathLst>
              <a:path h="7492923" w="6716345">
                <a:moveTo>
                  <a:pt x="0" y="0"/>
                </a:moveTo>
                <a:lnTo>
                  <a:pt x="6716345" y="0"/>
                </a:lnTo>
                <a:lnTo>
                  <a:pt x="6716345" y="7492923"/>
                </a:lnTo>
                <a:lnTo>
                  <a:pt x="0" y="7492923"/>
                </a:lnTo>
                <a:lnTo>
                  <a:pt x="0" y="0"/>
                </a:lnTo>
                <a:close/>
              </a:path>
            </a:pathLst>
          </a:custGeom>
          <a:blipFill>
            <a:blip r:embed="rId7"/>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a:off x="1640835" y="1945929"/>
            <a:ext cx="15006330" cy="9429"/>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49"/>
          </a:xfrm>
        </p:grpSpPr>
        <p:sp>
          <p:nvSpPr>
            <p:cNvPr name="Freeform 7" id="7"/>
            <p:cNvSpPr/>
            <p:nvPr/>
          </p:nvSpPr>
          <p:spPr>
            <a:xfrm flipH="false" flipV="false" rot="0">
              <a:off x="0" y="0"/>
              <a:ext cx="19961366" cy="2165348"/>
            </a:xfrm>
            <a:custGeom>
              <a:avLst/>
              <a:gdLst/>
              <a:ahLst/>
              <a:cxnLst/>
              <a:rect r="r" b="b" t="t" l="l"/>
              <a:pathLst>
                <a:path h="2165348" w="19961366">
                  <a:moveTo>
                    <a:pt x="0" y="0"/>
                  </a:moveTo>
                  <a:lnTo>
                    <a:pt x="19961366" y="0"/>
                  </a:lnTo>
                  <a:lnTo>
                    <a:pt x="19961366" y="2165348"/>
                  </a:lnTo>
                  <a:lnTo>
                    <a:pt x="0" y="2165348"/>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4"/>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Working modules / Simulation</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23</a:t>
              </a:r>
            </a:p>
          </p:txBody>
        </p:sp>
      </p:grpSp>
      <p:grpSp>
        <p:nvGrpSpPr>
          <p:cNvPr name="Group 21" id="21"/>
          <p:cNvGrpSpPr/>
          <p:nvPr/>
        </p:nvGrpSpPr>
        <p:grpSpPr>
          <a:xfrm rot="0">
            <a:off x="1237726" y="9611135"/>
            <a:ext cx="3163948" cy="547649"/>
            <a:chOff x="0" y="0"/>
            <a:chExt cx="4218597" cy="730199"/>
          </a:xfrm>
        </p:grpSpPr>
        <p:sp>
          <p:nvSpPr>
            <p:cNvPr name="Freeform 22" id="22"/>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3" id="23"/>
          <p:cNvGrpSpPr/>
          <p:nvPr/>
        </p:nvGrpSpPr>
        <p:grpSpPr>
          <a:xfrm rot="0">
            <a:off x="1237726" y="9596847"/>
            <a:ext cx="3163948" cy="561937"/>
            <a:chOff x="0" y="0"/>
            <a:chExt cx="4218597" cy="749250"/>
          </a:xfrm>
        </p:grpSpPr>
        <p:sp>
          <p:nvSpPr>
            <p:cNvPr name="Freeform 24" id="24"/>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5" id="25"/>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sp>
        <p:nvSpPr>
          <p:cNvPr name="Freeform 26" id="26"/>
          <p:cNvSpPr/>
          <p:nvPr/>
        </p:nvSpPr>
        <p:spPr>
          <a:xfrm flipH="false" flipV="false" rot="0">
            <a:off x="1657350" y="2115100"/>
            <a:ext cx="7137159" cy="7405138"/>
          </a:xfrm>
          <a:custGeom>
            <a:avLst/>
            <a:gdLst/>
            <a:ahLst/>
            <a:cxnLst/>
            <a:rect r="r" b="b" t="t" l="l"/>
            <a:pathLst>
              <a:path h="7405138" w="7137159">
                <a:moveTo>
                  <a:pt x="0" y="0"/>
                </a:moveTo>
                <a:lnTo>
                  <a:pt x="7137159" y="0"/>
                </a:lnTo>
                <a:lnTo>
                  <a:pt x="7137159" y="7405138"/>
                </a:lnTo>
                <a:lnTo>
                  <a:pt x="0" y="7405138"/>
                </a:lnTo>
                <a:lnTo>
                  <a:pt x="0" y="0"/>
                </a:lnTo>
                <a:close/>
              </a:path>
            </a:pathLst>
          </a:custGeom>
          <a:blipFill>
            <a:blip r:embed="rId6"/>
            <a:stretch>
              <a:fillRect l="0" t="0" r="0" b="0"/>
            </a:stretch>
          </a:blipFill>
        </p:spPr>
      </p:sp>
      <p:sp>
        <p:nvSpPr>
          <p:cNvPr name="Freeform 27" id="27"/>
          <p:cNvSpPr/>
          <p:nvPr/>
        </p:nvSpPr>
        <p:spPr>
          <a:xfrm flipH="false" flipV="false" rot="0">
            <a:off x="9144000" y="2209828"/>
            <a:ext cx="8805083" cy="7048472"/>
          </a:xfrm>
          <a:custGeom>
            <a:avLst/>
            <a:gdLst/>
            <a:ahLst/>
            <a:cxnLst/>
            <a:rect r="r" b="b" t="t" l="l"/>
            <a:pathLst>
              <a:path h="7048472" w="8805083">
                <a:moveTo>
                  <a:pt x="0" y="0"/>
                </a:moveTo>
                <a:lnTo>
                  <a:pt x="8805083" y="0"/>
                </a:lnTo>
                <a:lnTo>
                  <a:pt x="8805083" y="7048472"/>
                </a:lnTo>
                <a:lnTo>
                  <a:pt x="0" y="7048472"/>
                </a:lnTo>
                <a:lnTo>
                  <a:pt x="0" y="0"/>
                </a:lnTo>
                <a:close/>
              </a:path>
            </a:pathLst>
          </a:custGeom>
          <a:blipFill>
            <a:blip r:embed="rId7"/>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a:off x="1640835" y="1945929"/>
            <a:ext cx="15006330" cy="9429"/>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7350" y="114300"/>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7350" y="135731"/>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Conclusion</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24</a:t>
              </a:r>
            </a:p>
          </p:txBody>
        </p:sp>
      </p:grpSp>
      <p:sp>
        <p:nvSpPr>
          <p:cNvPr name="TextBox 21" id="21"/>
          <p:cNvSpPr txBox="true"/>
          <p:nvPr/>
        </p:nvSpPr>
        <p:spPr>
          <a:xfrm rot="0">
            <a:off x="1657350" y="2217839"/>
            <a:ext cx="15003961" cy="4539148"/>
          </a:xfrm>
          <a:prstGeom prst="rect">
            <a:avLst/>
          </a:prstGeom>
        </p:spPr>
        <p:txBody>
          <a:bodyPr anchor="t" rtlCol="false" tIns="0" lIns="0" bIns="0" rIns="0">
            <a:spAutoFit/>
          </a:bodyPr>
          <a:lstStyle/>
          <a:p>
            <a:pPr algn="l">
              <a:lnSpc>
                <a:spcPts val="3918"/>
              </a:lnSpc>
            </a:pPr>
            <a:r>
              <a:rPr lang="en-US" sz="2799">
                <a:solidFill>
                  <a:srgbClr val="000000"/>
                </a:solidFill>
                <a:latin typeface="Times New Roman"/>
                <a:ea typeface="Times New Roman"/>
                <a:cs typeface="Times New Roman"/>
                <a:sym typeface="Times New Roman"/>
              </a:rPr>
              <a:t>This research proposes a framework in which physical devices are paired with virtual twins that continuously mirror their real-time status and operating conditions. Using these digital counterparts, the system determines whether a device should execute tasks locally or offload them to external servers, optimizing performance and resource use. By integrating AI and probabilistic models, the framework runs virtual simulations in advance to identify the most battery-efficient and fastest execution paths before tasks are carried out in the real world. It further aims to improve network reliability by enabling these twins to dynamically adapt to glitches and high connectivity demands, while leveraging real-time data to balance CPU usage and bandwidth, ensuring seamless and lag-free operation of critical services such as smart factories.</a:t>
            </a:r>
          </a:p>
        </p:txBody>
      </p:sp>
      <p:grpSp>
        <p:nvGrpSpPr>
          <p:cNvPr name="Group 22" id="22"/>
          <p:cNvGrpSpPr/>
          <p:nvPr/>
        </p:nvGrpSpPr>
        <p:grpSpPr>
          <a:xfrm rot="0">
            <a:off x="1237726" y="9611135"/>
            <a:ext cx="3163948" cy="547649"/>
            <a:chOff x="0" y="0"/>
            <a:chExt cx="4218597" cy="730199"/>
          </a:xfrm>
        </p:grpSpPr>
        <p:sp>
          <p:nvSpPr>
            <p:cNvPr name="Freeform 23" id="23"/>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4" id="24"/>
          <p:cNvGrpSpPr/>
          <p:nvPr/>
        </p:nvGrpSpPr>
        <p:grpSpPr>
          <a:xfrm rot="0">
            <a:off x="1237726" y="9596847"/>
            <a:ext cx="3163948" cy="561937"/>
            <a:chOff x="0" y="0"/>
            <a:chExt cx="4218597" cy="749250"/>
          </a:xfrm>
        </p:grpSpPr>
        <p:sp>
          <p:nvSpPr>
            <p:cNvPr name="Freeform 25" id="25"/>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6" id="26"/>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18/09/2026</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23940">
            <a:off x="1612230" y="1699317"/>
            <a:ext cx="15063549" cy="0"/>
          </a:xfrm>
          <a:prstGeom prst="line">
            <a:avLst/>
          </a:prstGeom>
          <a:ln cap="rnd" w="19050">
            <a:solidFill>
              <a:srgbClr val="514843"/>
            </a:solidFill>
            <a:prstDash val="solid"/>
            <a:headEnd type="none" len="sm" w="sm"/>
            <a:tailEnd type="none" len="sm" w="sm"/>
          </a:ln>
        </p:spPr>
      </p:sp>
      <p:sp>
        <p:nvSpPr>
          <p:cNvPr name="AutoShape 3" id="3"/>
          <p:cNvSpPr/>
          <p:nvPr/>
        </p:nvSpPr>
        <p:spPr>
          <a:xfrm rot="7980">
            <a:off x="1640824" y="1802578"/>
            <a:ext cx="15006352"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1658483" y="-97707"/>
            <a:ext cx="14971024" cy="1645444"/>
            <a:chOff x="0" y="0"/>
            <a:chExt cx="19961365" cy="2193925"/>
          </a:xfrm>
        </p:grpSpPr>
        <p:sp>
          <p:nvSpPr>
            <p:cNvPr name="Freeform 5" id="5"/>
            <p:cNvSpPr/>
            <p:nvPr/>
          </p:nvSpPr>
          <p:spPr>
            <a:xfrm flipH="false" flipV="false" rot="0">
              <a:off x="0" y="0"/>
              <a:ext cx="19961352" cy="2193925"/>
            </a:xfrm>
            <a:custGeom>
              <a:avLst/>
              <a:gdLst/>
              <a:ahLst/>
              <a:cxnLst/>
              <a:rect r="r" b="b" t="t" l="l"/>
              <a:pathLst>
                <a:path h="2193925" w="19961352">
                  <a:moveTo>
                    <a:pt x="0" y="0"/>
                  </a:moveTo>
                  <a:lnTo>
                    <a:pt x="19961352" y="0"/>
                  </a:lnTo>
                  <a:lnTo>
                    <a:pt x="19961352" y="2193925"/>
                  </a:lnTo>
                  <a:lnTo>
                    <a:pt x="0" y="2193925"/>
                  </a:lnTo>
                  <a:close/>
                </a:path>
              </a:pathLst>
            </a:custGeom>
            <a:blipFill>
              <a:blip r:embed="rId3">
                <a:alphaModFix amt="0"/>
              </a:blip>
              <a:stretch>
                <a:fillRect l="0" t="-127160" r="0" b="-127161"/>
              </a:stretch>
            </a:blipFill>
          </p:spPr>
        </p:sp>
      </p:grpSp>
      <p:grpSp>
        <p:nvGrpSpPr>
          <p:cNvPr name="Group 6" id="6"/>
          <p:cNvGrpSpPr/>
          <p:nvPr/>
        </p:nvGrpSpPr>
        <p:grpSpPr>
          <a:xfrm rot="0">
            <a:off x="1658483" y="-76276"/>
            <a:ext cx="14971024" cy="1624012"/>
            <a:chOff x="0" y="0"/>
            <a:chExt cx="19961365" cy="2165350"/>
          </a:xfrm>
        </p:grpSpPr>
        <p:sp>
          <p:nvSpPr>
            <p:cNvPr name="Freeform 7" id="7"/>
            <p:cNvSpPr/>
            <p:nvPr/>
          </p:nvSpPr>
          <p:spPr>
            <a:xfrm flipH="false" flipV="false" rot="0">
              <a:off x="0" y="0"/>
              <a:ext cx="19961366" cy="2165349"/>
            </a:xfrm>
            <a:custGeom>
              <a:avLst/>
              <a:gdLst/>
              <a:ahLst/>
              <a:cxnLst/>
              <a:rect r="r" b="b" t="t" l="l"/>
              <a:pathLst>
                <a:path h="2165349" w="19961366">
                  <a:moveTo>
                    <a:pt x="0" y="0"/>
                  </a:moveTo>
                  <a:lnTo>
                    <a:pt x="19961366" y="0"/>
                  </a:lnTo>
                  <a:lnTo>
                    <a:pt x="19961366" y="2165349"/>
                  </a:lnTo>
                  <a:lnTo>
                    <a:pt x="0" y="2165349"/>
                  </a:lnTo>
                  <a:close/>
                </a:path>
              </a:pathLst>
            </a:custGeom>
            <a:blipFill>
              <a:blip r:embed="rId4">
                <a:alphaModFix amt="0"/>
              </a:blip>
              <a:stretch>
                <a:fillRect l="0" t="-129623" r="0" b="-129623"/>
              </a:stretch>
            </a:blipFill>
          </p:spPr>
        </p:sp>
        <p:sp>
          <p:nvSpPr>
            <p:cNvPr name="TextBox 8" id="8"/>
            <p:cNvSpPr txBox="true"/>
            <p:nvPr/>
          </p:nvSpPr>
          <p:spPr>
            <a:xfrm>
              <a:off x="0" y="28575"/>
              <a:ext cx="19961365" cy="2136775"/>
            </a:xfrm>
            <a:prstGeom prst="rect">
              <a:avLst/>
            </a:prstGeom>
          </p:spPr>
          <p:txBody>
            <a:bodyPr anchor="b" rtlCol="false" tIns="0" lIns="0" bIns="0" rIns="0"/>
            <a:lstStyle/>
            <a:p>
              <a:pPr algn="l">
                <a:lnSpc>
                  <a:spcPts val="4536"/>
                </a:lnSpc>
              </a:pPr>
              <a:r>
                <a:rPr lang="en-US" sz="4200" b="true">
                  <a:solidFill>
                    <a:srgbClr val="514843"/>
                  </a:solidFill>
                  <a:latin typeface="Times New Roman Bold"/>
                  <a:ea typeface="Times New Roman Bold"/>
                  <a:cs typeface="Times New Roman Bold"/>
                  <a:sym typeface="Times New Roman Bold"/>
                </a:rPr>
                <a:t>References</a:t>
              </a:r>
            </a:p>
          </p:txBody>
        </p:sp>
      </p:grpSp>
      <p:grpSp>
        <p:nvGrpSpPr>
          <p:cNvPr name="Group 9" id="9"/>
          <p:cNvGrpSpPr/>
          <p:nvPr/>
        </p:nvGrpSpPr>
        <p:grpSpPr>
          <a:xfrm rot="0">
            <a:off x="16379314" y="226124"/>
            <a:ext cx="1849946" cy="1544669"/>
            <a:chOff x="0" y="0"/>
            <a:chExt cx="2466594" cy="2059559"/>
          </a:xfrm>
        </p:grpSpPr>
        <p:sp>
          <p:nvSpPr>
            <p:cNvPr name="Freeform 10" id="10"/>
            <p:cNvSpPr/>
            <p:nvPr/>
          </p:nvSpPr>
          <p:spPr>
            <a:xfrm flipH="false" flipV="false" rot="0">
              <a:off x="0" y="0"/>
              <a:ext cx="2466594" cy="2059559"/>
            </a:xfrm>
            <a:custGeom>
              <a:avLst/>
              <a:gdLst/>
              <a:ahLst/>
              <a:cxnLst/>
              <a:rect r="r" b="b" t="t" l="l"/>
              <a:pathLst>
                <a:path h="2059559" w="2466594">
                  <a:moveTo>
                    <a:pt x="0" y="0"/>
                  </a:moveTo>
                  <a:lnTo>
                    <a:pt x="2466594" y="0"/>
                  </a:lnTo>
                  <a:lnTo>
                    <a:pt x="2466594" y="2059559"/>
                  </a:lnTo>
                  <a:lnTo>
                    <a:pt x="0" y="2059559"/>
                  </a:lnTo>
                  <a:lnTo>
                    <a:pt x="0" y="0"/>
                  </a:lnTo>
                  <a:close/>
                </a:path>
              </a:pathLst>
            </a:custGeom>
            <a:blipFill>
              <a:blip r:embed="rId5"/>
              <a:stretch>
                <a:fillRect l="0" t="-2" r="0" b="-1"/>
              </a:stretch>
            </a:blipFill>
          </p:spPr>
        </p:sp>
      </p:grpSp>
      <p:grpSp>
        <p:nvGrpSpPr>
          <p:cNvPr name="Group 11" id="11"/>
          <p:cNvGrpSpPr/>
          <p:nvPr/>
        </p:nvGrpSpPr>
        <p:grpSpPr>
          <a:xfrm rot="0">
            <a:off x="2176672" y="9430341"/>
            <a:ext cx="12165492" cy="909237"/>
            <a:chOff x="0" y="0"/>
            <a:chExt cx="16220656" cy="1212317"/>
          </a:xfrm>
        </p:grpSpPr>
        <p:sp>
          <p:nvSpPr>
            <p:cNvPr name="Freeform 12" id="12"/>
            <p:cNvSpPr/>
            <p:nvPr/>
          </p:nvSpPr>
          <p:spPr>
            <a:xfrm flipH="false" flipV="false" rot="0">
              <a:off x="0" y="0"/>
              <a:ext cx="16220694" cy="1212342"/>
            </a:xfrm>
            <a:custGeom>
              <a:avLst/>
              <a:gdLst/>
              <a:ahLst/>
              <a:cxnLst/>
              <a:rect r="r" b="b" t="t" l="l"/>
              <a:pathLst>
                <a:path h="1212342" w="16220694">
                  <a:moveTo>
                    <a:pt x="0" y="0"/>
                  </a:moveTo>
                  <a:lnTo>
                    <a:pt x="16220694" y="0"/>
                  </a:lnTo>
                  <a:lnTo>
                    <a:pt x="16220694" y="1212342"/>
                  </a:lnTo>
                  <a:lnTo>
                    <a:pt x="0" y="1212342"/>
                  </a:lnTo>
                  <a:close/>
                </a:path>
              </a:pathLst>
            </a:custGeom>
            <a:blipFill>
              <a:blip r:embed="rId3">
                <a:alphaModFix amt="0"/>
              </a:blip>
              <a:stretch>
                <a:fillRect l="0" t="-210521" r="0" b="-210519"/>
              </a:stretch>
            </a:blipFill>
          </p:spPr>
        </p:sp>
      </p:grpSp>
      <p:grpSp>
        <p:nvGrpSpPr>
          <p:cNvPr name="Group 13" id="13"/>
          <p:cNvGrpSpPr/>
          <p:nvPr/>
        </p:nvGrpSpPr>
        <p:grpSpPr>
          <a:xfrm rot="0">
            <a:off x="2176672" y="9423197"/>
            <a:ext cx="12165492" cy="916391"/>
            <a:chOff x="0" y="0"/>
            <a:chExt cx="16220656" cy="1221854"/>
          </a:xfrm>
        </p:grpSpPr>
        <p:sp>
          <p:nvSpPr>
            <p:cNvPr name="Freeform 14" id="14"/>
            <p:cNvSpPr/>
            <p:nvPr/>
          </p:nvSpPr>
          <p:spPr>
            <a:xfrm flipH="false" flipV="false" rot="0">
              <a:off x="0" y="0"/>
              <a:ext cx="16220656" cy="1221849"/>
            </a:xfrm>
            <a:custGeom>
              <a:avLst/>
              <a:gdLst/>
              <a:ahLst/>
              <a:cxnLst/>
              <a:rect r="r" b="b" t="t" l="l"/>
              <a:pathLst>
                <a:path h="1221849" w="16220656">
                  <a:moveTo>
                    <a:pt x="0" y="0"/>
                  </a:moveTo>
                  <a:lnTo>
                    <a:pt x="16220656" y="0"/>
                  </a:lnTo>
                  <a:lnTo>
                    <a:pt x="16220656" y="1221849"/>
                  </a:lnTo>
                  <a:lnTo>
                    <a:pt x="0" y="1221849"/>
                  </a:lnTo>
                  <a:close/>
                </a:path>
              </a:pathLst>
            </a:custGeom>
            <a:blipFill>
              <a:blip r:embed="rId4">
                <a:alphaModFix amt="0"/>
              </a:blip>
              <a:stretch>
                <a:fillRect l="0" t="-208673" r="0" b="-208673"/>
              </a:stretch>
            </a:blipFill>
          </p:spPr>
        </p:sp>
        <p:sp>
          <p:nvSpPr>
            <p:cNvPr name="TextBox 15" id="15"/>
            <p:cNvSpPr txBox="true"/>
            <p:nvPr/>
          </p:nvSpPr>
          <p:spPr>
            <a:xfrm>
              <a:off x="0" y="-9525"/>
              <a:ext cx="16220656" cy="1231379"/>
            </a:xfrm>
            <a:prstGeom prst="rect">
              <a:avLst/>
            </a:prstGeom>
          </p:spPr>
          <p:txBody>
            <a:bodyPr anchor="ctr" rtlCol="false" tIns="0" lIns="0" bIns="0" rIns="0"/>
            <a:lstStyle/>
            <a:p>
              <a:pPr algn="ctr">
                <a:lnSpc>
                  <a:spcPts val="2878"/>
                </a:lnSpc>
              </a:pPr>
              <a:r>
                <a:rPr lang="en-US" sz="2400" b="true">
                  <a:solidFill>
                    <a:srgbClr val="0D0D0D"/>
                  </a:solidFill>
                  <a:latin typeface="Times New Roman Bold"/>
                  <a:ea typeface="Times New Roman Bold"/>
                  <a:cs typeface="Times New Roman Bold"/>
                  <a:sym typeface="Times New Roman Bold"/>
                </a:rPr>
                <a:t>RAPtwin : A Digital Twin Simulation Platform for Distributed Systems</a:t>
              </a:r>
            </a:p>
          </p:txBody>
        </p:sp>
      </p:grpSp>
      <p:grpSp>
        <p:nvGrpSpPr>
          <p:cNvPr name="Group 16" id="16"/>
          <p:cNvGrpSpPr/>
          <p:nvPr/>
        </p:nvGrpSpPr>
        <p:grpSpPr>
          <a:xfrm rot="0">
            <a:off x="13885174" y="9534525"/>
            <a:ext cx="2743200" cy="547688"/>
            <a:chOff x="0" y="0"/>
            <a:chExt cx="3657600" cy="730250"/>
          </a:xfrm>
        </p:grpSpPr>
        <p:sp>
          <p:nvSpPr>
            <p:cNvPr name="Freeform 17" id="17"/>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3">
                <a:alphaModFix amt="0"/>
              </a:blip>
              <a:stretch>
                <a:fillRect l="0" t="-47526" r="0" b="-47526"/>
              </a:stretch>
            </a:blipFill>
          </p:spPr>
        </p:sp>
      </p:grpSp>
      <p:grpSp>
        <p:nvGrpSpPr>
          <p:cNvPr name="Group 18" id="18"/>
          <p:cNvGrpSpPr/>
          <p:nvPr/>
        </p:nvGrpSpPr>
        <p:grpSpPr>
          <a:xfrm rot="0">
            <a:off x="13885174" y="9520238"/>
            <a:ext cx="2743200" cy="561976"/>
            <a:chOff x="0" y="0"/>
            <a:chExt cx="3657600" cy="749301"/>
          </a:xfrm>
        </p:grpSpPr>
        <p:sp>
          <p:nvSpPr>
            <p:cNvPr name="Freeform 19" id="19"/>
            <p:cNvSpPr/>
            <p:nvPr/>
          </p:nvSpPr>
          <p:spPr>
            <a:xfrm flipH="false" flipV="false" rot="0">
              <a:off x="0" y="0"/>
              <a:ext cx="3657600" cy="749301"/>
            </a:xfrm>
            <a:custGeom>
              <a:avLst/>
              <a:gdLst/>
              <a:ahLst/>
              <a:cxnLst/>
              <a:rect r="r" b="b" t="t" l="l"/>
              <a:pathLst>
                <a:path h="749301" w="3657600">
                  <a:moveTo>
                    <a:pt x="0" y="0"/>
                  </a:moveTo>
                  <a:lnTo>
                    <a:pt x="3657600" y="0"/>
                  </a:lnTo>
                  <a:lnTo>
                    <a:pt x="3657600" y="749301"/>
                  </a:lnTo>
                  <a:lnTo>
                    <a:pt x="0" y="749301"/>
                  </a:lnTo>
                  <a:close/>
                </a:path>
              </a:pathLst>
            </a:custGeom>
            <a:blipFill>
              <a:blip r:embed="rId4">
                <a:alphaModFix amt="0"/>
              </a:blip>
              <a:stretch>
                <a:fillRect l="0" t="-45113" r="0" b="-45113"/>
              </a:stretch>
            </a:blipFill>
          </p:spPr>
        </p:sp>
        <p:sp>
          <p:nvSpPr>
            <p:cNvPr name="TextBox 20" id="20"/>
            <p:cNvSpPr txBox="true"/>
            <p:nvPr/>
          </p:nvSpPr>
          <p:spPr>
            <a:xfrm>
              <a:off x="0" y="-19050"/>
              <a:ext cx="3657600" cy="768351"/>
            </a:xfrm>
            <a:prstGeom prst="rect">
              <a:avLst/>
            </a:prstGeom>
          </p:spPr>
          <p:txBody>
            <a:bodyPr anchor="ctr" rtlCol="false" tIns="0" lIns="0" bIns="0" rIns="0"/>
            <a:lstStyle/>
            <a:p>
              <a:pPr algn="r">
                <a:lnSpc>
                  <a:spcPts val="2160"/>
                </a:lnSpc>
              </a:pPr>
              <a:r>
                <a:rPr lang="en-US" sz="1800">
                  <a:solidFill>
                    <a:srgbClr val="3C3632"/>
                  </a:solidFill>
                  <a:latin typeface="Times New Roman"/>
                  <a:ea typeface="Times New Roman"/>
                  <a:cs typeface="Times New Roman"/>
                  <a:sym typeface="Times New Roman"/>
                </a:rPr>
                <a:t>25</a:t>
              </a:r>
            </a:p>
          </p:txBody>
        </p:sp>
      </p:grpSp>
      <p:sp>
        <p:nvSpPr>
          <p:cNvPr name="TextBox 21" id="21"/>
          <p:cNvSpPr txBox="true"/>
          <p:nvPr/>
        </p:nvSpPr>
        <p:spPr>
          <a:xfrm rot="0">
            <a:off x="1645606" y="1831915"/>
            <a:ext cx="15034612" cy="6910654"/>
          </a:xfrm>
          <a:prstGeom prst="rect">
            <a:avLst/>
          </a:prstGeom>
        </p:spPr>
        <p:txBody>
          <a:bodyPr anchor="t" rtlCol="false" tIns="0" lIns="0" bIns="0" rIns="0">
            <a:spAutoFit/>
          </a:bodyPr>
          <a:lstStyle/>
          <a:p>
            <a:pPr algn="just" marL="554831" indent="-184944" lvl="2">
              <a:lnSpc>
                <a:spcPts val="3397"/>
              </a:lnSpc>
              <a:buAutoNum type="arabicPeriod" startAt="1"/>
            </a:pPr>
            <a:r>
              <a:rPr lang="en-US" sz="2427">
                <a:solidFill>
                  <a:srgbClr val="000000"/>
                </a:solidFill>
                <a:latin typeface="Times New Roman"/>
                <a:ea typeface="Times New Roman"/>
                <a:cs typeface="Times New Roman"/>
                <a:sym typeface="Times New Roman"/>
              </a:rPr>
              <a:t>C. Xu et al., "Digital Twin-Driven Collaborative Scheduling for Heterogeneous Task and Edge-End Resource via Multi-Agent Deep Reinforcement Learning," IEEE Journal on Selected Areas in Communications, 2023.</a:t>
            </a:r>
          </a:p>
          <a:p>
            <a:pPr algn="just" marL="554831" indent="-184944" lvl="2">
              <a:lnSpc>
                <a:spcPts val="3397"/>
              </a:lnSpc>
              <a:buAutoNum type="arabicPeriod" startAt="1"/>
            </a:pPr>
            <a:r>
              <a:rPr lang="en-US" sz="2427">
                <a:solidFill>
                  <a:srgbClr val="000000"/>
                </a:solidFill>
                <a:latin typeface="Times New Roman"/>
                <a:ea typeface="Times New Roman"/>
                <a:cs typeface="Times New Roman"/>
                <a:sym typeface="Times New Roman"/>
              </a:rPr>
              <a:t>S. Mihai et al., "Digital Twins: A Survey on Enabling Technologies, Challenges, Trends and Future Prospects," IEEE Communications Surveys &amp; Tutorials, vol. 24, no. 4, pp. 2255–2291, 2022.</a:t>
            </a:r>
          </a:p>
          <a:p>
            <a:pPr algn="just" marL="554831" indent="-184944" lvl="2">
              <a:lnSpc>
                <a:spcPts val="3397"/>
              </a:lnSpc>
              <a:buAutoNum type="arabicPeriod" startAt="1"/>
            </a:pPr>
            <a:r>
              <a:rPr lang="en-US" sz="2427">
                <a:solidFill>
                  <a:srgbClr val="000000"/>
                </a:solidFill>
                <a:latin typeface="Times New Roman"/>
                <a:ea typeface="Times New Roman"/>
                <a:cs typeface="Times New Roman"/>
                <a:sym typeface="Times New Roman"/>
              </a:rPr>
              <a:t>E. Esen et al., "Chaos Experiments in Microservice Architectures: A Systematic Literature Review," Computer Standards &amp; Interfaces, Elsevier, 2026.</a:t>
            </a:r>
          </a:p>
          <a:p>
            <a:pPr algn="just" marL="554831" indent="-184944" lvl="2">
              <a:lnSpc>
                <a:spcPts val="3397"/>
              </a:lnSpc>
              <a:buAutoNum type="arabicPeriod" startAt="1"/>
            </a:pPr>
            <a:r>
              <a:rPr lang="en-US" sz="2427">
                <a:solidFill>
                  <a:srgbClr val="000000"/>
                </a:solidFill>
                <a:latin typeface="Times New Roman"/>
                <a:ea typeface="Times New Roman"/>
                <a:cs typeface="Times New Roman"/>
                <a:sym typeface="Times New Roman"/>
              </a:rPr>
              <a:t>H. Tran-Dang and D.-S. Kim, "Digital Twin-Empowered Intelligent Computation Offloading for Edge Computing in the Era of 5G and Beyond: A State-of-the-Art Survey," ICT Express, Elsevier, 2025.</a:t>
            </a:r>
          </a:p>
          <a:p>
            <a:pPr algn="just" marL="554831" indent="-184944" lvl="2">
              <a:lnSpc>
                <a:spcPts val="3397"/>
              </a:lnSpc>
              <a:buAutoNum type="arabicPeriod" startAt="1"/>
            </a:pPr>
            <a:r>
              <a:rPr lang="en-US" sz="2427">
                <a:solidFill>
                  <a:srgbClr val="000000"/>
                </a:solidFill>
                <a:latin typeface="Times New Roman"/>
                <a:ea typeface="Times New Roman"/>
                <a:cs typeface="Times New Roman"/>
                <a:sym typeface="Times New Roman"/>
              </a:rPr>
              <a:t>A. Fuller et al., "Digital Twin: Enabling Technologies, Challenges and Open Research," IEEE Access, vol. 8, pp. 108952–108971, 2020.</a:t>
            </a:r>
          </a:p>
          <a:p>
            <a:pPr algn="just" marL="554831" indent="-184944" lvl="2">
              <a:lnSpc>
                <a:spcPts val="3397"/>
              </a:lnSpc>
              <a:buAutoNum type="arabicPeriod" startAt="1"/>
            </a:pPr>
            <a:r>
              <a:rPr lang="en-US" sz="2427">
                <a:solidFill>
                  <a:srgbClr val="000000"/>
                </a:solidFill>
                <a:latin typeface="Times New Roman"/>
                <a:ea typeface="Times New Roman"/>
                <a:cs typeface="Times New Roman"/>
                <a:sym typeface="Times New Roman"/>
              </a:rPr>
              <a:t>A. Hakiri et al., "A Comprehensive Survey on Digital Twin for Future Networks and Emerging Internet of Things Industry," Computer Networks, Elsevier, 2024.</a:t>
            </a:r>
          </a:p>
          <a:p>
            <a:pPr algn="just" marL="554831" indent="-184944" lvl="2">
              <a:lnSpc>
                <a:spcPts val="3397"/>
              </a:lnSpc>
              <a:buAutoNum type="arabicPeriod" startAt="1"/>
            </a:pPr>
            <a:r>
              <a:rPr lang="en-US" sz="2427">
                <a:solidFill>
                  <a:srgbClr val="000000"/>
                </a:solidFill>
                <a:latin typeface="Times New Roman"/>
                <a:ea typeface="Times New Roman"/>
                <a:cs typeface="Times New Roman"/>
                <a:sym typeface="Times New Roman"/>
              </a:rPr>
              <a:t>Y. Dai et al., "Federated Deep Reinforcement Learning for Task Offloading in Digital Twin Edge Networks," IEEE Transactions on Network Science and Engineering, 2024.</a:t>
            </a:r>
          </a:p>
          <a:p>
            <a:pPr algn="just" marL="554831" indent="-184944" lvl="2">
              <a:lnSpc>
                <a:spcPts val="3397"/>
              </a:lnSpc>
              <a:buAutoNum type="arabicPeriod" startAt="1"/>
            </a:pPr>
            <a:r>
              <a:rPr lang="en-US" sz="2427">
                <a:solidFill>
                  <a:srgbClr val="000000"/>
                </a:solidFill>
                <a:latin typeface="Times New Roman"/>
                <a:ea typeface="Times New Roman"/>
                <a:cs typeface="Times New Roman"/>
                <a:sym typeface="Times New Roman"/>
              </a:rPr>
              <a:t>RAP twin Core Architecture, "RAP twin: Distributed Fabric Simulation and Planning Sandbox Repository &amp; Technical Specification," System Documentation and Analysis, 2026.</a:t>
            </a:r>
          </a:p>
        </p:txBody>
      </p:sp>
      <p:grpSp>
        <p:nvGrpSpPr>
          <p:cNvPr name="Group 22" id="22"/>
          <p:cNvGrpSpPr/>
          <p:nvPr/>
        </p:nvGrpSpPr>
        <p:grpSpPr>
          <a:xfrm rot="0">
            <a:off x="1237726" y="9611135"/>
            <a:ext cx="3163948" cy="547649"/>
            <a:chOff x="0" y="0"/>
            <a:chExt cx="4218597" cy="730199"/>
          </a:xfrm>
        </p:grpSpPr>
        <p:sp>
          <p:nvSpPr>
            <p:cNvPr name="Freeform 23" id="23"/>
            <p:cNvSpPr/>
            <p:nvPr/>
          </p:nvSpPr>
          <p:spPr>
            <a:xfrm flipH="false" flipV="false" rot="0">
              <a:off x="0" y="0"/>
              <a:ext cx="4218559" cy="730250"/>
            </a:xfrm>
            <a:custGeom>
              <a:avLst/>
              <a:gdLst/>
              <a:ahLst/>
              <a:cxnLst/>
              <a:rect r="r" b="b" t="t" l="l"/>
              <a:pathLst>
                <a:path h="730250" w="4218559">
                  <a:moveTo>
                    <a:pt x="0" y="0"/>
                  </a:moveTo>
                  <a:lnTo>
                    <a:pt x="4218559" y="0"/>
                  </a:lnTo>
                  <a:lnTo>
                    <a:pt x="4218559" y="730250"/>
                  </a:lnTo>
                  <a:lnTo>
                    <a:pt x="0" y="730250"/>
                  </a:lnTo>
                  <a:close/>
                </a:path>
              </a:pathLst>
            </a:custGeom>
            <a:blipFill>
              <a:blip r:embed="rId3">
                <a:alphaModFix amt="0"/>
              </a:blip>
              <a:stretch>
                <a:fillRect l="0" t="-62488" r="0" b="-62481"/>
              </a:stretch>
            </a:blipFill>
          </p:spPr>
        </p:sp>
      </p:grpSp>
      <p:grpSp>
        <p:nvGrpSpPr>
          <p:cNvPr name="Group 24" id="24"/>
          <p:cNvGrpSpPr/>
          <p:nvPr/>
        </p:nvGrpSpPr>
        <p:grpSpPr>
          <a:xfrm rot="0">
            <a:off x="1237726" y="9596847"/>
            <a:ext cx="3163948" cy="561937"/>
            <a:chOff x="0" y="0"/>
            <a:chExt cx="4218597" cy="749250"/>
          </a:xfrm>
        </p:grpSpPr>
        <p:sp>
          <p:nvSpPr>
            <p:cNvPr name="Freeform 25" id="25"/>
            <p:cNvSpPr/>
            <p:nvPr/>
          </p:nvSpPr>
          <p:spPr>
            <a:xfrm flipH="false" flipV="false" rot="0">
              <a:off x="0" y="0"/>
              <a:ext cx="4218597" cy="749251"/>
            </a:xfrm>
            <a:custGeom>
              <a:avLst/>
              <a:gdLst/>
              <a:ahLst/>
              <a:cxnLst/>
              <a:rect r="r" b="b" t="t" l="l"/>
              <a:pathLst>
                <a:path h="749251" w="4218597">
                  <a:moveTo>
                    <a:pt x="0" y="0"/>
                  </a:moveTo>
                  <a:lnTo>
                    <a:pt x="4218597" y="0"/>
                  </a:lnTo>
                  <a:lnTo>
                    <a:pt x="4218597" y="749251"/>
                  </a:lnTo>
                  <a:lnTo>
                    <a:pt x="0" y="749251"/>
                  </a:lnTo>
                  <a:close/>
                </a:path>
              </a:pathLst>
            </a:custGeom>
            <a:blipFill>
              <a:blip r:embed="rId4">
                <a:alphaModFix amt="0"/>
              </a:blip>
              <a:stretch>
                <a:fillRect l="0" t="-59709" r="0" b="-59708"/>
              </a:stretch>
            </a:blipFill>
          </p:spPr>
        </p:sp>
        <p:sp>
          <p:nvSpPr>
            <p:cNvPr name="TextBox 26" id="26"/>
            <p:cNvSpPr txBox="true"/>
            <p:nvPr/>
          </p:nvSpPr>
          <p:spPr>
            <a:xfrm>
              <a:off x="0" y="-19050"/>
              <a:ext cx="4218597" cy="768300"/>
            </a:xfrm>
            <a:prstGeom prst="rect">
              <a:avLst/>
            </a:prstGeom>
          </p:spPr>
          <p:txBody>
            <a:bodyPr anchor="ctr" rtlCol="false" tIns="0" lIns="0" bIns="0" rIns="0"/>
            <a:lstStyle/>
            <a:p>
              <a:pPr algn="l">
                <a:lnSpc>
                  <a:spcPts val="2160"/>
                </a:lnSpc>
              </a:pPr>
              <a:r>
                <a:rPr lang="en-US" sz="1800">
                  <a:solidFill>
                    <a:srgbClr val="3C3632"/>
                  </a:solidFill>
                  <a:latin typeface="Times New Roman"/>
                  <a:ea typeface="Times New Roman"/>
                  <a:cs typeface="Times New Roman"/>
                  <a:sym typeface="Times New Roman"/>
                </a:rPr>
                <a:t>18</a:t>
              </a:r>
              <a:r>
                <a:rPr lang="en-US" sz="1800">
                  <a:solidFill>
                    <a:srgbClr val="3C3632"/>
                  </a:solidFill>
                  <a:latin typeface="Times New Roman"/>
                  <a:ea typeface="Times New Roman"/>
                  <a:cs typeface="Times New Roman"/>
                  <a:sym typeface="Times New Roman"/>
                </a:rPr>
                <a:t>/09/2026</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FF3"/>
        </a:solidFill>
      </p:bgPr>
    </p:bg>
    <p:spTree>
      <p:nvGrpSpPr>
        <p:cNvPr id="1" name=""/>
        <p:cNvGrpSpPr/>
        <p:nvPr/>
      </p:nvGrpSpPr>
      <p:grpSpPr>
        <a:xfrm>
          <a:off x="0" y="0"/>
          <a:ext cx="0" cy="0"/>
          <a:chOff x="0" y="0"/>
          <a:chExt cx="0" cy="0"/>
        </a:xfrm>
      </p:grpSpPr>
      <p:sp>
        <p:nvSpPr>
          <p:cNvPr name="AutoShape 2" id="2"/>
          <p:cNvSpPr/>
          <p:nvPr/>
        </p:nvSpPr>
        <p:spPr>
          <a:xfrm rot="6540">
            <a:off x="1612306" y="1804988"/>
            <a:ext cx="15063406" cy="0"/>
          </a:xfrm>
          <a:prstGeom prst="line">
            <a:avLst/>
          </a:prstGeom>
          <a:ln cap="rnd" w="19050">
            <a:solidFill>
              <a:srgbClr val="514843"/>
            </a:solidFill>
            <a:prstDash val="solid"/>
            <a:headEnd type="none" len="sm" w="sm"/>
            <a:tailEnd type="none" len="sm" w="sm"/>
          </a:ln>
        </p:spPr>
      </p:sp>
      <p:sp>
        <p:nvSpPr>
          <p:cNvPr name="AutoShape 3" id="3"/>
          <p:cNvSpPr/>
          <p:nvPr/>
        </p:nvSpPr>
        <p:spPr>
          <a:xfrm rot="2160">
            <a:off x="1640834" y="1945881"/>
            <a:ext cx="15006333" cy="0"/>
          </a:xfrm>
          <a:prstGeom prst="line">
            <a:avLst/>
          </a:prstGeom>
          <a:ln cap="rnd" w="9525">
            <a:solidFill>
              <a:srgbClr val="514843"/>
            </a:solidFill>
            <a:prstDash val="solid"/>
            <a:headEnd type="none" len="sm" w="sm"/>
            <a:tailEnd type="none" len="sm" w="sm"/>
          </a:ln>
        </p:spPr>
      </p:sp>
      <p:grpSp>
        <p:nvGrpSpPr>
          <p:cNvPr name="Group 4" id="4"/>
          <p:cNvGrpSpPr/>
          <p:nvPr/>
        </p:nvGrpSpPr>
        <p:grpSpPr>
          <a:xfrm rot="0">
            <a:off x="0" y="0"/>
            <a:ext cx="18288000" cy="1619822"/>
            <a:chOff x="0" y="0"/>
            <a:chExt cx="24384000" cy="2159762"/>
          </a:xfrm>
        </p:grpSpPr>
        <p:sp>
          <p:nvSpPr>
            <p:cNvPr name="Freeform 5" id="5"/>
            <p:cNvSpPr/>
            <p:nvPr/>
          </p:nvSpPr>
          <p:spPr>
            <a:xfrm flipH="false" flipV="false" rot="0">
              <a:off x="0" y="0"/>
              <a:ext cx="24384000" cy="2159762"/>
            </a:xfrm>
            <a:custGeom>
              <a:avLst/>
              <a:gdLst/>
              <a:ahLst/>
              <a:cxnLst/>
              <a:rect r="r" b="b" t="t" l="l"/>
              <a:pathLst>
                <a:path h="2159762" w="24384000">
                  <a:moveTo>
                    <a:pt x="0" y="0"/>
                  </a:moveTo>
                  <a:lnTo>
                    <a:pt x="24384000" y="0"/>
                  </a:lnTo>
                  <a:lnTo>
                    <a:pt x="24384000" y="2159762"/>
                  </a:lnTo>
                  <a:lnTo>
                    <a:pt x="0" y="2159762"/>
                  </a:lnTo>
                  <a:close/>
                </a:path>
              </a:pathLst>
            </a:custGeom>
            <a:solidFill>
              <a:srgbClr val="514843"/>
            </a:solidFill>
          </p:spPr>
        </p:sp>
      </p:grpSp>
      <p:grpSp>
        <p:nvGrpSpPr>
          <p:cNvPr name="Group 6" id="6"/>
          <p:cNvGrpSpPr/>
          <p:nvPr/>
        </p:nvGrpSpPr>
        <p:grpSpPr>
          <a:xfrm rot="0">
            <a:off x="1986667" y="0"/>
            <a:ext cx="2621280" cy="3438144"/>
            <a:chOff x="0" y="0"/>
            <a:chExt cx="3495040" cy="4584192"/>
          </a:xfrm>
        </p:grpSpPr>
        <p:sp>
          <p:nvSpPr>
            <p:cNvPr name="Freeform 7" id="7"/>
            <p:cNvSpPr/>
            <p:nvPr/>
          </p:nvSpPr>
          <p:spPr>
            <a:xfrm flipH="false" flipV="false" rot="0">
              <a:off x="0" y="0"/>
              <a:ext cx="3495040" cy="4584192"/>
            </a:xfrm>
            <a:custGeom>
              <a:avLst/>
              <a:gdLst/>
              <a:ahLst/>
              <a:cxnLst/>
              <a:rect r="r" b="b" t="t" l="l"/>
              <a:pathLst>
                <a:path h="4584192" w="3495040">
                  <a:moveTo>
                    <a:pt x="0" y="0"/>
                  </a:moveTo>
                  <a:lnTo>
                    <a:pt x="3495040" y="0"/>
                  </a:lnTo>
                  <a:lnTo>
                    <a:pt x="3495040" y="4584192"/>
                  </a:lnTo>
                  <a:lnTo>
                    <a:pt x="0" y="4584192"/>
                  </a:lnTo>
                  <a:lnTo>
                    <a:pt x="0" y="0"/>
                  </a:lnTo>
                  <a:close/>
                </a:path>
              </a:pathLst>
            </a:custGeom>
            <a:blipFill>
              <a:blip r:embed="rId3"/>
              <a:stretch>
                <a:fillRect l="0" t="-36527" r="0" b="-36527"/>
              </a:stretch>
            </a:blipFill>
          </p:spPr>
        </p:sp>
      </p:grpSp>
      <p:grpSp>
        <p:nvGrpSpPr>
          <p:cNvPr name="Group 8" id="8"/>
          <p:cNvGrpSpPr/>
          <p:nvPr/>
        </p:nvGrpSpPr>
        <p:grpSpPr>
          <a:xfrm rot="0">
            <a:off x="0" y="8667188"/>
            <a:ext cx="18288000" cy="1619822"/>
            <a:chOff x="0" y="0"/>
            <a:chExt cx="24384000" cy="2159762"/>
          </a:xfrm>
        </p:grpSpPr>
        <p:sp>
          <p:nvSpPr>
            <p:cNvPr name="Freeform 9" id="9"/>
            <p:cNvSpPr/>
            <p:nvPr/>
          </p:nvSpPr>
          <p:spPr>
            <a:xfrm flipH="false" flipV="false" rot="0">
              <a:off x="0" y="0"/>
              <a:ext cx="24384000" cy="2159762"/>
            </a:xfrm>
            <a:custGeom>
              <a:avLst/>
              <a:gdLst/>
              <a:ahLst/>
              <a:cxnLst/>
              <a:rect r="r" b="b" t="t" l="l"/>
              <a:pathLst>
                <a:path h="2159762" w="24384000">
                  <a:moveTo>
                    <a:pt x="0" y="0"/>
                  </a:moveTo>
                  <a:lnTo>
                    <a:pt x="24384000" y="0"/>
                  </a:lnTo>
                  <a:lnTo>
                    <a:pt x="24384000" y="2159762"/>
                  </a:lnTo>
                  <a:lnTo>
                    <a:pt x="0" y="2159762"/>
                  </a:lnTo>
                  <a:close/>
                </a:path>
              </a:pathLst>
            </a:custGeom>
            <a:solidFill>
              <a:srgbClr val="514843"/>
            </a:solidFill>
          </p:spPr>
        </p:sp>
      </p:grpSp>
      <p:grpSp>
        <p:nvGrpSpPr>
          <p:cNvPr name="Group 10" id="10"/>
          <p:cNvGrpSpPr/>
          <p:nvPr/>
        </p:nvGrpSpPr>
        <p:grpSpPr>
          <a:xfrm rot="0">
            <a:off x="1657350" y="3438144"/>
            <a:ext cx="15144750" cy="3329530"/>
            <a:chOff x="0" y="0"/>
            <a:chExt cx="20193000" cy="4439374"/>
          </a:xfrm>
        </p:grpSpPr>
        <p:sp>
          <p:nvSpPr>
            <p:cNvPr name="Freeform 11" id="11"/>
            <p:cNvSpPr/>
            <p:nvPr/>
          </p:nvSpPr>
          <p:spPr>
            <a:xfrm flipH="false" flipV="false" rot="0">
              <a:off x="0" y="0"/>
              <a:ext cx="20193000" cy="4439412"/>
            </a:xfrm>
            <a:custGeom>
              <a:avLst/>
              <a:gdLst/>
              <a:ahLst/>
              <a:cxnLst/>
              <a:rect r="r" b="b" t="t" l="l"/>
              <a:pathLst>
                <a:path h="4439412" w="20193000">
                  <a:moveTo>
                    <a:pt x="0" y="0"/>
                  </a:moveTo>
                  <a:lnTo>
                    <a:pt x="20193000" y="0"/>
                  </a:lnTo>
                  <a:lnTo>
                    <a:pt x="20193000" y="4439412"/>
                  </a:lnTo>
                  <a:lnTo>
                    <a:pt x="0" y="4439412"/>
                  </a:lnTo>
                  <a:close/>
                </a:path>
              </a:pathLst>
            </a:custGeom>
            <a:blipFill>
              <a:blip r:embed="rId4">
                <a:alphaModFix amt="0"/>
              </a:blip>
              <a:stretch>
                <a:fillRect l="0" t="-38567" r="0" b="-38567"/>
              </a:stretch>
            </a:blipFill>
          </p:spPr>
        </p:sp>
      </p:grpSp>
      <p:grpSp>
        <p:nvGrpSpPr>
          <p:cNvPr name="Group 12" id="12"/>
          <p:cNvGrpSpPr/>
          <p:nvPr/>
        </p:nvGrpSpPr>
        <p:grpSpPr>
          <a:xfrm rot="0">
            <a:off x="1657350" y="3466719"/>
            <a:ext cx="15144750" cy="3300965"/>
            <a:chOff x="0" y="0"/>
            <a:chExt cx="20193000" cy="4401287"/>
          </a:xfrm>
        </p:grpSpPr>
        <p:sp>
          <p:nvSpPr>
            <p:cNvPr name="Freeform 13" id="13"/>
            <p:cNvSpPr/>
            <p:nvPr/>
          </p:nvSpPr>
          <p:spPr>
            <a:xfrm flipH="false" flipV="false" rot="0">
              <a:off x="0" y="0"/>
              <a:ext cx="20193000" cy="4401283"/>
            </a:xfrm>
            <a:custGeom>
              <a:avLst/>
              <a:gdLst/>
              <a:ahLst/>
              <a:cxnLst/>
              <a:rect r="r" b="b" t="t" l="l"/>
              <a:pathLst>
                <a:path h="4401283" w="20193000">
                  <a:moveTo>
                    <a:pt x="0" y="0"/>
                  </a:moveTo>
                  <a:lnTo>
                    <a:pt x="20193000" y="0"/>
                  </a:lnTo>
                  <a:lnTo>
                    <a:pt x="20193000" y="4401283"/>
                  </a:lnTo>
                  <a:lnTo>
                    <a:pt x="0" y="4401283"/>
                  </a:lnTo>
                  <a:close/>
                </a:path>
              </a:pathLst>
            </a:custGeom>
            <a:blipFill>
              <a:blip r:embed="rId5">
                <a:alphaModFix amt="0"/>
              </a:blip>
              <a:stretch>
                <a:fillRect l="0" t="-39396" r="0" b="-39397"/>
              </a:stretch>
            </a:blipFill>
          </p:spPr>
        </p:sp>
        <p:sp>
          <p:nvSpPr>
            <p:cNvPr name="TextBox 14" id="14"/>
            <p:cNvSpPr txBox="true"/>
            <p:nvPr/>
          </p:nvSpPr>
          <p:spPr>
            <a:xfrm>
              <a:off x="0" y="38100"/>
              <a:ext cx="20193000" cy="4363187"/>
            </a:xfrm>
            <a:prstGeom prst="rect">
              <a:avLst/>
            </a:prstGeom>
          </p:spPr>
          <p:txBody>
            <a:bodyPr anchor="ctr" rtlCol="false" tIns="0" lIns="0" bIns="0" rIns="0"/>
            <a:lstStyle/>
            <a:p>
              <a:pPr algn="l">
                <a:lnSpc>
                  <a:spcPts val="7128"/>
                </a:lnSpc>
              </a:pPr>
              <a:r>
                <a:rPr lang="en-US" sz="6600">
                  <a:solidFill>
                    <a:srgbClr val="514843"/>
                  </a:solidFill>
                  <a:latin typeface="Times New Roman"/>
                  <a:ea typeface="Times New Roman"/>
                  <a:cs typeface="Times New Roman"/>
                  <a:sym typeface="Times New Roman"/>
                </a:rPr>
                <a:t>THANK YOU !!</a:t>
              </a:r>
            </a:p>
          </p:txBody>
        </p:sp>
      </p:grpSp>
      <p:grpSp>
        <p:nvGrpSpPr>
          <p:cNvPr name="Group 15" id="15"/>
          <p:cNvGrpSpPr/>
          <p:nvPr/>
        </p:nvGrpSpPr>
        <p:grpSpPr>
          <a:xfrm rot="0">
            <a:off x="14537446" y="2028796"/>
            <a:ext cx="3342894" cy="2791396"/>
            <a:chOff x="0" y="0"/>
            <a:chExt cx="4457192" cy="3721862"/>
          </a:xfrm>
        </p:grpSpPr>
        <p:sp>
          <p:nvSpPr>
            <p:cNvPr name="Freeform 16" id="16"/>
            <p:cNvSpPr/>
            <p:nvPr/>
          </p:nvSpPr>
          <p:spPr>
            <a:xfrm flipH="false" flipV="false" rot="0">
              <a:off x="0" y="0"/>
              <a:ext cx="4457192" cy="3721862"/>
            </a:xfrm>
            <a:custGeom>
              <a:avLst/>
              <a:gdLst/>
              <a:ahLst/>
              <a:cxnLst/>
              <a:rect r="r" b="b" t="t" l="l"/>
              <a:pathLst>
                <a:path h="3721862" w="4457192">
                  <a:moveTo>
                    <a:pt x="0" y="0"/>
                  </a:moveTo>
                  <a:lnTo>
                    <a:pt x="4457192" y="0"/>
                  </a:lnTo>
                  <a:lnTo>
                    <a:pt x="4457192" y="3721862"/>
                  </a:lnTo>
                  <a:lnTo>
                    <a:pt x="0" y="3721862"/>
                  </a:lnTo>
                  <a:lnTo>
                    <a:pt x="0" y="0"/>
                  </a:lnTo>
                  <a:close/>
                </a:path>
              </a:pathLst>
            </a:custGeom>
            <a:blipFill>
              <a:blip r:embed="rId6"/>
              <a:stretch>
                <a:fillRect l="0" t="0" r="0" b="0"/>
              </a:stretch>
            </a:blipFill>
          </p:spPr>
        </p:sp>
      </p:grpSp>
      <p:grpSp>
        <p:nvGrpSpPr>
          <p:cNvPr name="Group 17" id="17"/>
          <p:cNvGrpSpPr/>
          <p:nvPr/>
        </p:nvGrpSpPr>
        <p:grpSpPr>
          <a:xfrm rot="0">
            <a:off x="13885174" y="9534525"/>
            <a:ext cx="2743200" cy="547649"/>
            <a:chOff x="0" y="0"/>
            <a:chExt cx="3657600" cy="730199"/>
          </a:xfrm>
        </p:grpSpPr>
        <p:sp>
          <p:nvSpPr>
            <p:cNvPr name="Freeform 18" id="18"/>
            <p:cNvSpPr/>
            <p:nvPr/>
          </p:nvSpPr>
          <p:spPr>
            <a:xfrm flipH="false" flipV="false" rot="0">
              <a:off x="0" y="0"/>
              <a:ext cx="3657600" cy="730250"/>
            </a:xfrm>
            <a:custGeom>
              <a:avLst/>
              <a:gdLst/>
              <a:ahLst/>
              <a:cxnLst/>
              <a:rect r="r" b="b" t="t" l="l"/>
              <a:pathLst>
                <a:path h="730250" w="3657600">
                  <a:moveTo>
                    <a:pt x="0" y="0"/>
                  </a:moveTo>
                  <a:lnTo>
                    <a:pt x="3657600" y="0"/>
                  </a:lnTo>
                  <a:lnTo>
                    <a:pt x="3657600" y="730250"/>
                  </a:lnTo>
                  <a:lnTo>
                    <a:pt x="0" y="730250"/>
                  </a:lnTo>
                  <a:close/>
                </a:path>
              </a:pathLst>
            </a:custGeom>
            <a:blipFill>
              <a:blip r:embed="rId4">
                <a:alphaModFix amt="0"/>
              </a:blip>
              <a:stretch>
                <a:fillRect l="0" t="-47530" r="0" b="-47523"/>
              </a:stretch>
            </a:blipFill>
          </p:spPr>
        </p:sp>
      </p:grpSp>
      <p:grpSp>
        <p:nvGrpSpPr>
          <p:cNvPr name="Group 19" id="19"/>
          <p:cNvGrpSpPr/>
          <p:nvPr/>
        </p:nvGrpSpPr>
        <p:grpSpPr>
          <a:xfrm rot="0">
            <a:off x="13885174" y="9520238"/>
            <a:ext cx="2743200" cy="561938"/>
            <a:chOff x="0" y="0"/>
            <a:chExt cx="3657600" cy="749250"/>
          </a:xfrm>
        </p:grpSpPr>
        <p:sp>
          <p:nvSpPr>
            <p:cNvPr name="Freeform 20" id="20"/>
            <p:cNvSpPr/>
            <p:nvPr/>
          </p:nvSpPr>
          <p:spPr>
            <a:xfrm flipH="false" flipV="false" rot="0">
              <a:off x="0" y="0"/>
              <a:ext cx="3657600" cy="749251"/>
            </a:xfrm>
            <a:custGeom>
              <a:avLst/>
              <a:gdLst/>
              <a:ahLst/>
              <a:cxnLst/>
              <a:rect r="r" b="b" t="t" l="l"/>
              <a:pathLst>
                <a:path h="749251" w="3657600">
                  <a:moveTo>
                    <a:pt x="0" y="0"/>
                  </a:moveTo>
                  <a:lnTo>
                    <a:pt x="3657600" y="0"/>
                  </a:lnTo>
                  <a:lnTo>
                    <a:pt x="3657600" y="749251"/>
                  </a:lnTo>
                  <a:lnTo>
                    <a:pt x="0" y="749251"/>
                  </a:lnTo>
                  <a:close/>
                </a:path>
              </a:pathLst>
            </a:custGeom>
            <a:blipFill>
              <a:blip r:embed="rId5">
                <a:alphaModFix amt="0"/>
              </a:blip>
              <a:stretch>
                <a:fillRect l="0" t="-45119" r="0" b="-45119"/>
              </a:stretch>
            </a:blipFill>
          </p:spPr>
        </p:sp>
        <p:sp>
          <p:nvSpPr>
            <p:cNvPr name="TextBox 21" id="21"/>
            <p:cNvSpPr txBox="true"/>
            <p:nvPr/>
          </p:nvSpPr>
          <p:spPr>
            <a:xfrm>
              <a:off x="0" y="-19050"/>
              <a:ext cx="3657600" cy="768300"/>
            </a:xfrm>
            <a:prstGeom prst="rect">
              <a:avLst/>
            </a:prstGeom>
          </p:spPr>
          <p:txBody>
            <a:bodyPr anchor="ctr" rtlCol="false" tIns="0" lIns="0" bIns="0" rIns="0"/>
            <a:lstStyle/>
            <a:p>
              <a:pPr algn="r">
                <a:lnSpc>
                  <a:spcPts val="2160"/>
                </a:lnSpc>
              </a:pPr>
              <a:r>
                <a:rPr lang="en-US" sz="1800">
                  <a:solidFill>
                    <a:srgbClr val="DED9D6"/>
                  </a:solidFill>
                  <a:latin typeface="Times New Roman"/>
                  <a:ea typeface="Times New Roman"/>
                  <a:cs typeface="Times New Roman"/>
                  <a:sym typeface="Times New Roman"/>
                </a:rPr>
                <a:t>26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DAHVQX7bUVE</dc:identifier>
  <dcterms:modified xsi:type="dcterms:W3CDTF">2011-08-01T06:04:30Z</dcterms:modified>
  <cp:revision>1</cp:revision>
  <dc:title>RAPtwin v2.0</dc:title>
</cp:coreProperties>
</file>