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bdfe144d-9738-1a06-2a69-500df73f1cf0}">
          <p14:sldIdLst>
            <p14:sldId id="256"/>
            <p14:sldId id="257"/>
          </p14:sldIdLst>
        </p14:section>
        <p14:section name="How it works" id="{929207da-69e6-a6ab-6c20-b8bb2290d447}">
          <p14:sldIdLst>
            <p14:sldId id="258"/>
            <p14:sldId id="259"/>
            <p14:sldId id="260"/>
            <p14:sldId id="261"/>
            <p14:sldId id="262"/>
            <p14:sldId id="263"/>
            <p14:sldId id="264"/>
          </p14:sldIdLst>
        </p14:section>
        <p14:section name="Evidence" id="{6a053fd6-9433-bfbd-7501-3034647eba5e}">
          <p14:sldIdLst>
            <p14:sldId id="265"/>
            <p14:sldId id="266"/>
            <p14:sldId id="267"/>
          </p14:sldIdLst>
        </p14:section>
        <p14:section name="Next" id="{4facdcd3-a6a4-4a94-ea8d-2ef97b0bdcdd}">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Mean job completion time (s) vs concurrent jobs</a:t>
            </a:r>
          </a:p>
        </c:rich>
      </c:tx>
      <c:layout/>
      <c:overlay val="0"/>
    </c:title>
    <c:autoTitleDeleted val="0"/>
    <c:plotArea>
      <c:layout/>
      <c:lineChart>
        <c:varyColors val="0"/>
        <c:ser>
          <c:idx val="0"/>
          <c:order val="0"/>
          <c:tx>
            <c:strRef>
              <c:f>Sheet1!$B$1</c:f>
              <c:strCache>
                <c:ptCount val="1"/>
                <c:pt idx="0">
                  <c:v>Greedy / Cheapest-Energy</c:v>
                </c:pt>
              </c:strCache>
            </c:strRef>
          </c:tx>
          <c:spPr>
            <a:solidFill>
              <a:srgbClr val="6B7685"/>
            </a:solidFill>
            <a:ln w="38100" cap="flat">
              <a:solidFill>
                <a:srgbClr val="6B768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6B7685"/>
              </a:solidFill>
              <a:ln w="9525" cap="flat">
                <a:solidFill>
                  <a:srgbClr val="6B7685"/>
                </a:solidFill>
                <a:prstDash val="solid"/>
                <a:round/>
              </a:ln>
              <a:effectLst/>
            </c:spPr>
          </c:marker>
          <c:cat>
            <c:multiLvlStrRef>
              <c:f>Sheet1!$A$2:$A$6</c:f>
              <c:multiLvlStrCache>
                <c:ptCount val="5"/>
                <c:lvl>
                  <c:pt idx="0">
                    <c:v>2</c:v>
                  </c:pt>
                  <c:pt idx="1">
                    <c:v>4</c:v>
                  </c:pt>
                  <c:pt idx="2">
                    <c:v>6</c:v>
                  </c:pt>
                  <c:pt idx="3">
                    <c:v>8</c:v>
                  </c:pt>
                  <c:pt idx="4">
                    <c:v>10</c:v>
                  </c:pt>
                </c:lvl>
              </c:multiLvlStrCache>
            </c:multiLvlStrRef>
          </c:cat>
          <c:val>
            <c:numRef>
              <c:f>Sheet1!$B$2:$B$6</c:f>
              <c:numCache>
                <c:formatCode>General</c:formatCode>
                <c:ptCount val="5"/>
                <c:pt idx="0">
                  <c:v>1.099</c:v>
                </c:pt>
                <c:pt idx="1">
                  <c:v>1.03</c:v>
                </c:pt>
                <c:pt idx="2">
                  <c:v>1.05</c:v>
                </c:pt>
                <c:pt idx="3">
                  <c:v>1.023</c:v>
                </c:pt>
                <c:pt idx="4">
                  <c:v>1.045</c:v>
                </c:pt>
              </c:numCache>
            </c:numRef>
          </c:val>
          <c:smooth val="0"/>
        </c:ser>
        <c:ser>
          <c:idx val="1"/>
          <c:order val="1"/>
          <c:tx>
            <c:strRef>
              <c:f>Sheet1!$C$1</c:f>
              <c:strCache>
                <c:ptCount val="1"/>
                <c:pt idx="0">
                  <c:v>RL-Markov</c:v>
                </c:pt>
              </c:strCache>
            </c:strRef>
          </c:tx>
          <c:spPr>
            <a:solidFill>
              <a:srgbClr val="2E6FB5"/>
            </a:solidFill>
            <a:ln w="38100" cap="flat">
              <a:solidFill>
                <a:srgbClr val="2E6FB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2E6FB5"/>
              </a:solidFill>
              <a:ln w="9525" cap="flat">
                <a:solidFill>
                  <a:srgbClr val="2E6FB5"/>
                </a:solidFill>
                <a:prstDash val="solid"/>
                <a:round/>
              </a:ln>
              <a:effectLst/>
            </c:spPr>
          </c:marker>
          <c:cat>
            <c:multiLvlStrRef>
              <c:f>Sheet1!$A$2:$A$6</c:f>
              <c:multiLvlStrCache>
                <c:ptCount val="5"/>
                <c:lvl>
                  <c:pt idx="0">
                    <c:v>2</c:v>
                  </c:pt>
                  <c:pt idx="1">
                    <c:v>4</c:v>
                  </c:pt>
                  <c:pt idx="2">
                    <c:v>6</c:v>
                  </c:pt>
                  <c:pt idx="3">
                    <c:v>8</c:v>
                  </c:pt>
                  <c:pt idx="4">
                    <c:v>10</c:v>
                  </c:pt>
                </c:lvl>
              </c:multiLvlStrCache>
            </c:multiLvlStrRef>
          </c:cat>
          <c:val>
            <c:numRef>
              <c:f>Sheet1!$C$2:$C$6</c:f>
              <c:numCache>
                <c:formatCode>General</c:formatCode>
                <c:ptCount val="5"/>
                <c:pt idx="0">
                  <c:v>1.184</c:v>
                </c:pt>
                <c:pt idx="1">
                  <c:v>1.124</c:v>
                </c:pt>
                <c:pt idx="2">
                  <c:v>1.135</c:v>
                </c:pt>
                <c:pt idx="3">
                  <c:v>1.103</c:v>
                </c:pt>
                <c:pt idx="4">
                  <c:v>1.136</c:v>
                </c:pt>
              </c:numCache>
            </c:numRef>
          </c:val>
          <c:smooth val="0"/>
        </c:ser>
        <c:ser>
          <c:idx val="2"/>
          <c:order val="2"/>
          <c:tx>
            <c:strRef>
              <c:f>Sheet1!$D$1</c:f>
              <c:strCache>
                <c:ptCount val="1"/>
                <c:pt idx="0">
                  <c:v>Resilient</c:v>
                </c:pt>
              </c:strCache>
            </c:strRef>
          </c:tx>
          <c:spPr>
            <a:solidFill>
              <a:srgbClr val="D4820A"/>
            </a:solidFill>
            <a:ln w="38100" cap="flat">
              <a:solidFill>
                <a:srgbClr val="D4820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D4820A"/>
              </a:solidFill>
              <a:ln w="9525" cap="flat">
                <a:solidFill>
                  <a:srgbClr val="D4820A"/>
                </a:solidFill>
                <a:prstDash val="solid"/>
                <a:round/>
              </a:ln>
              <a:effectLst/>
            </c:spPr>
          </c:marker>
          <c:cat>
            <c:multiLvlStrRef>
              <c:f>Sheet1!$A$2:$A$6</c:f>
              <c:multiLvlStrCache>
                <c:ptCount val="5"/>
                <c:lvl>
                  <c:pt idx="0">
                    <c:v>2</c:v>
                  </c:pt>
                  <c:pt idx="1">
                    <c:v>4</c:v>
                  </c:pt>
                  <c:pt idx="2">
                    <c:v>6</c:v>
                  </c:pt>
                  <c:pt idx="3">
                    <c:v>8</c:v>
                  </c:pt>
                  <c:pt idx="4">
                    <c:v>10</c:v>
                  </c:pt>
                </c:lvl>
              </c:multiLvlStrCache>
            </c:multiLvlStrRef>
          </c:cat>
          <c:val>
            <c:numRef>
              <c:f>Sheet1!$D$2:$D$6</c:f>
              <c:numCache>
                <c:formatCode>General</c:formatCode>
                <c:ptCount val="5"/>
                <c:pt idx="0">
                  <c:v>1.351</c:v>
                </c:pt>
                <c:pt idx="1">
                  <c:v>1.251</c:v>
                </c:pt>
                <c:pt idx="2">
                  <c:v>1.267</c:v>
                </c:pt>
                <c:pt idx="3">
                  <c:v>1.23</c:v>
                </c:pt>
                <c:pt idx="4">
                  <c:v>1.249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685"/>
                    </a:solidFill>
                    <a:latin typeface="+mn-lt"/>
                  </a:defRPr>
                </a:pPr>
                <a:r>
                  <a:rPr sz="1200" b="0" i="0" u="none" strike="noStrike">
                    <a:solidFill>
                      <a:srgbClr val="6B7685"/>
                    </a:solidFill>
                    <a:latin typeface="+mn-lt"/>
                  </a:rPr>
                  <a:t>Concurrent jobs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5"/>
                </a:solidFill>
                <a:latin typeface="+mn-lt"/>
              </a:defRPr>
            </a:pPr>
            <a:endParaRPr lang="en-US"/>
          </a:p>
        </c:txPr>
        <c:crossAx val="2094734552"/>
        <c:crosses val="autoZero"/>
        <c:auto val="1"/>
        <c:lblAlgn val="ctr"/>
        <c:noMultiLvlLbl val="1"/>
      </c:catAx>
      <c:valAx>
        <c:axId val="2094734552"/>
        <c:scaling>
          <c:orientation val="minMax"/>
          <c:max val="1.4"/>
          <c:min val="0.9"/>
        </c:scaling>
        <c:delete val="0"/>
        <c:axPos val="l"/>
        <c:majorGridlines>
          <c:spPr>
            <a:ln w="9525" cap="flat">
              <a:solidFill>
                <a:srgbClr val="DDE3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8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SLA hit rate (%) by chaos scenario</a:t>
            </a:r>
          </a:p>
        </c:rich>
      </c:tx>
      <c:layout/>
      <c:overlay val="0"/>
    </c:title>
    <c:autoTitleDeleted val="0"/>
    <c:plotArea>
      <c:layout/>
      <c:barChart>
        <c:barDir val="col"/>
        <c:grouping val="clustered"/>
        <c:varyColors val="0"/>
        <c:ser>
          <c:idx val="0"/>
          <c:order val="0"/>
          <c:tx>
            <c:strRef>
              <c:f>Sheet1!$B$1</c:f>
              <c:strCache>
                <c:ptCount val="1"/>
                <c:pt idx="0">
                  <c:v>wifi_brownout</c:v>
                </c:pt>
              </c:strCache>
            </c:strRef>
          </c:tx>
          <c:spPr>
            <a:solidFill>
              <a:srgbClr val="2E6FB5"/>
            </a:solidFill>
            <a:effectLst/>
          </c:spPr>
          <c:invertIfNegative val="0"/>
          <c:dLbls>
            <c:numFmt formatCode="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Sheet1!$A$2:$A$5</c:f>
              <c:multiLvlStrCache>
                <c:ptCount val="4"/>
                <c:lvl>
                  <c:pt idx="0">
                    <c:v>Greedy</c:v>
                  </c:pt>
                  <c:pt idx="1">
                    <c:v>Cheapest-Energy</c:v>
                  </c:pt>
                  <c:pt idx="2">
                    <c:v>RL-Markov</c:v>
                  </c:pt>
                  <c:pt idx="3">
                    <c:v>Resilient</c:v>
                  </c:pt>
                </c:lvl>
              </c:multiLvlStrCache>
            </c:multiLvlStrRef>
          </c:cat>
          <c:val>
            <c:numRef>
              <c:f>Sheet1!$B$2:$B$5</c:f>
              <c:numCache>
                <c:formatCode>General</c:formatCode>
                <c:ptCount val="4"/>
                <c:pt idx="0">
                  <c:v>100</c:v>
                </c:pt>
                <c:pt idx="1">
                  <c:v>100</c:v>
                </c:pt>
                <c:pt idx="2">
                  <c:v>100</c:v>
                </c:pt>
                <c:pt idx="3">
                  <c:v>83.3</c:v>
                </c:pt>
              </c:numCache>
            </c:numRef>
          </c:val>
        </c:ser>
        <c:ser>
          <c:idx val="1"/>
          <c:order val="1"/>
          <c:tx>
            <c:strRef>
              <c:f>Sheet1!$C$1</c:f>
              <c:strCache>
                <c:ptCount val="1"/>
                <c:pt idx="0">
                  <c:v>core_link_cut</c:v>
                </c:pt>
              </c:strCache>
            </c:strRef>
          </c:tx>
          <c:spPr>
            <a:solidFill>
              <a:srgbClr val="D4820A"/>
            </a:solidFill>
            <a:effectLst/>
          </c:spPr>
          <c:invertIfNegative val="0"/>
          <c:dLbls>
            <c:numFmt formatCode="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Sheet1!$A$2:$A$5</c:f>
              <c:multiLvlStrCache>
                <c:ptCount val="4"/>
                <c:lvl>
                  <c:pt idx="0">
                    <c:v>Greedy</c:v>
                  </c:pt>
                  <c:pt idx="1">
                    <c:v>Cheapest-Energy</c:v>
                  </c:pt>
                  <c:pt idx="2">
                    <c:v>RL-Markov</c:v>
                  </c:pt>
                  <c:pt idx="3">
                    <c:v>Resilient</c:v>
                  </c:pt>
                </c:lvl>
              </c:multiLvlStrCache>
            </c:multiLvlStrRef>
          </c:cat>
          <c:val>
            <c:numRef>
              <c:f>Sheet1!$C$2:$C$5</c:f>
              <c:numCache>
                <c:formatCode>General</c:formatCode>
                <c:ptCount val="4"/>
                <c:pt idx="0">
                  <c:v>100</c:v>
                </c:pt>
                <c:pt idx="1">
                  <c:v>100</c:v>
                </c:pt>
                <c:pt idx="2">
                  <c:v>100</c:v>
                </c:pt>
                <c:pt idx="3">
                  <c:v>83.3</c:v>
                </c:pt>
              </c:numCache>
            </c:numRef>
          </c:val>
        </c:ser>
        <c:dLbls>
          <c:numFmt formatCode="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5"/>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85"/>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RAP Twin lets you rehearse scheduling decisions and failures on a faithful model of your compute fabric, so mistakes happen in the twin, not in production. Mention the live deployment up front: this is a working system, not slides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from an operator's point of view. The usual answer is 'test in staging', but staging rarely reproduces the topology, the hardware mix, or the failure modes. That gap is what RAP Twin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one sentence each. The point for an industry reviewer: this is not only a simulator. The twin stays synchronized with telemetry, and the same planners that run in the twin can gate real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Emphasise stage 2 (state merge) and stage 5 (planning) because that is where the twin earns its value: a plan is always made against the current, merged state, not a stale config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map. Everything reads from and writes to DTState, so there is one source of truth. The dashed line is the chaos path: faults are injected into the same state the planners read, which is what makes resilience testing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ingestion paths into one model. The 100-node fabric spans a campus region (hostel, lab) and a city mesh (datacenter, cloudlet), linked by Ethernet 10/100G, InfiniBand 400G, Wi-Fi 6E/7 and a 1G WAN link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RL-Markov planner is the most technical piece. It is not a pretrained deep-RL agent: it solves the placement as an MDP with dynamic programming and nudges choices with a Q-table that learns from committed plans. The weights shown are the defaults in dt/policy/mdp.py. GPU-declared nodes now also get real Docker GPU device requests in the container launcher.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container-kill chaos tools, these scenarios model physical-layer problems: link degradation, link cuts, thermal derating. The CI gate (tools/ci_gate.py) is the industry hook: a scheduling change has to survive the scenarios before it can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features an operations team would actually use day to day. Blast radius and what-if planning answer the questions people ask before maintenance windows and hardware purchases.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on this and the next slide are measured by the project's own tools and are reproducible with one command. Be upfront: the curve is flat because 100 nodes have far more spare capacity than 11 jobs can use; a larger catalogue is needed to stress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honest result. A reviewer trusts a deck more when it shows where the system's own design underperforms. Note the methodology caveat: these are single-seed point estimates; repeated trials are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this is engineered like a product: tests, CI gate, auth, TLS, systemd, a typed frontend. Offer to open the live dashboard during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reviewer's questions by naming the limits yourself. Then show that each limit maps to a concrete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specific ask, not a generic 'questions?'. The most valuable outcome from an industry reviewer is real scenarios and data to calibrate the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RAP Twin · Industry review</a:t>
            </a:r>
            <a:endParaRPr lang="en-US" sz="1000" dirty="0"/>
          </a:p>
        </p:txBody>
      </p:sp>
      <p:sp>
        <p:nvSpPr>
          <p:cNvPr id="3" name="Text 1"/>
          <p:cNvSpPr/>
          <p:nvPr>
            <p:ph idx="101" type="title" hasCustomPrompt="1"/>
          </p:nvPr>
        </p:nvSpPr>
        <p:spPr>
          <a:xfrm>
            <a:off x="548640" y="411480"/>
            <a:ext cx="11094415"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7315200" cy="365760"/>
          </a:xfrm>
          <a:prstGeom prst="rect">
            <a:avLst/>
          </a:prstGeom>
          <a:noFill/>
          <a:ln/>
        </p:spPr>
        <p:txBody>
          <a:bodyPr wrap="square" lIns="0" tIns="0" rIns="0" bIns="0" rtlCol="0" anchor="t"/>
          <a:lstStyle/>
          <a:p>
            <a:pPr indent="0" marL="0">
              <a:buNone/>
            </a:pPr>
            <a:r>
              <a:rPr lang="en-US" sz="1400" spc="200" kern="0" dirty="0">
                <a:solidFill>
                  <a:schemeClr val="accent2"/>
                </a:solidFill>
                <a:latin typeface="Courier New" pitchFamily="34" charset="0"/>
                <a:ea typeface="Courier New" pitchFamily="34" charset="-122"/>
                <a:cs typeface="Courier New" pitchFamily="34" charset="-120"/>
              </a:rPr>
              <a:t>INDUSTRY REVIEW · OCTOBER 2026</a:t>
            </a:r>
            <a:endParaRPr lang="en-US" sz="1400" dirty="0"/>
          </a:p>
        </p:txBody>
      </p:sp>
      <p:sp>
        <p:nvSpPr>
          <p:cNvPr id="3" name="Text 1"/>
          <p:cNvSpPr txBox="1"/>
          <p:nvPr/>
        </p:nvSpPr>
        <p:spPr>
          <a:xfrm>
            <a:off x="731520" y="1828800"/>
            <a:ext cx="9144000" cy="1280160"/>
          </a:xfrm>
          <a:prstGeom prst="rect">
            <a:avLst/>
          </a:prstGeom>
          <a:noFill/>
          <a:ln/>
        </p:spPr>
        <p:txBody>
          <a:bodyPr wrap="square" lIns="0" tIns="0" rIns="0" bIns="0" rtlCol="0" anchor="t"/>
          <a:lstStyle/>
          <a:p>
            <a:pPr indent="0" marL="0">
              <a:buNone/>
            </a:pPr>
            <a:r>
              <a:rPr lang="en-US" sz="7200" b="1" dirty="0">
                <a:solidFill>
                  <a:schemeClr val="bg1"/>
                </a:solidFill>
                <a:latin typeface="Arial" pitchFamily="34" charset="0"/>
                <a:ea typeface="Arial" pitchFamily="34" charset="-122"/>
                <a:cs typeface="Arial" pitchFamily="34" charset="-120"/>
              </a:rPr>
              <a:t>RAP Twin</a:t>
            </a:r>
            <a:endParaRPr lang="en-US" sz="7200" dirty="0"/>
          </a:p>
        </p:txBody>
      </p:sp>
      <p:sp>
        <p:nvSpPr>
          <p:cNvPr id="4" name="Text 2"/>
          <p:cNvSpPr txBox="1"/>
          <p:nvPr/>
        </p:nvSpPr>
        <p:spPr>
          <a:xfrm>
            <a:off x="731520" y="3154680"/>
            <a:ext cx="9601200" cy="1005840"/>
          </a:xfrm>
          <a:prstGeom prst="rect">
            <a:avLst/>
          </a:prstGeom>
          <a:noFill/>
          <a:ln/>
        </p:spPr>
        <p:txBody>
          <a:bodyPr wrap="square" lIns="0" tIns="0" rIns="0" bIns="0" rtlCol="0" anchor="t"/>
          <a:lstStyle/>
          <a:p>
            <a:pPr indent="0" marL="0">
              <a:buNone/>
            </a:pPr>
            <a:r>
              <a:rPr lang="en-US" sz="2400" dirty="0">
                <a:solidFill>
                  <a:srgbClr val="C9D3E3"/>
                </a:solidFill>
              </a:rPr>
              <a:t>A digital-twin sandbox for testing scheduling policies before they touch real infrastructure</a:t>
            </a:r>
            <a:endParaRPr lang="en-US" sz="2400" dirty="0"/>
          </a:p>
        </p:txBody>
      </p:sp>
      <p:sp>
        <p:nvSpPr>
          <p:cNvPr id="5" name="Text 3"/>
          <p:cNvSpPr txBox="1"/>
          <p:nvPr/>
        </p:nvSpPr>
        <p:spPr>
          <a:xfrm>
            <a:off x="731520" y="5212080"/>
            <a:ext cx="7772400" cy="822960"/>
          </a:xfrm>
          <a:prstGeom prst="rect">
            <a:avLst/>
          </a:prstGeom>
          <a:noFill/>
          <a:ln/>
        </p:spPr>
        <p:txBody>
          <a:bodyPr wrap="square" lIns="0" tIns="0" rIns="0" bIns="0" rtlCol="0" anchor="t"/>
          <a:lstStyle/>
          <a:p>
            <a:pPr indent="0" marL="0">
              <a:buNone/>
            </a:pPr>
            <a:r>
              <a:rPr lang="en-US" sz="1800" b="1" dirty="0">
                <a:solidFill>
                  <a:schemeClr val="bg1"/>
                </a:solidFill>
              </a:rPr>
              <a:t>Riaan Masoud Attar</a:t>
            </a:r>
            <a:endParaRPr lang="en-US" sz="1800" dirty="0"/>
          </a:p>
          <a:p>
            <a:pPr indent="0" marL="0">
              <a:buNone/>
            </a:pPr>
            <a:r>
              <a:rPr lang="en-US" sz="1400" dirty="0">
                <a:solidFill>
                  <a:srgbClr val="9FB0C8"/>
                </a:solidFill>
              </a:rPr>
              <a:t>AI &amp; Data Science · K. K. Wagh Institute of Engineering Education and Research, Nashik</a:t>
            </a:r>
            <a:endParaRPr lang="en-US" sz="1800" dirty="0"/>
          </a:p>
        </p:txBody>
      </p:sp>
      <p:sp>
        <p:nvSpPr>
          <p:cNvPr id="6" name="Text 4"/>
          <p:cNvSpPr txBox="1"/>
          <p:nvPr/>
        </p:nvSpPr>
        <p:spPr>
          <a:xfrm>
            <a:off x="8138160" y="5532120"/>
            <a:ext cx="3474720" cy="365760"/>
          </a:xfrm>
          <a:prstGeom prst="rect">
            <a:avLst/>
          </a:prstGeom>
          <a:noFill/>
          <a:ln/>
        </p:spPr>
        <p:txBody>
          <a:bodyPr wrap="square" lIns="0" tIns="0" rIns="0" bIns="0" rtlCol="0" anchor="t"/>
          <a:lstStyle/>
          <a:p>
            <a:pPr algn="r" indent="0" marL="0">
              <a:buNone/>
            </a:pPr>
            <a:r>
              <a:rPr lang="en-US" sz="1400" dirty="0">
                <a:solidFill>
                  <a:srgbClr val="7FB0E6"/>
                </a:solidFill>
                <a:latin typeface="Courier New" pitchFamily="34" charset="0"/>
                <a:ea typeface="Courier New" pitchFamily="34" charset="-122"/>
                <a:cs typeface="Courier New" pitchFamily="34" charset="-120"/>
              </a:rPr>
              <a:t>raptwin.seloraos.online</a:t>
            </a:r>
            <a:endParaRPr lang="en-US" sz="1400" dirty="0"/>
          </a:p>
        </p:txBody>
      </p:sp>
      <p:sp>
        <p:nvSpPr>
          <p:cNvPr id="7" name="Shape 5"/>
          <p:cNvSpPr/>
          <p:nvPr/>
        </p:nvSpPr>
        <p:spPr>
          <a:xfrm>
            <a:off x="9144000" y="914400"/>
            <a:ext cx="2011680" cy="2011680"/>
          </a:xfrm>
          <a:prstGeom prst="ellipse">
            <a:avLst/>
          </a:prstGeom>
          <a:solidFill>
            <a:schemeClr val="accent1">
              <a:alpha val="75000"/>
            </a:schemeClr>
          </a:solidFill>
          <a:ln w="12700">
            <a:solidFill>
              <a:schemeClr val="accent1">
                <a:alpha val="75000"/>
              </a:schemeClr>
            </a:solidFill>
            <a:prstDash val="solid"/>
          </a:ln>
        </p:spPr>
      </p:sp>
      <p:sp>
        <p:nvSpPr>
          <p:cNvPr id="8" name="Shape 6"/>
          <p:cNvSpPr/>
          <p:nvPr/>
        </p:nvSpPr>
        <p:spPr>
          <a:xfrm>
            <a:off x="9966960" y="1554480"/>
            <a:ext cx="2011680" cy="2011680"/>
          </a:xfrm>
          <a:prstGeom prst="ellipse">
            <a:avLst/>
          </a:prstGeom>
          <a:solidFill>
            <a:schemeClr val="accent2">
              <a:alpha val="65000"/>
            </a:schemeClr>
          </a:solidFill>
          <a:ln w="12700">
            <a:solidFill>
              <a:schemeClr val="accent2">
                <a:alpha val="65000"/>
              </a:scheme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Testing a new scheduler on production is a gamble</a:t>
            </a:r>
            <a:endParaRPr lang="en-US" sz="3200" dirty="0"/>
          </a:p>
        </p:txBody>
      </p:sp>
      <p:sp>
        <p:nvSpPr>
          <p:cNvPr id="3" name="problem-0"/>
          <p:cNvSpPr/>
          <p:nvPr/>
        </p:nvSpPr>
        <p:spPr>
          <a:xfrm>
            <a:off x="548640" y="1554480"/>
            <a:ext cx="3474720" cy="4206240"/>
          </a:xfrm>
          <a:prstGeom prst="roundRect">
            <a:avLst>
              <a:gd name="adj" fmla="val 3158"/>
            </a:avLst>
          </a:prstGeom>
          <a:solidFill>
            <a:schemeClr val="bg2"/>
          </a:solidFill>
          <a:ln w="12700">
            <a:solidFill>
              <a:schemeClr val="bg2"/>
            </a:solidFill>
            <a:prstDash val="solid"/>
          </a:ln>
        </p:spPr>
      </p:sp>
      <p:sp>
        <p:nvSpPr>
          <p:cNvPr id="4" name="Shape 2"/>
          <p:cNvSpPr/>
          <p:nvPr/>
        </p:nvSpPr>
        <p:spPr>
          <a:xfrm>
            <a:off x="868680" y="1920240"/>
            <a:ext cx="685800" cy="685800"/>
          </a:xfrm>
          <a:prstGeom prst="ellipse">
            <a:avLst/>
          </a:prstGeom>
          <a:solidFill>
            <a:schemeClr val="accent4"/>
          </a:solidFill>
          <a:ln w="12700">
            <a:solidFill>
              <a:schemeClr val="accent4"/>
            </a:solidFill>
            <a:prstDash val="solid"/>
          </a:ln>
        </p:spPr>
      </p:sp>
      <p:sp>
        <p:nvSpPr>
          <p:cNvPr id="5" name="Text 3"/>
          <p:cNvSpPr txBox="1"/>
          <p:nvPr/>
        </p:nvSpPr>
        <p:spPr>
          <a:xfrm>
            <a:off x="868680" y="19202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a:t>
            </a:r>
            <a:endParaRPr lang="en-US" sz="2400" dirty="0"/>
          </a:p>
        </p:txBody>
      </p:sp>
      <p:sp>
        <p:nvSpPr>
          <p:cNvPr id="6" name="Text 4"/>
          <p:cNvSpPr txBox="1"/>
          <p:nvPr/>
        </p:nvSpPr>
        <p:spPr>
          <a:xfrm>
            <a:off x="868680" y="2834640"/>
            <a:ext cx="2926080" cy="731520"/>
          </a:xfrm>
          <a:prstGeom prst="rect">
            <a:avLst/>
          </a:prstGeom>
          <a:noFill/>
          <a:ln/>
        </p:spPr>
        <p:txBody>
          <a:bodyPr wrap="square" lIns="0" tIns="0" rIns="0" bIns="0" rtlCol="0" anchor="b"/>
          <a:lstStyle/>
          <a:p>
            <a:pPr indent="0" marL="0">
              <a:buNone/>
            </a:pPr>
            <a:r>
              <a:rPr lang="en-US" sz="2000" b="1" dirty="0">
                <a:solidFill>
                  <a:schemeClr val="tx2"/>
                </a:solidFill>
                <a:latin typeface="Arial" pitchFamily="34" charset="0"/>
                <a:ea typeface="Arial" pitchFamily="34" charset="-122"/>
                <a:cs typeface="Arial" pitchFamily="34" charset="-120"/>
              </a:rPr>
              <a:t>Experiments are risky</a:t>
            </a:r>
            <a:endParaRPr lang="en-US" sz="2000" dirty="0"/>
          </a:p>
        </p:txBody>
      </p:sp>
      <p:sp>
        <p:nvSpPr>
          <p:cNvPr id="7" name="Text 5"/>
          <p:cNvSpPr txBox="1"/>
          <p:nvPr/>
        </p:nvSpPr>
        <p:spPr>
          <a:xfrm>
            <a:off x="868680" y="3749040"/>
            <a:ext cx="2880360" cy="1828800"/>
          </a:xfrm>
          <a:prstGeom prst="rect">
            <a:avLst/>
          </a:prstGeom>
          <a:noFill/>
          <a:ln/>
        </p:spPr>
        <p:txBody>
          <a:bodyPr wrap="square" lIns="0" tIns="0" rIns="0" bIns="0" rtlCol="0" anchor="t"/>
          <a:lstStyle/>
          <a:p>
            <a:pPr indent="0" marL="0">
              <a:buNone/>
            </a:pPr>
            <a:r>
              <a:rPr lang="en-US" sz="1600" dirty="0">
                <a:solidFill>
                  <a:schemeClr val="tx1"/>
                </a:solidFill>
              </a:rPr>
              <a:t>Trying a new placement policy on a live edge or multi-cloud fabric can miss SLAs or take services down.</a:t>
            </a:r>
            <a:endParaRPr lang="en-US" sz="1600" dirty="0"/>
          </a:p>
        </p:txBody>
      </p:sp>
      <p:sp>
        <p:nvSpPr>
          <p:cNvPr id="8" name="problem-1"/>
          <p:cNvSpPr/>
          <p:nvPr/>
        </p:nvSpPr>
        <p:spPr>
          <a:xfrm>
            <a:off x="4297680" y="1554480"/>
            <a:ext cx="3474720" cy="4206240"/>
          </a:xfrm>
          <a:prstGeom prst="roundRect">
            <a:avLst>
              <a:gd name="adj" fmla="val 3158"/>
            </a:avLst>
          </a:prstGeom>
          <a:solidFill>
            <a:schemeClr val="bg2"/>
          </a:solidFill>
          <a:ln w="12700">
            <a:solidFill>
              <a:schemeClr val="bg2"/>
            </a:solidFill>
            <a:prstDash val="solid"/>
          </a:ln>
        </p:spPr>
      </p:sp>
      <p:sp>
        <p:nvSpPr>
          <p:cNvPr id="9" name="Shape 7"/>
          <p:cNvSpPr/>
          <p:nvPr/>
        </p:nvSpPr>
        <p:spPr>
          <a:xfrm>
            <a:off x="4617720" y="1920240"/>
            <a:ext cx="685800" cy="685800"/>
          </a:xfrm>
          <a:prstGeom prst="ellipse">
            <a:avLst/>
          </a:prstGeom>
          <a:solidFill>
            <a:schemeClr val="accent2"/>
          </a:solidFill>
          <a:ln w="12700">
            <a:solidFill>
              <a:schemeClr val="accent2"/>
            </a:solidFill>
            <a:prstDash val="solid"/>
          </a:ln>
        </p:spPr>
      </p:sp>
      <p:sp>
        <p:nvSpPr>
          <p:cNvPr id="10" name="Text 8"/>
          <p:cNvSpPr txBox="1"/>
          <p:nvPr/>
        </p:nvSpPr>
        <p:spPr>
          <a:xfrm>
            <a:off x="4617720" y="19202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a:t>
            </a:r>
            <a:endParaRPr lang="en-US" sz="2400" dirty="0"/>
          </a:p>
        </p:txBody>
      </p:sp>
      <p:sp>
        <p:nvSpPr>
          <p:cNvPr id="11" name="Text 9"/>
          <p:cNvSpPr txBox="1"/>
          <p:nvPr/>
        </p:nvSpPr>
        <p:spPr>
          <a:xfrm>
            <a:off x="4617720" y="2834640"/>
            <a:ext cx="2926080" cy="731520"/>
          </a:xfrm>
          <a:prstGeom prst="rect">
            <a:avLst/>
          </a:prstGeom>
          <a:noFill/>
          <a:ln/>
        </p:spPr>
        <p:txBody>
          <a:bodyPr wrap="square" lIns="0" tIns="0" rIns="0" bIns="0" rtlCol="0" anchor="b"/>
          <a:lstStyle/>
          <a:p>
            <a:pPr indent="0" marL="0">
              <a:buNone/>
            </a:pPr>
            <a:r>
              <a:rPr lang="en-US" sz="2000" b="1" dirty="0">
                <a:solidFill>
                  <a:schemeClr val="tx2"/>
                </a:solidFill>
                <a:latin typeface="Arial" pitchFamily="34" charset="0"/>
                <a:ea typeface="Arial" pitchFamily="34" charset="-122"/>
                <a:cs typeface="Arial" pitchFamily="34" charset="-120"/>
              </a:rPr>
              <a:t>Telemetry is siloed</a:t>
            </a:r>
            <a:endParaRPr lang="en-US" sz="2000" dirty="0"/>
          </a:p>
        </p:txBody>
      </p:sp>
      <p:sp>
        <p:nvSpPr>
          <p:cNvPr id="12" name="Text 10"/>
          <p:cNvSpPr txBox="1"/>
          <p:nvPr/>
        </p:nvSpPr>
        <p:spPr>
          <a:xfrm>
            <a:off x="4617720" y="3749040"/>
            <a:ext cx="2880360" cy="1828800"/>
          </a:xfrm>
          <a:prstGeom prst="rect">
            <a:avLst/>
          </a:prstGeom>
          <a:noFill/>
          <a:ln/>
        </p:spPr>
        <p:txBody>
          <a:bodyPr wrap="square" lIns="0" tIns="0" rIns="0" bIns="0" rtlCol="0" anchor="t"/>
          <a:lstStyle/>
          <a:p>
            <a:pPr indent="0" marL="0">
              <a:buNone/>
            </a:pPr>
            <a:r>
              <a:rPr lang="en-US" sz="1600" dirty="0">
                <a:solidFill>
                  <a:schemeClr val="tx1"/>
                </a:solidFill>
              </a:rPr>
              <a:t>CPU, GPU, thermal and link-quality data live in separate tools, so no single view says what the fabric can actually take.</a:t>
            </a:r>
            <a:endParaRPr lang="en-US" sz="1600" dirty="0"/>
          </a:p>
        </p:txBody>
      </p:sp>
      <p:sp>
        <p:nvSpPr>
          <p:cNvPr id="13" name="problem-2"/>
          <p:cNvSpPr/>
          <p:nvPr/>
        </p:nvSpPr>
        <p:spPr>
          <a:xfrm>
            <a:off x="8046720" y="1554480"/>
            <a:ext cx="3474720" cy="4206240"/>
          </a:xfrm>
          <a:prstGeom prst="roundRect">
            <a:avLst>
              <a:gd name="adj" fmla="val 3158"/>
            </a:avLst>
          </a:prstGeom>
          <a:solidFill>
            <a:schemeClr val="bg2"/>
          </a:solidFill>
          <a:ln w="12700">
            <a:solidFill>
              <a:schemeClr val="bg2"/>
            </a:solidFill>
            <a:prstDash val="solid"/>
          </a:ln>
        </p:spPr>
      </p:sp>
      <p:sp>
        <p:nvSpPr>
          <p:cNvPr id="14" name="Shape 12"/>
          <p:cNvSpPr/>
          <p:nvPr/>
        </p:nvSpPr>
        <p:spPr>
          <a:xfrm>
            <a:off x="8366760" y="1920240"/>
            <a:ext cx="685800" cy="685800"/>
          </a:xfrm>
          <a:prstGeom prst="ellipse">
            <a:avLst/>
          </a:prstGeom>
          <a:solidFill>
            <a:schemeClr val="accent5"/>
          </a:solidFill>
          <a:ln w="12700">
            <a:solidFill>
              <a:schemeClr val="accent5"/>
            </a:solidFill>
            <a:prstDash val="solid"/>
          </a:ln>
        </p:spPr>
      </p:sp>
      <p:sp>
        <p:nvSpPr>
          <p:cNvPr id="15" name="Text 13"/>
          <p:cNvSpPr txBox="1"/>
          <p:nvPr/>
        </p:nvSpPr>
        <p:spPr>
          <a:xfrm>
            <a:off x="8366760" y="19202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a:t>
            </a:r>
            <a:endParaRPr lang="en-US" sz="2400" dirty="0"/>
          </a:p>
        </p:txBody>
      </p:sp>
      <p:sp>
        <p:nvSpPr>
          <p:cNvPr id="16" name="Text 14"/>
          <p:cNvSpPr txBox="1"/>
          <p:nvPr/>
        </p:nvSpPr>
        <p:spPr>
          <a:xfrm>
            <a:off x="8366760" y="2834640"/>
            <a:ext cx="2926080" cy="731520"/>
          </a:xfrm>
          <a:prstGeom prst="rect">
            <a:avLst/>
          </a:prstGeom>
          <a:noFill/>
          <a:ln/>
        </p:spPr>
        <p:txBody>
          <a:bodyPr wrap="square" lIns="0" tIns="0" rIns="0" bIns="0" rtlCol="0" anchor="b"/>
          <a:lstStyle/>
          <a:p>
            <a:pPr indent="0" marL="0">
              <a:buNone/>
            </a:pPr>
            <a:r>
              <a:rPr lang="en-US" sz="2000" b="1" dirty="0">
                <a:solidFill>
                  <a:schemeClr val="tx2"/>
                </a:solidFill>
                <a:latin typeface="Arial" pitchFamily="34" charset="0"/>
                <a:ea typeface="Arial" pitchFamily="34" charset="-122"/>
                <a:cs typeface="Arial" pitchFamily="34" charset="-120"/>
              </a:rPr>
              <a:t>Failures can't be rehearsed</a:t>
            </a:r>
            <a:endParaRPr lang="en-US" sz="2000" dirty="0"/>
          </a:p>
        </p:txBody>
      </p:sp>
      <p:sp>
        <p:nvSpPr>
          <p:cNvPr id="17" name="Text 15"/>
          <p:cNvSpPr txBox="1"/>
          <p:nvPr/>
        </p:nvSpPr>
        <p:spPr>
          <a:xfrm>
            <a:off x="8366760" y="3749040"/>
            <a:ext cx="2880360" cy="1828800"/>
          </a:xfrm>
          <a:prstGeom prst="rect">
            <a:avLst/>
          </a:prstGeom>
          <a:noFill/>
          <a:ln/>
        </p:spPr>
        <p:txBody>
          <a:bodyPr wrap="square" lIns="0" tIns="0" rIns="0" bIns="0" rtlCol="0" anchor="t"/>
          <a:lstStyle/>
          <a:p>
            <a:pPr indent="0" marL="0">
              <a:buNone/>
            </a:pPr>
            <a:r>
              <a:rPr lang="en-US" sz="1600" dirty="0">
                <a:solidFill>
                  <a:schemeClr val="tx1"/>
                </a:solidFill>
              </a:rPr>
              <a:t>Link cuts, thermal derating and node loss are rare in practice, so policies are almost never tested against them.</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RAP Twin: rehearse every decision in the twin first</a:t>
            </a:r>
            <a:endParaRPr lang="en-US" sz="3200" dirty="0"/>
          </a:p>
        </p:txBody>
      </p:sp>
      <p:sp>
        <p:nvSpPr>
          <p:cNvPr id="3" name="Text 1"/>
          <p:cNvSpPr txBox="1"/>
          <p:nvPr/>
        </p:nvSpPr>
        <p:spPr>
          <a:xfrm>
            <a:off x="548640" y="1325880"/>
            <a:ext cx="10972800" cy="731520"/>
          </a:xfrm>
          <a:prstGeom prst="rect">
            <a:avLst/>
          </a:prstGeom>
          <a:noFill/>
          <a:ln/>
        </p:spPr>
        <p:txBody>
          <a:bodyPr wrap="square" lIns="0" tIns="0" rIns="0" bIns="0" rtlCol="0" anchor="t"/>
          <a:lstStyle/>
          <a:p>
            <a:pPr indent="0" marL="0">
              <a:buNone/>
            </a:pPr>
            <a:r>
              <a:rPr lang="en-US" sz="1800" dirty="0">
                <a:solidFill>
                  <a:schemeClr val="accent6"/>
                </a:solidFill>
              </a:rPr>
              <a:t>A live, queryable model of your compute fabric that plans jobs, injects failures and gates policy changes, all before anything reaches real hardware.</a:t>
            </a:r>
            <a:endParaRPr lang="en-US" sz="1800" dirty="0"/>
          </a:p>
        </p:txBody>
      </p:sp>
      <p:sp>
        <p:nvSpPr>
          <p:cNvPr id="4" name="pillar-0"/>
          <p:cNvSpPr/>
          <p:nvPr/>
        </p:nvSpPr>
        <p:spPr>
          <a:xfrm>
            <a:off x="548640" y="2331720"/>
            <a:ext cx="3474720" cy="3566160"/>
          </a:xfrm>
          <a:prstGeom prst="roundRect">
            <a:avLst>
              <a:gd name="adj" fmla="val 3158"/>
            </a:avLst>
          </a:prstGeom>
          <a:solidFill>
            <a:schemeClr val="bg2"/>
          </a:solidFill>
          <a:ln w="12700">
            <a:solidFill>
              <a:schemeClr val="bg2"/>
            </a:solidFill>
            <a:prstDash val="solid"/>
          </a:ln>
        </p:spPr>
      </p:sp>
      <p:sp>
        <p:nvSpPr>
          <p:cNvPr id="5" name="Shape 3"/>
          <p:cNvSpPr/>
          <p:nvPr/>
        </p:nvSpPr>
        <p:spPr>
          <a:xfrm>
            <a:off x="868680" y="2697480"/>
            <a:ext cx="640080" cy="640080"/>
          </a:xfrm>
          <a:prstGeom prst="ellipse">
            <a:avLst/>
          </a:prstGeom>
          <a:solidFill>
            <a:schemeClr val="accent1"/>
          </a:solidFill>
          <a:ln w="12700">
            <a:solidFill>
              <a:schemeClr val="accent1"/>
            </a:solidFill>
            <a:prstDash val="solid"/>
          </a:ln>
        </p:spPr>
      </p:sp>
      <p:sp>
        <p:nvSpPr>
          <p:cNvPr id="6" name="Text 4"/>
          <p:cNvSpPr txBox="1"/>
          <p:nvPr/>
        </p:nvSpPr>
        <p:spPr>
          <a:xfrm>
            <a:off x="868680" y="2697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868680" y="3429000"/>
            <a:ext cx="2926080" cy="731520"/>
          </a:xfrm>
          <a:prstGeom prst="rect">
            <a:avLst/>
          </a:prstGeom>
          <a:noFill/>
          <a:ln/>
        </p:spPr>
        <p:txBody>
          <a:bodyPr wrap="square" lIns="0" tIns="0" rIns="0" bIns="0" rtlCol="0" anchor="b"/>
          <a:lstStyle/>
          <a:p>
            <a:pPr indent="0" marL="0">
              <a:buNone/>
            </a:pPr>
            <a:r>
              <a:rPr lang="en-US" sz="2000" b="1" dirty="0">
                <a:solidFill>
                  <a:schemeClr val="tx2"/>
                </a:solidFill>
                <a:latin typeface="Arial" pitchFamily="34" charset="0"/>
                <a:ea typeface="Arial" pitchFamily="34" charset="-122"/>
                <a:cs typeface="Arial" pitchFamily="34" charset="-120"/>
              </a:rPr>
              <a:t>Digital twin state</a:t>
            </a:r>
            <a:endParaRPr lang="en-US" sz="2000" dirty="0"/>
          </a:p>
        </p:txBody>
      </p:sp>
      <p:sp>
        <p:nvSpPr>
          <p:cNvPr id="8" name="Text 6"/>
          <p:cNvSpPr txBox="1"/>
          <p:nvPr/>
        </p:nvSpPr>
        <p:spPr>
          <a:xfrm>
            <a:off x="868680" y="4297680"/>
            <a:ext cx="2880360" cy="1554480"/>
          </a:xfrm>
          <a:prstGeom prst="rect">
            <a:avLst/>
          </a:prstGeom>
          <a:noFill/>
          <a:ln/>
        </p:spPr>
        <p:txBody>
          <a:bodyPr wrap="square" lIns="0" tIns="0" rIns="0" bIns="0" rtlCol="0" anchor="t"/>
          <a:lstStyle/>
          <a:p>
            <a:pPr indent="0" marL="0">
              <a:buNone/>
            </a:pPr>
            <a:r>
              <a:rPr lang="en-US" sz="1600" dirty="0">
                <a:solidFill>
                  <a:schemeClr val="tx1"/>
                </a:solidFill>
              </a:rPr>
              <a:t>Hardware descriptors (YAML) merged with live telemetry over REST or MQTT into one state model, hot-reloaded without restarts.</a:t>
            </a:r>
            <a:endParaRPr lang="en-US" sz="1600" dirty="0"/>
          </a:p>
        </p:txBody>
      </p:sp>
      <p:sp>
        <p:nvSpPr>
          <p:cNvPr id="9" name="pillar-1"/>
          <p:cNvSpPr/>
          <p:nvPr/>
        </p:nvSpPr>
        <p:spPr>
          <a:xfrm>
            <a:off x="4297680" y="2331720"/>
            <a:ext cx="3474720" cy="3566160"/>
          </a:xfrm>
          <a:prstGeom prst="roundRect">
            <a:avLst>
              <a:gd name="adj" fmla="val 3158"/>
            </a:avLst>
          </a:prstGeom>
          <a:solidFill>
            <a:schemeClr val="bg2"/>
          </a:solidFill>
          <a:ln w="12700">
            <a:solidFill>
              <a:schemeClr val="bg2"/>
            </a:solidFill>
            <a:prstDash val="solid"/>
          </a:ln>
        </p:spPr>
      </p:sp>
      <p:sp>
        <p:nvSpPr>
          <p:cNvPr id="10" name="Shape 8"/>
          <p:cNvSpPr/>
          <p:nvPr/>
        </p:nvSpPr>
        <p:spPr>
          <a:xfrm>
            <a:off x="4617720" y="2697480"/>
            <a:ext cx="640080" cy="640080"/>
          </a:xfrm>
          <a:prstGeom prst="ellipse">
            <a:avLst/>
          </a:prstGeom>
          <a:solidFill>
            <a:schemeClr val="accent3"/>
          </a:solidFill>
          <a:ln w="12700">
            <a:solidFill>
              <a:schemeClr val="accent3"/>
            </a:solidFill>
            <a:prstDash val="solid"/>
          </a:ln>
        </p:spPr>
      </p:sp>
      <p:sp>
        <p:nvSpPr>
          <p:cNvPr id="11" name="Text 9"/>
          <p:cNvSpPr txBox="1"/>
          <p:nvPr/>
        </p:nvSpPr>
        <p:spPr>
          <a:xfrm>
            <a:off x="4617720" y="2697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10"/>
          <p:cNvSpPr txBox="1"/>
          <p:nvPr/>
        </p:nvSpPr>
        <p:spPr>
          <a:xfrm>
            <a:off x="4617720" y="3429000"/>
            <a:ext cx="2926080" cy="731520"/>
          </a:xfrm>
          <a:prstGeom prst="rect">
            <a:avLst/>
          </a:prstGeom>
          <a:noFill/>
          <a:ln/>
        </p:spPr>
        <p:txBody>
          <a:bodyPr wrap="square" lIns="0" tIns="0" rIns="0" bIns="0" rtlCol="0" anchor="b"/>
          <a:lstStyle/>
          <a:p>
            <a:pPr indent="0" marL="0">
              <a:buNone/>
            </a:pPr>
            <a:r>
              <a:rPr lang="en-US" sz="2000" b="1" dirty="0">
                <a:solidFill>
                  <a:schemeClr val="tx2"/>
                </a:solidFill>
                <a:latin typeface="Arial" pitchFamily="34" charset="0"/>
                <a:ea typeface="Arial" pitchFamily="34" charset="-122"/>
                <a:cs typeface="Arial" pitchFamily="34" charset="-120"/>
              </a:rPr>
              <a:t>Pluggable planners</a:t>
            </a:r>
            <a:endParaRPr lang="en-US" sz="2000" dirty="0"/>
          </a:p>
        </p:txBody>
      </p:sp>
      <p:sp>
        <p:nvSpPr>
          <p:cNvPr id="13" name="Text 11"/>
          <p:cNvSpPr txBox="1"/>
          <p:nvPr/>
        </p:nvSpPr>
        <p:spPr>
          <a:xfrm>
            <a:off x="4617720" y="4297680"/>
            <a:ext cx="2880360" cy="1554480"/>
          </a:xfrm>
          <a:prstGeom prst="rect">
            <a:avLst/>
          </a:prstGeom>
          <a:noFill/>
          <a:ln/>
        </p:spPr>
        <p:txBody>
          <a:bodyPr wrap="square" lIns="0" tIns="0" rIns="0" bIns="0" rtlCol="0" anchor="t"/>
          <a:lstStyle/>
          <a:p>
            <a:pPr indent="0" marL="0">
              <a:buNone/>
            </a:pPr>
            <a:r>
              <a:rPr lang="en-US" sz="1600" dirty="0">
                <a:solidFill>
                  <a:schemeClr val="tx1"/>
                </a:solidFill>
              </a:rPr>
              <a:t>Four scheduling strategies, from greedy heuristics to an MDP planner with online Q-learning, all with dry-run mode.</a:t>
            </a:r>
            <a:endParaRPr lang="en-US" sz="1600" dirty="0"/>
          </a:p>
        </p:txBody>
      </p:sp>
      <p:sp>
        <p:nvSpPr>
          <p:cNvPr id="14" name="pillar-2"/>
          <p:cNvSpPr/>
          <p:nvPr/>
        </p:nvSpPr>
        <p:spPr>
          <a:xfrm>
            <a:off x="8046720" y="2331720"/>
            <a:ext cx="3474720" cy="3566160"/>
          </a:xfrm>
          <a:prstGeom prst="roundRect">
            <a:avLst>
              <a:gd name="adj" fmla="val 3158"/>
            </a:avLst>
          </a:prstGeom>
          <a:solidFill>
            <a:schemeClr val="bg2"/>
          </a:solidFill>
          <a:ln w="12700">
            <a:solidFill>
              <a:schemeClr val="bg2"/>
            </a:solidFill>
            <a:prstDash val="solid"/>
          </a:ln>
        </p:spPr>
      </p:sp>
      <p:sp>
        <p:nvSpPr>
          <p:cNvPr id="15" name="Shape 13"/>
          <p:cNvSpPr/>
          <p:nvPr/>
        </p:nvSpPr>
        <p:spPr>
          <a:xfrm>
            <a:off x="8366760" y="2697480"/>
            <a:ext cx="640080" cy="640080"/>
          </a:xfrm>
          <a:prstGeom prst="ellipse">
            <a:avLst/>
          </a:prstGeom>
          <a:solidFill>
            <a:schemeClr val="accent2"/>
          </a:solidFill>
          <a:ln w="12700">
            <a:solidFill>
              <a:schemeClr val="accent2"/>
            </a:solidFill>
            <a:prstDash val="solid"/>
          </a:ln>
        </p:spPr>
      </p:sp>
      <p:sp>
        <p:nvSpPr>
          <p:cNvPr id="16" name="Text 14"/>
          <p:cNvSpPr txBox="1"/>
          <p:nvPr/>
        </p:nvSpPr>
        <p:spPr>
          <a:xfrm>
            <a:off x="8366760" y="2697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5"/>
          <p:cNvSpPr txBox="1"/>
          <p:nvPr/>
        </p:nvSpPr>
        <p:spPr>
          <a:xfrm>
            <a:off x="8366760" y="3429000"/>
            <a:ext cx="2926080" cy="731520"/>
          </a:xfrm>
          <a:prstGeom prst="rect">
            <a:avLst/>
          </a:prstGeom>
          <a:noFill/>
          <a:ln/>
        </p:spPr>
        <p:txBody>
          <a:bodyPr wrap="square" lIns="0" tIns="0" rIns="0" bIns="0" rtlCol="0" anchor="b"/>
          <a:lstStyle/>
          <a:p>
            <a:pPr indent="0" marL="0">
              <a:buNone/>
            </a:pPr>
            <a:r>
              <a:rPr lang="en-US" sz="2000" b="1" dirty="0">
                <a:solidFill>
                  <a:schemeClr val="tx2"/>
                </a:solidFill>
                <a:latin typeface="Arial" pitchFamily="34" charset="0"/>
                <a:ea typeface="Arial" pitchFamily="34" charset="-122"/>
                <a:cs typeface="Arial" pitchFamily="34" charset="-120"/>
              </a:rPr>
              <a:t>Chaos and resilience gate</a:t>
            </a:r>
            <a:endParaRPr lang="en-US" sz="2000" dirty="0"/>
          </a:p>
        </p:txBody>
      </p:sp>
      <p:sp>
        <p:nvSpPr>
          <p:cNvPr id="18" name="Text 16"/>
          <p:cNvSpPr txBox="1"/>
          <p:nvPr/>
        </p:nvSpPr>
        <p:spPr>
          <a:xfrm>
            <a:off x="8366760" y="4297680"/>
            <a:ext cx="2880360" cy="1554480"/>
          </a:xfrm>
          <a:prstGeom prst="rect">
            <a:avLst/>
          </a:prstGeom>
          <a:noFill/>
          <a:ln/>
        </p:spPr>
        <p:txBody>
          <a:bodyPr wrap="square" lIns="0" tIns="0" rIns="0" bIns="0" rtlCol="0" anchor="t"/>
          <a:lstStyle/>
          <a:p>
            <a:pPr indent="0" marL="0">
              <a:buNone/>
            </a:pPr>
            <a:r>
              <a:rPr lang="en-US" sz="1600" dirty="0">
                <a:solidFill>
                  <a:schemeClr val="tx1"/>
                </a:solidFill>
              </a:rPr>
              <a:t>Deterministic fault scenarios, self-healing controllers and a CI gate that fails a build when a change loses resilience.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How it works: a seven-stage closed loop</a:t>
            </a:r>
            <a:endParaRPr lang="en-US" sz="3200" dirty="0"/>
          </a:p>
        </p:txBody>
      </p:sp>
      <p:sp>
        <p:nvSpPr>
          <p:cNvPr id="3" name="stage-0"/>
          <p:cNvSpPr/>
          <p:nvPr/>
        </p:nvSpPr>
        <p:spPr>
          <a:xfrm>
            <a:off x="548640" y="1828800"/>
            <a:ext cx="1481328" cy="2651760"/>
          </a:xfrm>
          <a:prstGeom prst="roundRect">
            <a:avLst>
              <a:gd name="adj" fmla="val 7407"/>
            </a:avLst>
          </a:prstGeom>
          <a:solidFill>
            <a:schemeClr val="bg2"/>
          </a:solidFill>
          <a:ln w="12700">
            <a:solidFill>
              <a:schemeClr val="bg2"/>
            </a:solidFill>
            <a:prstDash val="solid"/>
          </a:ln>
        </p:spPr>
      </p:sp>
      <p:sp>
        <p:nvSpPr>
          <p:cNvPr id="4" name="Shape 2"/>
          <p:cNvSpPr/>
          <p:nvPr/>
        </p:nvSpPr>
        <p:spPr>
          <a:xfrm>
            <a:off x="1014984" y="210312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1014984" y="2103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640080" y="2788920"/>
            <a:ext cx="1298448" cy="73152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Fabric &amp; telemetry</a:t>
            </a:r>
            <a:endParaRPr lang="en-US" sz="1400" dirty="0"/>
          </a:p>
        </p:txBody>
      </p:sp>
      <p:sp>
        <p:nvSpPr>
          <p:cNvPr id="7" name="Text 5"/>
          <p:cNvSpPr txBox="1"/>
          <p:nvPr/>
        </p:nvSpPr>
        <p:spPr>
          <a:xfrm>
            <a:off x="640080" y="3566160"/>
            <a:ext cx="1298448" cy="777240"/>
          </a:xfrm>
          <a:prstGeom prst="rect">
            <a:avLst/>
          </a:prstGeom>
          <a:noFill/>
          <a:ln/>
        </p:spPr>
        <p:txBody>
          <a:bodyPr wrap="square" lIns="0" tIns="0" rIns="0" bIns="0" rtlCol="0" anchor="t"/>
          <a:lstStyle/>
          <a:p>
            <a:pPr algn="ctr" indent="0" marL="0">
              <a:buNone/>
            </a:pPr>
            <a:r>
              <a:rPr lang="en-US" sz="1300" dirty="0">
                <a:solidFill>
                  <a:schemeClr val="tx1"/>
                </a:solidFill>
              </a:rPr>
              <a:t>Nodes, links, live metrics</a:t>
            </a:r>
            <a:endParaRPr lang="en-US" sz="1300" dirty="0"/>
          </a:p>
        </p:txBody>
      </p:sp>
      <p:sp>
        <p:nvSpPr>
          <p:cNvPr id="8" name="Shape 6"/>
          <p:cNvSpPr/>
          <p:nvPr/>
        </p:nvSpPr>
        <p:spPr>
          <a:xfrm>
            <a:off x="2039112" y="2377440"/>
            <a:ext cx="137160" cy="914"/>
          </a:xfrm>
          <a:prstGeom prst="line">
            <a:avLst/>
          </a:prstGeom>
          <a:noFill/>
          <a:ln w="22225">
            <a:solidFill>
              <a:srgbClr val="6B7685"/>
            </a:solidFill>
            <a:prstDash val="solid"/>
            <a:tailEnd type="triangle"/>
          </a:ln>
        </p:spPr>
      </p:sp>
      <p:sp>
        <p:nvSpPr>
          <p:cNvPr id="9" name="stage-1"/>
          <p:cNvSpPr/>
          <p:nvPr/>
        </p:nvSpPr>
        <p:spPr>
          <a:xfrm>
            <a:off x="2185416" y="1828800"/>
            <a:ext cx="1481328" cy="2651760"/>
          </a:xfrm>
          <a:prstGeom prst="roundRect">
            <a:avLst>
              <a:gd name="adj" fmla="val 7407"/>
            </a:avLst>
          </a:prstGeom>
          <a:solidFill>
            <a:schemeClr val="bg2"/>
          </a:solidFill>
          <a:ln w="12700">
            <a:solidFill>
              <a:schemeClr val="bg2"/>
            </a:solidFill>
            <a:prstDash val="solid"/>
          </a:ln>
        </p:spPr>
      </p:sp>
      <p:sp>
        <p:nvSpPr>
          <p:cNvPr id="10" name="Shape 8"/>
          <p:cNvSpPr/>
          <p:nvPr/>
        </p:nvSpPr>
        <p:spPr>
          <a:xfrm>
            <a:off x="2651760" y="210312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2651760" y="2103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2276856" y="2788920"/>
            <a:ext cx="1298448" cy="73152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State merge</a:t>
            </a:r>
            <a:endParaRPr lang="en-US" sz="1400" dirty="0"/>
          </a:p>
        </p:txBody>
      </p:sp>
      <p:sp>
        <p:nvSpPr>
          <p:cNvPr id="13" name="Text 11"/>
          <p:cNvSpPr txBox="1"/>
          <p:nvPr/>
        </p:nvSpPr>
        <p:spPr>
          <a:xfrm>
            <a:off x="2276856" y="3566160"/>
            <a:ext cx="1298448" cy="777240"/>
          </a:xfrm>
          <a:prstGeom prst="rect">
            <a:avLst/>
          </a:prstGeom>
          <a:noFill/>
          <a:ln/>
        </p:spPr>
        <p:txBody>
          <a:bodyPr wrap="square" lIns="0" tIns="0" rIns="0" bIns="0" rtlCol="0" anchor="t"/>
          <a:lstStyle/>
          <a:p>
            <a:pPr algn="ctr" indent="0" marL="0">
              <a:buNone/>
            </a:pPr>
            <a:r>
              <a:rPr lang="en-US" sz="1300" dirty="0">
                <a:solidFill>
                  <a:schemeClr val="tx1"/>
                </a:solidFill>
              </a:rPr>
              <a:t>YAML + /observe + MQTT</a:t>
            </a:r>
            <a:endParaRPr lang="en-US" sz="1300" dirty="0"/>
          </a:p>
        </p:txBody>
      </p:sp>
      <p:sp>
        <p:nvSpPr>
          <p:cNvPr id="14" name="Shape 12"/>
          <p:cNvSpPr/>
          <p:nvPr/>
        </p:nvSpPr>
        <p:spPr>
          <a:xfrm>
            <a:off x="3675888" y="2377440"/>
            <a:ext cx="137160" cy="914"/>
          </a:xfrm>
          <a:prstGeom prst="line">
            <a:avLst/>
          </a:prstGeom>
          <a:noFill/>
          <a:ln w="22225">
            <a:solidFill>
              <a:srgbClr val="6B7685"/>
            </a:solidFill>
            <a:prstDash val="solid"/>
            <a:tailEnd type="triangle"/>
          </a:ln>
        </p:spPr>
      </p:sp>
      <p:sp>
        <p:nvSpPr>
          <p:cNvPr id="15" name="stage-2"/>
          <p:cNvSpPr/>
          <p:nvPr/>
        </p:nvSpPr>
        <p:spPr>
          <a:xfrm>
            <a:off x="3822192" y="1828800"/>
            <a:ext cx="1481328" cy="2651760"/>
          </a:xfrm>
          <a:prstGeom prst="roundRect">
            <a:avLst>
              <a:gd name="adj" fmla="val 7407"/>
            </a:avLst>
          </a:prstGeom>
          <a:solidFill>
            <a:schemeClr val="bg2"/>
          </a:solidFill>
          <a:ln w="12700">
            <a:solidFill>
              <a:schemeClr val="bg2"/>
            </a:solidFill>
            <a:prstDash val="solid"/>
          </a:ln>
        </p:spPr>
      </p:sp>
      <p:sp>
        <p:nvSpPr>
          <p:cNvPr id="16" name="Shape 14"/>
          <p:cNvSpPr/>
          <p:nvPr/>
        </p:nvSpPr>
        <p:spPr>
          <a:xfrm>
            <a:off x="4288536" y="2103120"/>
            <a:ext cx="548640" cy="548640"/>
          </a:xfrm>
          <a:prstGeom prst="ellipse">
            <a:avLst/>
          </a:prstGeom>
          <a:solidFill>
            <a:schemeClr val="accent4"/>
          </a:solidFill>
          <a:ln w="12700">
            <a:solidFill>
              <a:schemeClr val="accent4"/>
            </a:solidFill>
            <a:prstDash val="solid"/>
          </a:ln>
        </p:spPr>
      </p:sp>
      <p:sp>
        <p:nvSpPr>
          <p:cNvPr id="17" name="Text 15"/>
          <p:cNvSpPr txBox="1"/>
          <p:nvPr/>
        </p:nvSpPr>
        <p:spPr>
          <a:xfrm>
            <a:off x="4288536" y="2103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3913632" y="2788920"/>
            <a:ext cx="1298448" cy="73152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Chaos &amp; controllers</a:t>
            </a:r>
            <a:endParaRPr lang="en-US" sz="1400" dirty="0"/>
          </a:p>
        </p:txBody>
      </p:sp>
      <p:sp>
        <p:nvSpPr>
          <p:cNvPr id="19" name="Text 17"/>
          <p:cNvSpPr txBox="1"/>
          <p:nvPr/>
        </p:nvSpPr>
        <p:spPr>
          <a:xfrm>
            <a:off x="3913632" y="3566160"/>
            <a:ext cx="1298448" cy="777240"/>
          </a:xfrm>
          <a:prstGeom prst="rect">
            <a:avLst/>
          </a:prstGeom>
          <a:noFill/>
          <a:ln/>
        </p:spPr>
        <p:txBody>
          <a:bodyPr wrap="square" lIns="0" tIns="0" rIns="0" bIns="0" rtlCol="0" anchor="t"/>
          <a:lstStyle/>
          <a:p>
            <a:pPr algn="ctr" indent="0" marL="0">
              <a:buNone/>
            </a:pPr>
            <a:r>
              <a:rPr lang="en-US" sz="1300" dirty="0">
                <a:solidFill>
                  <a:schemeClr val="tx1"/>
                </a:solidFill>
              </a:rPr>
              <a:t>Faults, self-healing</a:t>
            </a:r>
            <a:endParaRPr lang="en-US" sz="1300" dirty="0"/>
          </a:p>
        </p:txBody>
      </p:sp>
      <p:sp>
        <p:nvSpPr>
          <p:cNvPr id="20" name="Shape 18"/>
          <p:cNvSpPr/>
          <p:nvPr/>
        </p:nvSpPr>
        <p:spPr>
          <a:xfrm>
            <a:off x="5312664" y="2377440"/>
            <a:ext cx="137160" cy="914"/>
          </a:xfrm>
          <a:prstGeom prst="line">
            <a:avLst/>
          </a:prstGeom>
          <a:noFill/>
          <a:ln w="22225">
            <a:solidFill>
              <a:srgbClr val="6B7685"/>
            </a:solidFill>
            <a:prstDash val="solid"/>
            <a:tailEnd type="triangle"/>
          </a:ln>
        </p:spPr>
      </p:sp>
      <p:sp>
        <p:nvSpPr>
          <p:cNvPr id="21" name="stage-3"/>
          <p:cNvSpPr/>
          <p:nvPr/>
        </p:nvSpPr>
        <p:spPr>
          <a:xfrm>
            <a:off x="5458968" y="1828800"/>
            <a:ext cx="1481328" cy="2651760"/>
          </a:xfrm>
          <a:prstGeom prst="roundRect">
            <a:avLst>
              <a:gd name="adj" fmla="val 7407"/>
            </a:avLst>
          </a:prstGeom>
          <a:solidFill>
            <a:schemeClr val="bg2"/>
          </a:solidFill>
          <a:ln w="12700">
            <a:solidFill>
              <a:schemeClr val="bg2"/>
            </a:solidFill>
            <a:prstDash val="solid"/>
          </a:ln>
        </p:spPr>
      </p:sp>
      <p:sp>
        <p:nvSpPr>
          <p:cNvPr id="22" name="Shape 20"/>
          <p:cNvSpPr/>
          <p:nvPr/>
        </p:nvSpPr>
        <p:spPr>
          <a:xfrm>
            <a:off x="5925312" y="2103120"/>
            <a:ext cx="548640" cy="548640"/>
          </a:xfrm>
          <a:prstGeom prst="ellipse">
            <a:avLst/>
          </a:prstGeom>
          <a:solidFill>
            <a:schemeClr val="accent3"/>
          </a:solidFill>
          <a:ln w="12700">
            <a:solidFill>
              <a:schemeClr val="accent3"/>
            </a:solidFill>
            <a:prstDash val="solid"/>
          </a:ln>
        </p:spPr>
      </p:sp>
      <p:sp>
        <p:nvSpPr>
          <p:cNvPr id="23" name="Text 21"/>
          <p:cNvSpPr txBox="1"/>
          <p:nvPr/>
        </p:nvSpPr>
        <p:spPr>
          <a:xfrm>
            <a:off x="5925312" y="2103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ext 22"/>
          <p:cNvSpPr txBox="1"/>
          <p:nvPr/>
        </p:nvSpPr>
        <p:spPr>
          <a:xfrm>
            <a:off x="5550408" y="2788920"/>
            <a:ext cx="1298448" cy="73152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Predictive analytics</a:t>
            </a:r>
            <a:endParaRPr lang="en-US" sz="1400" dirty="0"/>
          </a:p>
        </p:txBody>
      </p:sp>
      <p:sp>
        <p:nvSpPr>
          <p:cNvPr id="25" name="Text 23"/>
          <p:cNvSpPr txBox="1"/>
          <p:nvPr/>
        </p:nvSpPr>
        <p:spPr>
          <a:xfrm>
            <a:off x="5550408" y="3566160"/>
            <a:ext cx="1298448" cy="777240"/>
          </a:xfrm>
          <a:prstGeom prst="rect">
            <a:avLst/>
          </a:prstGeom>
          <a:noFill/>
          <a:ln/>
        </p:spPr>
        <p:txBody>
          <a:bodyPr wrap="square" lIns="0" tIns="0" rIns="0" bIns="0" rtlCol="0" anchor="t"/>
          <a:lstStyle/>
          <a:p>
            <a:pPr algn="ctr" indent="0" marL="0">
              <a:buNone/>
            </a:pPr>
            <a:r>
              <a:rPr lang="en-US" sz="1300" dirty="0">
                <a:solidFill>
                  <a:schemeClr val="tx1"/>
                </a:solidFill>
              </a:rPr>
              <a:t>Utilisation, thermal risk</a:t>
            </a:r>
            <a:endParaRPr lang="en-US" sz="1300" dirty="0"/>
          </a:p>
        </p:txBody>
      </p:sp>
      <p:sp>
        <p:nvSpPr>
          <p:cNvPr id="26" name="Shape 24"/>
          <p:cNvSpPr/>
          <p:nvPr/>
        </p:nvSpPr>
        <p:spPr>
          <a:xfrm>
            <a:off x="6949440" y="2377440"/>
            <a:ext cx="137160" cy="914"/>
          </a:xfrm>
          <a:prstGeom prst="line">
            <a:avLst/>
          </a:prstGeom>
          <a:noFill/>
          <a:ln w="22225">
            <a:solidFill>
              <a:srgbClr val="6B7685"/>
            </a:solidFill>
            <a:prstDash val="solid"/>
            <a:tailEnd type="triangle"/>
          </a:ln>
        </p:spPr>
      </p:sp>
      <p:sp>
        <p:nvSpPr>
          <p:cNvPr id="27" name="stage-4"/>
          <p:cNvSpPr/>
          <p:nvPr/>
        </p:nvSpPr>
        <p:spPr>
          <a:xfrm>
            <a:off x="7095744" y="1828800"/>
            <a:ext cx="1481328" cy="2651760"/>
          </a:xfrm>
          <a:prstGeom prst="roundRect">
            <a:avLst>
              <a:gd name="adj" fmla="val 7407"/>
            </a:avLst>
          </a:prstGeom>
          <a:solidFill>
            <a:schemeClr val="bg2"/>
          </a:solidFill>
          <a:ln w="12700">
            <a:solidFill>
              <a:schemeClr val="bg2"/>
            </a:solidFill>
            <a:prstDash val="solid"/>
          </a:ln>
        </p:spPr>
      </p:sp>
      <p:sp>
        <p:nvSpPr>
          <p:cNvPr id="28" name="Shape 26"/>
          <p:cNvSpPr/>
          <p:nvPr/>
        </p:nvSpPr>
        <p:spPr>
          <a:xfrm>
            <a:off x="7562088" y="2103120"/>
            <a:ext cx="548640" cy="548640"/>
          </a:xfrm>
          <a:prstGeom prst="ellipse">
            <a:avLst/>
          </a:prstGeom>
          <a:solidFill>
            <a:schemeClr val="accent2"/>
          </a:solidFill>
          <a:ln w="12700">
            <a:solidFill>
              <a:schemeClr val="accent2"/>
            </a:solidFill>
            <a:prstDash val="solid"/>
          </a:ln>
        </p:spPr>
      </p:sp>
      <p:sp>
        <p:nvSpPr>
          <p:cNvPr id="29" name="Text 27"/>
          <p:cNvSpPr txBox="1"/>
          <p:nvPr/>
        </p:nvSpPr>
        <p:spPr>
          <a:xfrm>
            <a:off x="7562088" y="2103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Text 28"/>
          <p:cNvSpPr txBox="1"/>
          <p:nvPr/>
        </p:nvSpPr>
        <p:spPr>
          <a:xfrm>
            <a:off x="7187184" y="2788920"/>
            <a:ext cx="1298448" cy="73152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Multi-strategy planning</a:t>
            </a:r>
            <a:endParaRPr lang="en-US" sz="1400" dirty="0"/>
          </a:p>
        </p:txBody>
      </p:sp>
      <p:sp>
        <p:nvSpPr>
          <p:cNvPr id="31" name="Text 29"/>
          <p:cNvSpPr txBox="1"/>
          <p:nvPr/>
        </p:nvSpPr>
        <p:spPr>
          <a:xfrm>
            <a:off x="7187184" y="3566160"/>
            <a:ext cx="1298448" cy="777240"/>
          </a:xfrm>
          <a:prstGeom prst="rect">
            <a:avLst/>
          </a:prstGeom>
          <a:noFill/>
          <a:ln/>
        </p:spPr>
        <p:txBody>
          <a:bodyPr wrap="square" lIns="0" tIns="0" rIns="0" bIns="0" rtlCol="0" anchor="t"/>
          <a:lstStyle/>
          <a:p>
            <a:pPr algn="ctr" indent="0" marL="0">
              <a:buNone/>
            </a:pPr>
            <a:r>
              <a:rPr lang="en-US" sz="1300" dirty="0">
                <a:solidFill>
                  <a:schemeClr val="tx1"/>
                </a:solidFill>
              </a:rPr>
              <a:t>4 planners, dry-run</a:t>
            </a:r>
            <a:endParaRPr lang="en-US" sz="1300" dirty="0"/>
          </a:p>
        </p:txBody>
      </p:sp>
      <p:sp>
        <p:nvSpPr>
          <p:cNvPr id="32" name="Shape 30"/>
          <p:cNvSpPr/>
          <p:nvPr/>
        </p:nvSpPr>
        <p:spPr>
          <a:xfrm>
            <a:off x="8586216" y="2377440"/>
            <a:ext cx="137160" cy="914"/>
          </a:xfrm>
          <a:prstGeom prst="line">
            <a:avLst/>
          </a:prstGeom>
          <a:noFill/>
          <a:ln w="22225">
            <a:solidFill>
              <a:srgbClr val="6B7685"/>
            </a:solidFill>
            <a:prstDash val="solid"/>
            <a:tailEnd type="triangle"/>
          </a:ln>
        </p:spPr>
      </p:sp>
      <p:sp>
        <p:nvSpPr>
          <p:cNvPr id="33" name="stage-5"/>
          <p:cNvSpPr/>
          <p:nvPr/>
        </p:nvSpPr>
        <p:spPr>
          <a:xfrm>
            <a:off x="8732520" y="1828800"/>
            <a:ext cx="1481328" cy="2651760"/>
          </a:xfrm>
          <a:prstGeom prst="roundRect">
            <a:avLst>
              <a:gd name="adj" fmla="val 7407"/>
            </a:avLst>
          </a:prstGeom>
          <a:solidFill>
            <a:schemeClr val="bg2"/>
          </a:solidFill>
          <a:ln w="12700">
            <a:solidFill>
              <a:schemeClr val="bg2"/>
            </a:solidFill>
            <a:prstDash val="solid"/>
          </a:ln>
        </p:spPr>
      </p:sp>
      <p:sp>
        <p:nvSpPr>
          <p:cNvPr id="34" name="Shape 32"/>
          <p:cNvSpPr/>
          <p:nvPr/>
        </p:nvSpPr>
        <p:spPr>
          <a:xfrm>
            <a:off x="9198864" y="2103120"/>
            <a:ext cx="548640" cy="548640"/>
          </a:xfrm>
          <a:prstGeom prst="ellipse">
            <a:avLst/>
          </a:prstGeom>
          <a:solidFill>
            <a:schemeClr val="accent5"/>
          </a:solidFill>
          <a:ln w="12700">
            <a:solidFill>
              <a:schemeClr val="accent5"/>
            </a:solidFill>
            <a:prstDash val="solid"/>
          </a:ln>
        </p:spPr>
      </p:sp>
      <p:sp>
        <p:nvSpPr>
          <p:cNvPr id="35" name="Text 33"/>
          <p:cNvSpPr txBox="1"/>
          <p:nvPr/>
        </p:nvSpPr>
        <p:spPr>
          <a:xfrm>
            <a:off x="9198864" y="2103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6" name="Text 34"/>
          <p:cNvSpPr txBox="1"/>
          <p:nvPr/>
        </p:nvSpPr>
        <p:spPr>
          <a:xfrm>
            <a:off x="8823960" y="2788920"/>
            <a:ext cx="1298448" cy="73152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What-if &amp; blast radius</a:t>
            </a:r>
            <a:endParaRPr lang="en-US" sz="1400" dirty="0"/>
          </a:p>
        </p:txBody>
      </p:sp>
      <p:sp>
        <p:nvSpPr>
          <p:cNvPr id="37" name="Text 35"/>
          <p:cNvSpPr txBox="1"/>
          <p:nvPr/>
        </p:nvSpPr>
        <p:spPr>
          <a:xfrm>
            <a:off x="8823960" y="3566160"/>
            <a:ext cx="1298448" cy="777240"/>
          </a:xfrm>
          <a:prstGeom prst="rect">
            <a:avLst/>
          </a:prstGeom>
          <a:noFill/>
          <a:ln/>
        </p:spPr>
        <p:txBody>
          <a:bodyPr wrap="square" lIns="0" tIns="0" rIns="0" bIns="0" rtlCol="0" anchor="t"/>
          <a:lstStyle/>
          <a:p>
            <a:pPr algn="ctr" indent="0" marL="0">
              <a:buNone/>
            </a:pPr>
            <a:r>
              <a:rPr lang="en-US" sz="1300" dirty="0">
                <a:solidFill>
                  <a:schemeClr val="tx1"/>
                </a:solidFill>
              </a:rPr>
              <a:t>Monte-Carlo, capacity</a:t>
            </a:r>
            <a:endParaRPr lang="en-US" sz="1300" dirty="0"/>
          </a:p>
        </p:txBody>
      </p:sp>
      <p:sp>
        <p:nvSpPr>
          <p:cNvPr id="38" name="Shape 36"/>
          <p:cNvSpPr/>
          <p:nvPr/>
        </p:nvSpPr>
        <p:spPr>
          <a:xfrm>
            <a:off x="10222992" y="2377440"/>
            <a:ext cx="137160" cy="914"/>
          </a:xfrm>
          <a:prstGeom prst="line">
            <a:avLst/>
          </a:prstGeom>
          <a:noFill/>
          <a:ln w="22225">
            <a:solidFill>
              <a:srgbClr val="6B7685"/>
            </a:solidFill>
            <a:prstDash val="solid"/>
            <a:tailEnd type="triangle"/>
          </a:ln>
        </p:spPr>
      </p:sp>
      <p:sp>
        <p:nvSpPr>
          <p:cNvPr id="39" name="stage-6"/>
          <p:cNvSpPr/>
          <p:nvPr/>
        </p:nvSpPr>
        <p:spPr>
          <a:xfrm>
            <a:off x="10369296" y="1828800"/>
            <a:ext cx="1481328" cy="2651760"/>
          </a:xfrm>
          <a:prstGeom prst="roundRect">
            <a:avLst>
              <a:gd name="adj" fmla="val 7407"/>
            </a:avLst>
          </a:prstGeom>
          <a:solidFill>
            <a:schemeClr val="bg2"/>
          </a:solidFill>
          <a:ln w="12700">
            <a:solidFill>
              <a:schemeClr val="bg2"/>
            </a:solidFill>
            <a:prstDash val="solid"/>
          </a:ln>
        </p:spPr>
      </p:sp>
      <p:sp>
        <p:nvSpPr>
          <p:cNvPr id="40" name="Shape 38"/>
          <p:cNvSpPr/>
          <p:nvPr/>
        </p:nvSpPr>
        <p:spPr>
          <a:xfrm>
            <a:off x="10835640" y="2103120"/>
            <a:ext cx="548640" cy="548640"/>
          </a:xfrm>
          <a:prstGeom prst="ellipse">
            <a:avLst/>
          </a:prstGeom>
          <a:solidFill>
            <a:schemeClr val="accent6"/>
          </a:solidFill>
          <a:ln w="12700">
            <a:solidFill>
              <a:schemeClr val="accent6"/>
            </a:solidFill>
            <a:prstDash val="solid"/>
          </a:ln>
        </p:spPr>
      </p:sp>
      <p:sp>
        <p:nvSpPr>
          <p:cNvPr id="41" name="Text 39"/>
          <p:cNvSpPr txBox="1"/>
          <p:nvPr/>
        </p:nvSpPr>
        <p:spPr>
          <a:xfrm>
            <a:off x="10835640" y="2103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42" name="Text 40"/>
          <p:cNvSpPr txBox="1"/>
          <p:nvPr/>
        </p:nvSpPr>
        <p:spPr>
          <a:xfrm>
            <a:off x="10460736" y="2788920"/>
            <a:ext cx="1298448" cy="73152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Visualise &amp; export</a:t>
            </a:r>
            <a:endParaRPr lang="en-US" sz="1400" dirty="0"/>
          </a:p>
        </p:txBody>
      </p:sp>
      <p:sp>
        <p:nvSpPr>
          <p:cNvPr id="43" name="Text 41"/>
          <p:cNvSpPr txBox="1"/>
          <p:nvPr/>
        </p:nvSpPr>
        <p:spPr>
          <a:xfrm>
            <a:off x="10460736" y="3566160"/>
            <a:ext cx="1298448" cy="777240"/>
          </a:xfrm>
          <a:prstGeom prst="rect">
            <a:avLst/>
          </a:prstGeom>
          <a:noFill/>
          <a:ln/>
        </p:spPr>
        <p:txBody>
          <a:bodyPr wrap="square" lIns="0" tIns="0" rIns="0" bIns="0" rtlCol="0" anchor="t"/>
          <a:lstStyle/>
          <a:p>
            <a:pPr algn="ctr" indent="0" marL="0">
              <a:buNone/>
            </a:pPr>
            <a:r>
              <a:rPr lang="en-US" sz="1300" dirty="0">
                <a:solidFill>
                  <a:schemeClr val="tx1"/>
                </a:solidFill>
              </a:rPr>
              <a:t>Dashboard, DTDL, K8s CRD</a:t>
            </a:r>
            <a:endParaRPr lang="en-US" sz="1300" dirty="0"/>
          </a:p>
        </p:txBody>
      </p:sp>
      <p:sp>
        <p:nvSpPr>
          <p:cNvPr id="44" name="Shape 42"/>
          <p:cNvSpPr/>
          <p:nvPr/>
        </p:nvSpPr>
        <p:spPr>
          <a:xfrm>
            <a:off x="11109960" y="4480560"/>
            <a:ext cx="914" cy="411480"/>
          </a:xfrm>
          <a:prstGeom prst="line">
            <a:avLst/>
          </a:prstGeom>
          <a:noFill/>
          <a:ln w="22225">
            <a:solidFill>
              <a:schemeClr val="accent1"/>
            </a:solidFill>
            <a:prstDash val="dash"/>
          </a:ln>
        </p:spPr>
      </p:sp>
      <p:sp>
        <p:nvSpPr>
          <p:cNvPr id="45" name="Shape 43"/>
          <p:cNvSpPr/>
          <p:nvPr/>
        </p:nvSpPr>
        <p:spPr>
          <a:xfrm>
            <a:off x="1289304" y="4892040"/>
            <a:ext cx="9820656" cy="914"/>
          </a:xfrm>
          <a:prstGeom prst="line">
            <a:avLst/>
          </a:prstGeom>
          <a:noFill/>
          <a:ln w="22225">
            <a:solidFill>
              <a:schemeClr val="accent1"/>
            </a:solidFill>
            <a:prstDash val="dash"/>
          </a:ln>
        </p:spPr>
      </p:sp>
      <p:sp>
        <p:nvSpPr>
          <p:cNvPr id="46" name="Shape 44"/>
          <p:cNvSpPr/>
          <p:nvPr/>
        </p:nvSpPr>
        <p:spPr>
          <a:xfrm flipV="1">
            <a:off x="1289304" y="4498848"/>
            <a:ext cx="914" cy="393192"/>
          </a:xfrm>
          <a:prstGeom prst="line">
            <a:avLst/>
          </a:prstGeom>
          <a:noFill/>
          <a:ln w="22225">
            <a:solidFill>
              <a:schemeClr val="accent1"/>
            </a:solidFill>
            <a:prstDash val="dash"/>
            <a:tailEnd type="triangle"/>
          </a:ln>
        </p:spPr>
      </p:sp>
      <p:sp>
        <p:nvSpPr>
          <p:cNvPr id="47" name="Text 45"/>
          <p:cNvSpPr txBox="1"/>
          <p:nvPr/>
        </p:nvSpPr>
        <p:spPr>
          <a:xfrm>
            <a:off x="1563624" y="5001768"/>
            <a:ext cx="8229600" cy="365760"/>
          </a:xfrm>
          <a:prstGeom prst="rect">
            <a:avLst/>
          </a:prstGeom>
          <a:noFill/>
          <a:ln/>
        </p:spPr>
        <p:txBody>
          <a:bodyPr wrap="square" lIns="0" tIns="0" rIns="0" bIns="0" rtlCol="0" anchor="t"/>
          <a:lstStyle/>
          <a:p>
            <a:pPr indent="0" marL="0">
              <a:buNone/>
            </a:pPr>
            <a:r>
              <a:rPr lang="en-US" sz="1400" i="1" dirty="0">
                <a:solidFill>
                  <a:schemeClr val="accent1"/>
                </a:solidFill>
              </a:rPr>
              <a:t>Results and new telemetry feed back into the twin; the loop never stops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Architecture: five modules around one state engine</a:t>
            </a:r>
            <a:endParaRPr lang="en-US" sz="3200" dirty="0"/>
          </a:p>
        </p:txBody>
      </p:sp>
      <p:sp>
        <p:nvSpPr>
          <p:cNvPr id="3" name="Shape 1"/>
          <p:cNvSpPr/>
          <p:nvPr/>
        </p:nvSpPr>
        <p:spPr>
          <a:xfrm>
            <a:off x="548640" y="1371600"/>
            <a:ext cx="3291840" cy="2880360"/>
          </a:xfrm>
          <a:prstGeom prst="roundRect">
            <a:avLst>
              <a:gd name="adj" fmla="val 3175"/>
            </a:avLst>
          </a:prstGeom>
          <a:solidFill>
            <a:srgbClr val="B03A2E">
              <a:alpha val="10000"/>
            </a:srgbClr>
          </a:solidFill>
          <a:ln w="15875">
            <a:solidFill>
              <a:srgbClr val="B03A2E"/>
            </a:solidFill>
            <a:prstDash val="solid"/>
          </a:ln>
        </p:spPr>
      </p:sp>
      <p:sp>
        <p:nvSpPr>
          <p:cNvPr id="4" name="Text 2"/>
          <p:cNvSpPr txBox="1"/>
          <p:nvPr/>
        </p:nvSpPr>
        <p:spPr>
          <a:xfrm>
            <a:off x="685800" y="1463040"/>
            <a:ext cx="3017520" cy="320040"/>
          </a:xfrm>
          <a:prstGeom prst="rect">
            <a:avLst/>
          </a:prstGeom>
          <a:noFill/>
          <a:ln/>
        </p:spPr>
        <p:txBody>
          <a:bodyPr wrap="square" lIns="0" tIns="0" rIns="0" bIns="0" rtlCol="0" anchor="t"/>
          <a:lstStyle/>
          <a:p>
            <a:pPr indent="0" marL="0">
              <a:buNone/>
            </a:pPr>
            <a:r>
              <a:rPr lang="en-US" sz="1400" b="1" dirty="0">
                <a:solidFill>
                  <a:srgbClr val="B03A2E"/>
                </a:solidFill>
                <a:latin typeface="Arial" pitchFamily="34" charset="0"/>
                <a:ea typeface="Arial" pitchFamily="34" charset="-122"/>
                <a:cs typeface="Arial" pitchFamily="34" charset="-120"/>
              </a:rPr>
              <a:t>Digital twin state engine</a:t>
            </a:r>
            <a:endParaRPr lang="en-US" sz="1400" dirty="0"/>
          </a:p>
        </p:txBody>
      </p:sp>
      <p:sp>
        <p:nvSpPr>
          <p:cNvPr id="5" name="Shape 3"/>
          <p:cNvSpPr/>
          <p:nvPr/>
        </p:nvSpPr>
        <p:spPr>
          <a:xfrm>
            <a:off x="685800" y="1874520"/>
            <a:ext cx="3017520" cy="347472"/>
          </a:xfrm>
          <a:prstGeom prst="roundRect">
            <a:avLst>
              <a:gd name="adj" fmla="val 15789"/>
            </a:avLst>
          </a:prstGeom>
          <a:solidFill>
            <a:schemeClr val="bg1"/>
          </a:solidFill>
          <a:ln w="9525">
            <a:solidFill>
              <a:srgbClr val="B03A2E"/>
            </a:solidFill>
            <a:prstDash val="solid"/>
          </a:ln>
        </p:spPr>
      </p:sp>
      <p:sp>
        <p:nvSpPr>
          <p:cNvPr id="6" name="Text 4"/>
          <p:cNvSpPr txBox="1"/>
          <p:nvPr/>
        </p:nvSpPr>
        <p:spPr>
          <a:xfrm>
            <a:off x="777240" y="1874520"/>
            <a:ext cx="2834640" cy="347472"/>
          </a:xfrm>
          <a:prstGeom prst="rect">
            <a:avLst/>
          </a:prstGeom>
          <a:noFill/>
          <a:ln/>
        </p:spPr>
        <p:txBody>
          <a:bodyPr wrap="square" lIns="0" tIns="0" rIns="0" bIns="0" rtlCol="0" anchor="ctr"/>
          <a:lstStyle/>
          <a:p>
            <a:pPr indent="0" marL="0">
              <a:buNone/>
            </a:pPr>
            <a:r>
              <a:rPr lang="en-US" sz="1200" dirty="0">
                <a:solidFill>
                  <a:schemeClr val="tx1"/>
                </a:solidFill>
              </a:rPr>
              <a:t>DTState (single source of truth)</a:t>
            </a:r>
            <a:endParaRPr lang="en-US" sz="1200" dirty="0"/>
          </a:p>
        </p:txBody>
      </p:sp>
      <p:sp>
        <p:nvSpPr>
          <p:cNvPr id="7" name="Shape 5"/>
          <p:cNvSpPr/>
          <p:nvPr/>
        </p:nvSpPr>
        <p:spPr>
          <a:xfrm>
            <a:off x="685800" y="2304288"/>
            <a:ext cx="3017520" cy="347472"/>
          </a:xfrm>
          <a:prstGeom prst="roundRect">
            <a:avLst>
              <a:gd name="adj" fmla="val 15789"/>
            </a:avLst>
          </a:prstGeom>
          <a:solidFill>
            <a:schemeClr val="bg1"/>
          </a:solidFill>
          <a:ln w="9525">
            <a:solidFill>
              <a:srgbClr val="B03A2E"/>
            </a:solidFill>
            <a:prstDash val="solid"/>
          </a:ln>
        </p:spPr>
      </p:sp>
      <p:sp>
        <p:nvSpPr>
          <p:cNvPr id="8" name="Text 6"/>
          <p:cNvSpPr txBox="1"/>
          <p:nvPr/>
        </p:nvSpPr>
        <p:spPr>
          <a:xfrm>
            <a:off x="777240" y="2304288"/>
            <a:ext cx="2834640" cy="347472"/>
          </a:xfrm>
          <a:prstGeom prst="rect">
            <a:avLst/>
          </a:prstGeom>
          <a:noFill/>
          <a:ln/>
        </p:spPr>
        <p:txBody>
          <a:bodyPr wrap="square" lIns="0" tIns="0" rIns="0" bIns="0" rtlCol="0" anchor="ctr"/>
          <a:lstStyle/>
          <a:p>
            <a:pPr indent="0" marL="0">
              <a:buNone/>
            </a:pPr>
            <a:r>
              <a:rPr lang="en-US" sz="1200" dirty="0">
                <a:solidFill>
                  <a:schemeClr val="tx1"/>
                </a:solidFill>
              </a:rPr>
              <a:t>Static asset ingestion (YAML)</a:t>
            </a:r>
            <a:endParaRPr lang="en-US" sz="1200" dirty="0"/>
          </a:p>
        </p:txBody>
      </p:sp>
      <p:sp>
        <p:nvSpPr>
          <p:cNvPr id="9" name="Shape 7"/>
          <p:cNvSpPr/>
          <p:nvPr/>
        </p:nvSpPr>
        <p:spPr>
          <a:xfrm>
            <a:off x="685800" y="2734056"/>
            <a:ext cx="3017520" cy="347472"/>
          </a:xfrm>
          <a:prstGeom prst="roundRect">
            <a:avLst>
              <a:gd name="adj" fmla="val 15789"/>
            </a:avLst>
          </a:prstGeom>
          <a:solidFill>
            <a:schemeClr val="bg1"/>
          </a:solidFill>
          <a:ln w="9525">
            <a:solidFill>
              <a:srgbClr val="B03A2E"/>
            </a:solidFill>
            <a:prstDash val="solid"/>
          </a:ln>
        </p:spPr>
      </p:sp>
      <p:sp>
        <p:nvSpPr>
          <p:cNvPr id="10" name="Text 8"/>
          <p:cNvSpPr txBox="1"/>
          <p:nvPr/>
        </p:nvSpPr>
        <p:spPr>
          <a:xfrm>
            <a:off x="777240" y="2734056"/>
            <a:ext cx="2834640" cy="347472"/>
          </a:xfrm>
          <a:prstGeom prst="rect">
            <a:avLst/>
          </a:prstGeom>
          <a:noFill/>
          <a:ln/>
        </p:spPr>
        <p:txBody>
          <a:bodyPr wrap="square" lIns="0" tIns="0" rIns="0" bIns="0" rtlCol="0" anchor="ctr"/>
          <a:lstStyle/>
          <a:p>
            <a:pPr indent="0" marL="0">
              <a:buNone/>
            </a:pPr>
            <a:r>
              <a:rPr lang="en-US" sz="1200" dirty="0">
                <a:solidFill>
                  <a:schemeClr val="tx1"/>
                </a:solidFill>
              </a:rPr>
              <a:t>Hot-reloading watchers</a:t>
            </a:r>
            <a:endParaRPr lang="en-US" sz="1200" dirty="0"/>
          </a:p>
        </p:txBody>
      </p:sp>
      <p:sp>
        <p:nvSpPr>
          <p:cNvPr id="11" name="Shape 9"/>
          <p:cNvSpPr/>
          <p:nvPr/>
        </p:nvSpPr>
        <p:spPr>
          <a:xfrm>
            <a:off x="685800" y="3163824"/>
            <a:ext cx="3017520" cy="347472"/>
          </a:xfrm>
          <a:prstGeom prst="roundRect">
            <a:avLst>
              <a:gd name="adj" fmla="val 15789"/>
            </a:avLst>
          </a:prstGeom>
          <a:solidFill>
            <a:schemeClr val="bg1"/>
          </a:solidFill>
          <a:ln w="9525">
            <a:solidFill>
              <a:srgbClr val="B03A2E"/>
            </a:solidFill>
            <a:prstDash val="solid"/>
          </a:ln>
        </p:spPr>
      </p:sp>
      <p:sp>
        <p:nvSpPr>
          <p:cNvPr id="12" name="Text 10"/>
          <p:cNvSpPr txBox="1"/>
          <p:nvPr/>
        </p:nvSpPr>
        <p:spPr>
          <a:xfrm>
            <a:off x="777240" y="3163824"/>
            <a:ext cx="2834640" cy="347472"/>
          </a:xfrm>
          <a:prstGeom prst="rect">
            <a:avLst/>
          </a:prstGeom>
          <a:noFill/>
          <a:ln/>
        </p:spPr>
        <p:txBody>
          <a:bodyPr wrap="square" lIns="0" tIns="0" rIns="0" bIns="0" rtlCol="0" anchor="ctr"/>
          <a:lstStyle/>
          <a:p>
            <a:pPr indent="0" marL="0">
              <a:buNone/>
            </a:pPr>
            <a:r>
              <a:rPr lang="en-US" sz="1200" dirty="0">
                <a:solidFill>
                  <a:schemeClr val="tx1"/>
                </a:solidFill>
              </a:rPr>
              <a:t>Live telemetry  ·  /observe</a:t>
            </a:r>
            <a:endParaRPr lang="en-US" sz="1200" dirty="0"/>
          </a:p>
        </p:txBody>
      </p:sp>
      <p:sp>
        <p:nvSpPr>
          <p:cNvPr id="13" name="Shape 11"/>
          <p:cNvSpPr/>
          <p:nvPr/>
        </p:nvSpPr>
        <p:spPr>
          <a:xfrm>
            <a:off x="685800" y="3593592"/>
            <a:ext cx="3017520" cy="347472"/>
          </a:xfrm>
          <a:prstGeom prst="roundRect">
            <a:avLst>
              <a:gd name="adj" fmla="val 15789"/>
            </a:avLst>
          </a:prstGeom>
          <a:solidFill>
            <a:schemeClr val="bg1"/>
          </a:solidFill>
          <a:ln w="9525">
            <a:solidFill>
              <a:srgbClr val="B03A2E"/>
            </a:solidFill>
            <a:prstDash val="solid"/>
          </a:ln>
        </p:spPr>
      </p:sp>
      <p:sp>
        <p:nvSpPr>
          <p:cNvPr id="14" name="Text 12"/>
          <p:cNvSpPr txBox="1"/>
          <p:nvPr/>
        </p:nvSpPr>
        <p:spPr>
          <a:xfrm>
            <a:off x="777240" y="3593592"/>
            <a:ext cx="2834640" cy="347472"/>
          </a:xfrm>
          <a:prstGeom prst="rect">
            <a:avLst/>
          </a:prstGeom>
          <a:noFill/>
          <a:ln/>
        </p:spPr>
        <p:txBody>
          <a:bodyPr wrap="square" lIns="0" tIns="0" rIns="0" bIns="0" rtlCol="0" anchor="ctr"/>
          <a:lstStyle/>
          <a:p>
            <a:pPr indent="0" marL="0">
              <a:buNone/>
            </a:pPr>
            <a:r>
              <a:rPr lang="en-US" sz="1200" dirty="0">
                <a:solidFill>
                  <a:schemeClr val="tx1"/>
                </a:solidFill>
              </a:rPr>
              <a:t>MQTT ingestion  (new)</a:t>
            </a:r>
            <a:endParaRPr lang="en-US" sz="1200" dirty="0"/>
          </a:p>
        </p:txBody>
      </p:sp>
      <p:sp>
        <p:nvSpPr>
          <p:cNvPr id="15" name="Shape 13"/>
          <p:cNvSpPr/>
          <p:nvPr/>
        </p:nvSpPr>
        <p:spPr>
          <a:xfrm>
            <a:off x="4160520" y="1371600"/>
            <a:ext cx="3566160" cy="2880360"/>
          </a:xfrm>
          <a:prstGeom prst="roundRect">
            <a:avLst>
              <a:gd name="adj" fmla="val 3175"/>
            </a:avLst>
          </a:prstGeom>
          <a:solidFill>
            <a:srgbClr val="1E7A6E">
              <a:alpha val="10000"/>
            </a:srgbClr>
          </a:solidFill>
          <a:ln w="15875">
            <a:solidFill>
              <a:srgbClr val="1E7A6E"/>
            </a:solidFill>
            <a:prstDash val="solid"/>
          </a:ln>
        </p:spPr>
      </p:sp>
      <p:sp>
        <p:nvSpPr>
          <p:cNvPr id="16" name="Text 14"/>
          <p:cNvSpPr txBox="1"/>
          <p:nvPr/>
        </p:nvSpPr>
        <p:spPr>
          <a:xfrm>
            <a:off x="4297680" y="1463040"/>
            <a:ext cx="3291840" cy="320040"/>
          </a:xfrm>
          <a:prstGeom prst="rect">
            <a:avLst/>
          </a:prstGeom>
          <a:noFill/>
          <a:ln/>
        </p:spPr>
        <p:txBody>
          <a:bodyPr wrap="square" lIns="0" tIns="0" rIns="0" bIns="0" rtlCol="0" anchor="t"/>
          <a:lstStyle/>
          <a:p>
            <a:pPr indent="0" marL="0">
              <a:buNone/>
            </a:pPr>
            <a:r>
              <a:rPr lang="en-US" sz="1400" b="1" dirty="0">
                <a:solidFill>
                  <a:srgbClr val="1E7A6E"/>
                </a:solidFill>
                <a:latin typeface="Arial" pitchFamily="34" charset="0"/>
                <a:ea typeface="Arial" pitchFamily="34" charset="-122"/>
                <a:cs typeface="Arial" pitchFamily="34" charset="-120"/>
              </a:rPr>
              <a:t>Multi-strategy planner</a:t>
            </a:r>
            <a:endParaRPr lang="en-US" sz="1400" dirty="0"/>
          </a:p>
        </p:txBody>
      </p:sp>
      <p:sp>
        <p:nvSpPr>
          <p:cNvPr id="17" name="Shape 15"/>
          <p:cNvSpPr/>
          <p:nvPr/>
        </p:nvSpPr>
        <p:spPr>
          <a:xfrm>
            <a:off x="4297680" y="1874520"/>
            <a:ext cx="3291840" cy="347472"/>
          </a:xfrm>
          <a:prstGeom prst="roundRect">
            <a:avLst>
              <a:gd name="adj" fmla="val 15789"/>
            </a:avLst>
          </a:prstGeom>
          <a:solidFill>
            <a:schemeClr val="bg1"/>
          </a:solidFill>
          <a:ln w="9525">
            <a:solidFill>
              <a:srgbClr val="1E7A6E"/>
            </a:solidFill>
            <a:prstDash val="solid"/>
          </a:ln>
        </p:spPr>
      </p:sp>
      <p:sp>
        <p:nvSpPr>
          <p:cNvPr id="18" name="Text 16"/>
          <p:cNvSpPr txBox="1"/>
          <p:nvPr/>
        </p:nvSpPr>
        <p:spPr>
          <a:xfrm>
            <a:off x="4389120" y="1874520"/>
            <a:ext cx="3108960" cy="347472"/>
          </a:xfrm>
          <a:prstGeom prst="rect">
            <a:avLst/>
          </a:prstGeom>
          <a:noFill/>
          <a:ln/>
        </p:spPr>
        <p:txBody>
          <a:bodyPr wrap="square" lIns="0" tIns="0" rIns="0" bIns="0" rtlCol="0" anchor="ctr"/>
          <a:lstStyle/>
          <a:p>
            <a:pPr indent="0" marL="0">
              <a:buNone/>
            </a:pPr>
            <a:r>
              <a:rPr lang="en-US" sz="1200" dirty="0">
                <a:solidFill>
                  <a:schemeClr val="tx1"/>
                </a:solidFill>
              </a:rPr>
              <a:t>Workload DAG parser</a:t>
            </a:r>
            <a:endParaRPr lang="en-US" sz="1200" dirty="0"/>
          </a:p>
        </p:txBody>
      </p:sp>
      <p:sp>
        <p:nvSpPr>
          <p:cNvPr id="19" name="Shape 17"/>
          <p:cNvSpPr/>
          <p:nvPr/>
        </p:nvSpPr>
        <p:spPr>
          <a:xfrm>
            <a:off x="4297680" y="2304288"/>
            <a:ext cx="3291840" cy="347472"/>
          </a:xfrm>
          <a:prstGeom prst="roundRect">
            <a:avLst>
              <a:gd name="adj" fmla="val 15789"/>
            </a:avLst>
          </a:prstGeom>
          <a:solidFill>
            <a:schemeClr val="bg1"/>
          </a:solidFill>
          <a:ln w="9525">
            <a:solidFill>
              <a:srgbClr val="1E7A6E"/>
            </a:solidFill>
            <a:prstDash val="solid"/>
          </a:ln>
        </p:spPr>
      </p:sp>
      <p:sp>
        <p:nvSpPr>
          <p:cNvPr id="20" name="Text 18"/>
          <p:cNvSpPr txBox="1"/>
          <p:nvPr/>
        </p:nvSpPr>
        <p:spPr>
          <a:xfrm>
            <a:off x="4389120" y="2304288"/>
            <a:ext cx="3108960" cy="347472"/>
          </a:xfrm>
          <a:prstGeom prst="rect">
            <a:avLst/>
          </a:prstGeom>
          <a:noFill/>
          <a:ln/>
        </p:spPr>
        <p:txBody>
          <a:bodyPr wrap="square" lIns="0" tIns="0" rIns="0" bIns="0" rtlCol="0" anchor="ctr"/>
          <a:lstStyle/>
          <a:p>
            <a:pPr indent="0" marL="0">
              <a:buNone/>
            </a:pPr>
            <a:r>
              <a:rPr lang="en-US" sz="1200" dirty="0">
                <a:solidFill>
                  <a:schemeClr val="tx1"/>
                </a:solidFill>
              </a:rPr>
              <a:t>Greedy  /  Cheapest-Energy</a:t>
            </a:r>
            <a:endParaRPr lang="en-US" sz="1200" dirty="0"/>
          </a:p>
        </p:txBody>
      </p:sp>
      <p:sp>
        <p:nvSpPr>
          <p:cNvPr id="21" name="Shape 19"/>
          <p:cNvSpPr/>
          <p:nvPr/>
        </p:nvSpPr>
        <p:spPr>
          <a:xfrm>
            <a:off x="4297680" y="2734056"/>
            <a:ext cx="3291840" cy="347472"/>
          </a:xfrm>
          <a:prstGeom prst="roundRect">
            <a:avLst>
              <a:gd name="adj" fmla="val 15789"/>
            </a:avLst>
          </a:prstGeom>
          <a:solidFill>
            <a:schemeClr val="bg1"/>
          </a:solidFill>
          <a:ln w="9525">
            <a:solidFill>
              <a:srgbClr val="1E7A6E"/>
            </a:solidFill>
            <a:prstDash val="solid"/>
          </a:ln>
        </p:spPr>
      </p:sp>
      <p:sp>
        <p:nvSpPr>
          <p:cNvPr id="22" name="Text 20"/>
          <p:cNvSpPr txBox="1"/>
          <p:nvPr/>
        </p:nvSpPr>
        <p:spPr>
          <a:xfrm>
            <a:off x="4389120" y="2734056"/>
            <a:ext cx="3108960" cy="347472"/>
          </a:xfrm>
          <a:prstGeom prst="rect">
            <a:avLst/>
          </a:prstGeom>
          <a:noFill/>
          <a:ln/>
        </p:spPr>
        <p:txBody>
          <a:bodyPr wrap="square" lIns="0" tIns="0" rIns="0" bIns="0" rtlCol="0" anchor="ctr"/>
          <a:lstStyle/>
          <a:p>
            <a:pPr indent="0" marL="0">
              <a:buNone/>
            </a:pPr>
            <a:r>
              <a:rPr lang="en-US" sz="1200" dirty="0">
                <a:solidFill>
                  <a:schemeClr val="tx1"/>
                </a:solidFill>
              </a:rPr>
              <a:t>Resilient  /  Federated</a:t>
            </a:r>
            <a:endParaRPr lang="en-US" sz="1200" dirty="0"/>
          </a:p>
        </p:txBody>
      </p:sp>
      <p:sp>
        <p:nvSpPr>
          <p:cNvPr id="23" name="Shape 21"/>
          <p:cNvSpPr/>
          <p:nvPr/>
        </p:nvSpPr>
        <p:spPr>
          <a:xfrm>
            <a:off x="4297680" y="3163824"/>
            <a:ext cx="3291840" cy="347472"/>
          </a:xfrm>
          <a:prstGeom prst="roundRect">
            <a:avLst>
              <a:gd name="adj" fmla="val 15789"/>
            </a:avLst>
          </a:prstGeom>
          <a:solidFill>
            <a:schemeClr val="bg1"/>
          </a:solidFill>
          <a:ln w="9525">
            <a:solidFill>
              <a:srgbClr val="1E7A6E"/>
            </a:solidFill>
            <a:prstDash val="solid"/>
          </a:ln>
        </p:spPr>
      </p:sp>
      <p:sp>
        <p:nvSpPr>
          <p:cNvPr id="24" name="Text 22"/>
          <p:cNvSpPr txBox="1"/>
          <p:nvPr/>
        </p:nvSpPr>
        <p:spPr>
          <a:xfrm>
            <a:off x="4389120" y="3163824"/>
            <a:ext cx="3108960" cy="347472"/>
          </a:xfrm>
          <a:prstGeom prst="rect">
            <a:avLst/>
          </a:prstGeom>
          <a:noFill/>
          <a:ln/>
        </p:spPr>
        <p:txBody>
          <a:bodyPr wrap="square" lIns="0" tIns="0" rIns="0" bIns="0" rtlCol="0" anchor="ctr"/>
          <a:lstStyle/>
          <a:p>
            <a:pPr indent="0" marL="0">
              <a:buNone/>
            </a:pPr>
            <a:r>
              <a:rPr lang="en-US" sz="1200" dirty="0">
                <a:solidFill>
                  <a:schemeClr val="tx1"/>
                </a:solidFill>
              </a:rPr>
              <a:t>RL-Markov (MDP + Q-learning)</a:t>
            </a:r>
            <a:endParaRPr lang="en-US" sz="1200" dirty="0"/>
          </a:p>
        </p:txBody>
      </p:sp>
      <p:sp>
        <p:nvSpPr>
          <p:cNvPr id="25" name="Shape 23"/>
          <p:cNvSpPr/>
          <p:nvPr/>
        </p:nvSpPr>
        <p:spPr>
          <a:xfrm>
            <a:off x="4297680" y="3593592"/>
            <a:ext cx="3291840" cy="347472"/>
          </a:xfrm>
          <a:prstGeom prst="roundRect">
            <a:avLst>
              <a:gd name="adj" fmla="val 15789"/>
            </a:avLst>
          </a:prstGeom>
          <a:solidFill>
            <a:schemeClr val="bg1"/>
          </a:solidFill>
          <a:ln w="9525">
            <a:solidFill>
              <a:srgbClr val="1E7A6E"/>
            </a:solidFill>
            <a:prstDash val="solid"/>
          </a:ln>
        </p:spPr>
      </p:sp>
      <p:sp>
        <p:nvSpPr>
          <p:cNvPr id="26" name="Text 24"/>
          <p:cNvSpPr txBox="1"/>
          <p:nvPr/>
        </p:nvSpPr>
        <p:spPr>
          <a:xfrm>
            <a:off x="4389120" y="3593592"/>
            <a:ext cx="3108960" cy="347472"/>
          </a:xfrm>
          <a:prstGeom prst="rect">
            <a:avLst/>
          </a:prstGeom>
          <a:noFill/>
          <a:ln/>
        </p:spPr>
        <p:txBody>
          <a:bodyPr wrap="square" lIns="0" tIns="0" rIns="0" bIns="0" rtlCol="0" anchor="ctr"/>
          <a:lstStyle/>
          <a:p>
            <a:pPr indent="0" marL="0">
              <a:buNone/>
            </a:pPr>
            <a:r>
              <a:rPr lang="en-US" sz="1200" dirty="0">
                <a:solidFill>
                  <a:schemeClr val="tx1"/>
                </a:solidFill>
              </a:rPr>
              <a:t>GPU-aware provisioning  (new)</a:t>
            </a:r>
            <a:endParaRPr lang="en-US" sz="1200" dirty="0"/>
          </a:p>
        </p:txBody>
      </p:sp>
      <p:sp>
        <p:nvSpPr>
          <p:cNvPr id="27" name="Shape 25"/>
          <p:cNvSpPr/>
          <p:nvPr/>
        </p:nvSpPr>
        <p:spPr>
          <a:xfrm>
            <a:off x="8183880" y="1371600"/>
            <a:ext cx="3456432" cy="1417320"/>
          </a:xfrm>
          <a:prstGeom prst="roundRect">
            <a:avLst>
              <a:gd name="adj" fmla="val 6452"/>
            </a:avLst>
          </a:prstGeom>
          <a:solidFill>
            <a:srgbClr val="D4820A">
              <a:alpha val="10000"/>
            </a:srgbClr>
          </a:solidFill>
          <a:ln w="15875">
            <a:solidFill>
              <a:srgbClr val="D4820A"/>
            </a:solidFill>
            <a:prstDash val="solid"/>
          </a:ln>
        </p:spPr>
      </p:sp>
      <p:sp>
        <p:nvSpPr>
          <p:cNvPr id="28" name="Text 26"/>
          <p:cNvSpPr txBox="1"/>
          <p:nvPr/>
        </p:nvSpPr>
        <p:spPr>
          <a:xfrm>
            <a:off x="8321040" y="1463040"/>
            <a:ext cx="3182112" cy="320040"/>
          </a:xfrm>
          <a:prstGeom prst="rect">
            <a:avLst/>
          </a:prstGeom>
          <a:noFill/>
          <a:ln/>
        </p:spPr>
        <p:txBody>
          <a:bodyPr wrap="square" lIns="0" tIns="0" rIns="0" bIns="0" rtlCol="0" anchor="t"/>
          <a:lstStyle/>
          <a:p>
            <a:pPr indent="0" marL="0">
              <a:buNone/>
            </a:pPr>
            <a:r>
              <a:rPr lang="en-US" sz="1400" b="1" dirty="0">
                <a:solidFill>
                  <a:srgbClr val="D4820A"/>
                </a:solidFill>
                <a:latin typeface="Arial" pitchFamily="34" charset="0"/>
                <a:ea typeface="Arial" pitchFamily="34" charset="-122"/>
                <a:cs typeface="Arial" pitchFamily="34" charset="-120"/>
              </a:rPr>
              <a:t>Predictive analytics</a:t>
            </a:r>
            <a:endParaRPr lang="en-US" sz="1400" dirty="0"/>
          </a:p>
        </p:txBody>
      </p:sp>
      <p:sp>
        <p:nvSpPr>
          <p:cNvPr id="29" name="Shape 27"/>
          <p:cNvSpPr/>
          <p:nvPr/>
        </p:nvSpPr>
        <p:spPr>
          <a:xfrm>
            <a:off x="8321040" y="1874520"/>
            <a:ext cx="3182112" cy="347472"/>
          </a:xfrm>
          <a:prstGeom prst="roundRect">
            <a:avLst>
              <a:gd name="adj" fmla="val 15789"/>
            </a:avLst>
          </a:prstGeom>
          <a:solidFill>
            <a:schemeClr val="bg1"/>
          </a:solidFill>
          <a:ln w="9525">
            <a:solidFill>
              <a:srgbClr val="D4820A"/>
            </a:solidFill>
            <a:prstDash val="solid"/>
          </a:ln>
        </p:spPr>
      </p:sp>
      <p:sp>
        <p:nvSpPr>
          <p:cNvPr id="30" name="Text 28"/>
          <p:cNvSpPr txBox="1"/>
          <p:nvPr/>
        </p:nvSpPr>
        <p:spPr>
          <a:xfrm>
            <a:off x="8412480" y="1874520"/>
            <a:ext cx="2999232" cy="347472"/>
          </a:xfrm>
          <a:prstGeom prst="rect">
            <a:avLst/>
          </a:prstGeom>
          <a:noFill/>
          <a:ln/>
        </p:spPr>
        <p:txBody>
          <a:bodyPr wrap="square" lIns="0" tIns="0" rIns="0" bIns="0" rtlCol="0" anchor="ctr"/>
          <a:lstStyle/>
          <a:p>
            <a:pPr indent="0" marL="0">
              <a:buNone/>
            </a:pPr>
            <a:r>
              <a:rPr lang="en-US" sz="1200" dirty="0">
                <a:solidFill>
                  <a:schemeClr val="tx1"/>
                </a:solidFill>
              </a:rPr>
              <a:t>Utilisation, thermal, link-loss risk</a:t>
            </a:r>
            <a:endParaRPr lang="en-US" sz="1200" dirty="0"/>
          </a:p>
        </p:txBody>
      </p:sp>
      <p:sp>
        <p:nvSpPr>
          <p:cNvPr id="31" name="Shape 29"/>
          <p:cNvSpPr/>
          <p:nvPr/>
        </p:nvSpPr>
        <p:spPr>
          <a:xfrm>
            <a:off x="8321040" y="2304288"/>
            <a:ext cx="3182112" cy="347472"/>
          </a:xfrm>
          <a:prstGeom prst="roundRect">
            <a:avLst>
              <a:gd name="adj" fmla="val 15789"/>
            </a:avLst>
          </a:prstGeom>
          <a:solidFill>
            <a:schemeClr val="bg1"/>
          </a:solidFill>
          <a:ln w="9525">
            <a:solidFill>
              <a:srgbClr val="D4820A"/>
            </a:solidFill>
            <a:prstDash val="solid"/>
          </a:ln>
        </p:spPr>
      </p:sp>
      <p:sp>
        <p:nvSpPr>
          <p:cNvPr id="32" name="Text 30"/>
          <p:cNvSpPr txBox="1"/>
          <p:nvPr/>
        </p:nvSpPr>
        <p:spPr>
          <a:xfrm>
            <a:off x="8412480" y="2304288"/>
            <a:ext cx="2999232" cy="347472"/>
          </a:xfrm>
          <a:prstGeom prst="rect">
            <a:avLst/>
          </a:prstGeom>
          <a:noFill/>
          <a:ln/>
        </p:spPr>
        <p:txBody>
          <a:bodyPr wrap="square" lIns="0" tIns="0" rIns="0" bIns="0" rtlCol="0" anchor="ctr"/>
          <a:lstStyle/>
          <a:p>
            <a:pPr indent="0" marL="0">
              <a:buNone/>
            </a:pPr>
            <a:r>
              <a:rPr lang="en-US" sz="1200" dirty="0">
                <a:solidFill>
                  <a:schemeClr val="tx1"/>
                </a:solidFill>
              </a:rPr>
              <a:t>Node reliability scores</a:t>
            </a:r>
            <a:endParaRPr lang="en-US" sz="1200" dirty="0"/>
          </a:p>
        </p:txBody>
      </p:sp>
      <p:sp>
        <p:nvSpPr>
          <p:cNvPr id="33" name="Shape 31"/>
          <p:cNvSpPr/>
          <p:nvPr/>
        </p:nvSpPr>
        <p:spPr>
          <a:xfrm>
            <a:off x="8183880" y="2971800"/>
            <a:ext cx="3456432" cy="1280160"/>
          </a:xfrm>
          <a:prstGeom prst="roundRect">
            <a:avLst>
              <a:gd name="adj" fmla="val 7143"/>
            </a:avLst>
          </a:prstGeom>
          <a:solidFill>
            <a:srgbClr val="2E6FB5">
              <a:alpha val="10000"/>
            </a:srgbClr>
          </a:solidFill>
          <a:ln w="15875">
            <a:solidFill>
              <a:srgbClr val="2E6FB5"/>
            </a:solidFill>
            <a:prstDash val="solid"/>
          </a:ln>
        </p:spPr>
      </p:sp>
      <p:sp>
        <p:nvSpPr>
          <p:cNvPr id="34" name="Text 32"/>
          <p:cNvSpPr txBox="1"/>
          <p:nvPr/>
        </p:nvSpPr>
        <p:spPr>
          <a:xfrm>
            <a:off x="8321040" y="3063240"/>
            <a:ext cx="3182112" cy="320040"/>
          </a:xfrm>
          <a:prstGeom prst="rect">
            <a:avLst/>
          </a:prstGeom>
          <a:noFill/>
          <a:ln/>
        </p:spPr>
        <p:txBody>
          <a:bodyPr wrap="square" lIns="0" tIns="0" rIns="0" bIns="0" rtlCol="0" anchor="t"/>
          <a:lstStyle/>
          <a:p>
            <a:pPr indent="0" marL="0">
              <a:buNone/>
            </a:pPr>
            <a:r>
              <a:rPr lang="en-US" sz="1400" b="1" dirty="0">
                <a:solidFill>
                  <a:srgbClr val="2E6FB5"/>
                </a:solidFill>
                <a:latin typeface="Arial" pitchFamily="34" charset="0"/>
                <a:ea typeface="Arial" pitchFamily="34" charset="-122"/>
                <a:cs typeface="Arial" pitchFamily="34" charset="-120"/>
              </a:rPr>
              <a:t>Chaos engine &amp; controllers</a:t>
            </a:r>
            <a:endParaRPr lang="en-US" sz="1400" dirty="0"/>
          </a:p>
        </p:txBody>
      </p:sp>
      <p:sp>
        <p:nvSpPr>
          <p:cNvPr id="35" name="Shape 33"/>
          <p:cNvSpPr/>
          <p:nvPr/>
        </p:nvSpPr>
        <p:spPr>
          <a:xfrm>
            <a:off x="8321040" y="3474720"/>
            <a:ext cx="3182112" cy="347472"/>
          </a:xfrm>
          <a:prstGeom prst="roundRect">
            <a:avLst>
              <a:gd name="adj" fmla="val 15789"/>
            </a:avLst>
          </a:prstGeom>
          <a:solidFill>
            <a:schemeClr val="bg1"/>
          </a:solidFill>
          <a:ln w="9525">
            <a:solidFill>
              <a:srgbClr val="2E6FB5"/>
            </a:solidFill>
            <a:prstDash val="solid"/>
          </a:ln>
        </p:spPr>
      </p:sp>
      <p:sp>
        <p:nvSpPr>
          <p:cNvPr id="36" name="Text 34"/>
          <p:cNvSpPr txBox="1"/>
          <p:nvPr/>
        </p:nvSpPr>
        <p:spPr>
          <a:xfrm>
            <a:off x="8412480" y="3474720"/>
            <a:ext cx="2999232" cy="347472"/>
          </a:xfrm>
          <a:prstGeom prst="rect">
            <a:avLst/>
          </a:prstGeom>
          <a:noFill/>
          <a:ln/>
        </p:spPr>
        <p:txBody>
          <a:bodyPr wrap="square" lIns="0" tIns="0" rIns="0" bIns="0" rtlCol="0" anchor="ctr"/>
          <a:lstStyle/>
          <a:p>
            <a:pPr indent="0" marL="0">
              <a:buNone/>
            </a:pPr>
            <a:r>
              <a:rPr lang="en-US" sz="1200" dirty="0">
                <a:solidFill>
                  <a:schemeClr val="tx1"/>
                </a:solidFill>
              </a:rPr>
              <a:t>Deterministic chaos scenarios</a:t>
            </a:r>
            <a:endParaRPr lang="en-US" sz="1200" dirty="0"/>
          </a:p>
        </p:txBody>
      </p:sp>
      <p:sp>
        <p:nvSpPr>
          <p:cNvPr id="37" name="Shape 35"/>
          <p:cNvSpPr/>
          <p:nvPr/>
        </p:nvSpPr>
        <p:spPr>
          <a:xfrm>
            <a:off x="8321040" y="3904488"/>
            <a:ext cx="3182112" cy="347472"/>
          </a:xfrm>
          <a:prstGeom prst="roundRect">
            <a:avLst>
              <a:gd name="adj" fmla="val 15789"/>
            </a:avLst>
          </a:prstGeom>
          <a:solidFill>
            <a:schemeClr val="bg1"/>
          </a:solidFill>
          <a:ln w="9525">
            <a:solidFill>
              <a:srgbClr val="2E6FB5"/>
            </a:solidFill>
            <a:prstDash val="solid"/>
          </a:ln>
        </p:spPr>
      </p:sp>
      <p:sp>
        <p:nvSpPr>
          <p:cNvPr id="38" name="Text 36"/>
          <p:cNvSpPr txBox="1"/>
          <p:nvPr/>
        </p:nvSpPr>
        <p:spPr>
          <a:xfrm>
            <a:off x="8412480" y="3904488"/>
            <a:ext cx="2999232" cy="347472"/>
          </a:xfrm>
          <a:prstGeom prst="rect">
            <a:avLst/>
          </a:prstGeom>
          <a:noFill/>
          <a:ln/>
        </p:spPr>
        <p:txBody>
          <a:bodyPr wrap="square" lIns="0" tIns="0" rIns="0" bIns="0" rtlCol="0" anchor="ctr"/>
          <a:lstStyle/>
          <a:p>
            <a:pPr indent="0" marL="0">
              <a:buNone/>
            </a:pPr>
            <a:r>
              <a:rPr lang="en-US" sz="1200" dirty="0">
                <a:solidFill>
                  <a:schemeClr val="tx1"/>
                </a:solidFill>
              </a:rPr>
              <a:t>Self-healing · resource guardian</a:t>
            </a:r>
            <a:endParaRPr lang="en-US" sz="1200" dirty="0"/>
          </a:p>
        </p:txBody>
      </p:sp>
      <p:sp>
        <p:nvSpPr>
          <p:cNvPr id="39" name="Shape 37"/>
          <p:cNvSpPr/>
          <p:nvPr/>
        </p:nvSpPr>
        <p:spPr>
          <a:xfrm>
            <a:off x="548640" y="4617720"/>
            <a:ext cx="11094415" cy="1005840"/>
          </a:xfrm>
          <a:prstGeom prst="roundRect">
            <a:avLst>
              <a:gd name="adj" fmla="val 9091"/>
            </a:avLst>
          </a:prstGeom>
          <a:solidFill>
            <a:srgbClr val="6A3FA0">
              <a:alpha val="10000"/>
            </a:srgbClr>
          </a:solidFill>
          <a:ln w="15875">
            <a:solidFill>
              <a:srgbClr val="6A3FA0"/>
            </a:solidFill>
            <a:prstDash val="solid"/>
          </a:ln>
        </p:spPr>
      </p:sp>
      <p:sp>
        <p:nvSpPr>
          <p:cNvPr id="40" name="Text 38"/>
          <p:cNvSpPr txBox="1"/>
          <p:nvPr/>
        </p:nvSpPr>
        <p:spPr>
          <a:xfrm>
            <a:off x="685800" y="4709160"/>
            <a:ext cx="10820095" cy="320040"/>
          </a:xfrm>
          <a:prstGeom prst="rect">
            <a:avLst/>
          </a:prstGeom>
          <a:noFill/>
          <a:ln/>
        </p:spPr>
        <p:txBody>
          <a:bodyPr wrap="square" lIns="0" tIns="0" rIns="0" bIns="0" rtlCol="0" anchor="t"/>
          <a:lstStyle/>
          <a:p>
            <a:pPr indent="0" marL="0">
              <a:buNone/>
            </a:pPr>
            <a:r>
              <a:rPr lang="en-US" sz="1400" b="1" dirty="0">
                <a:solidFill>
                  <a:srgbClr val="6A3FA0"/>
                </a:solidFill>
                <a:latin typeface="Arial" pitchFamily="34" charset="0"/>
                <a:ea typeface="Arial" pitchFamily="34" charset="-122"/>
                <a:cs typeface="Arial" pitchFamily="34" charset="-120"/>
              </a:rPr>
              <a:t>Interoperability &amp; dashboard layer</a:t>
            </a:r>
            <a:endParaRPr lang="en-US" sz="1400" dirty="0"/>
          </a:p>
        </p:txBody>
      </p:sp>
      <p:sp>
        <p:nvSpPr>
          <p:cNvPr id="41" name="Shape 39"/>
          <p:cNvSpPr/>
          <p:nvPr/>
        </p:nvSpPr>
        <p:spPr>
          <a:xfrm>
            <a:off x="731520" y="5074920"/>
            <a:ext cx="3520440" cy="411480"/>
          </a:xfrm>
          <a:prstGeom prst="roundRect">
            <a:avLst>
              <a:gd name="adj" fmla="val 13333"/>
            </a:avLst>
          </a:prstGeom>
          <a:solidFill>
            <a:schemeClr val="bg1"/>
          </a:solidFill>
          <a:ln w="9525">
            <a:solidFill>
              <a:schemeClr val="accent5"/>
            </a:solidFill>
            <a:prstDash val="solid"/>
          </a:ln>
        </p:spPr>
      </p:sp>
      <p:sp>
        <p:nvSpPr>
          <p:cNvPr id="42" name="Text 40"/>
          <p:cNvSpPr txBox="1"/>
          <p:nvPr/>
        </p:nvSpPr>
        <p:spPr>
          <a:xfrm>
            <a:off x="822960" y="5074920"/>
            <a:ext cx="3337560" cy="411480"/>
          </a:xfrm>
          <a:prstGeom prst="rect">
            <a:avLst/>
          </a:prstGeom>
          <a:noFill/>
          <a:ln/>
        </p:spPr>
        <p:txBody>
          <a:bodyPr wrap="square" lIns="0" tIns="0" rIns="0" bIns="0" rtlCol="0" anchor="ctr"/>
          <a:lstStyle/>
          <a:p>
            <a:pPr algn="ctr" indent="0" marL="0">
              <a:buNone/>
            </a:pPr>
            <a:r>
              <a:rPr lang="en-US" sz="1200" dirty="0">
                <a:solidFill>
                  <a:schemeClr val="tx1"/>
                </a:solidFill>
              </a:rPr>
              <a:t>React dashboard</a:t>
            </a:r>
            <a:endParaRPr lang="en-US" sz="1200" dirty="0"/>
          </a:p>
        </p:txBody>
      </p:sp>
      <p:sp>
        <p:nvSpPr>
          <p:cNvPr id="43" name="Shape 41"/>
          <p:cNvSpPr/>
          <p:nvPr/>
        </p:nvSpPr>
        <p:spPr>
          <a:xfrm>
            <a:off x="4434840" y="5074920"/>
            <a:ext cx="3520440" cy="411480"/>
          </a:xfrm>
          <a:prstGeom prst="roundRect">
            <a:avLst>
              <a:gd name="adj" fmla="val 13333"/>
            </a:avLst>
          </a:prstGeom>
          <a:solidFill>
            <a:schemeClr val="bg1"/>
          </a:solidFill>
          <a:ln w="9525">
            <a:solidFill>
              <a:schemeClr val="accent5"/>
            </a:solidFill>
            <a:prstDash val="solid"/>
          </a:ln>
        </p:spPr>
      </p:sp>
      <p:sp>
        <p:nvSpPr>
          <p:cNvPr id="44" name="Text 42"/>
          <p:cNvSpPr txBox="1"/>
          <p:nvPr/>
        </p:nvSpPr>
        <p:spPr>
          <a:xfrm>
            <a:off x="4526280" y="5074920"/>
            <a:ext cx="3337560" cy="411480"/>
          </a:xfrm>
          <a:prstGeom prst="rect">
            <a:avLst/>
          </a:prstGeom>
          <a:noFill/>
          <a:ln/>
        </p:spPr>
        <p:txBody>
          <a:bodyPr wrap="square" lIns="0" tIns="0" rIns="0" bIns="0" rtlCol="0" anchor="ctr"/>
          <a:lstStyle/>
          <a:p>
            <a:pPr algn="ctr" indent="0" marL="0">
              <a:buNone/>
            </a:pPr>
            <a:r>
              <a:rPr lang="en-US" sz="1200" dirty="0">
                <a:solidFill>
                  <a:schemeClr val="tx1"/>
                </a:solidFill>
              </a:rPr>
              <a:t>REST API  (29 routes, API-key gate)</a:t>
            </a:r>
            <a:endParaRPr lang="en-US" sz="1200" dirty="0"/>
          </a:p>
        </p:txBody>
      </p:sp>
      <p:sp>
        <p:nvSpPr>
          <p:cNvPr id="45" name="Shape 43"/>
          <p:cNvSpPr/>
          <p:nvPr/>
        </p:nvSpPr>
        <p:spPr>
          <a:xfrm>
            <a:off x="8138160" y="5074920"/>
            <a:ext cx="3520440" cy="411480"/>
          </a:xfrm>
          <a:prstGeom prst="roundRect">
            <a:avLst>
              <a:gd name="adj" fmla="val 13333"/>
            </a:avLst>
          </a:prstGeom>
          <a:solidFill>
            <a:schemeClr val="bg1"/>
          </a:solidFill>
          <a:ln w="9525">
            <a:solidFill>
              <a:schemeClr val="accent5"/>
            </a:solidFill>
            <a:prstDash val="solid"/>
          </a:ln>
        </p:spPr>
      </p:sp>
      <p:sp>
        <p:nvSpPr>
          <p:cNvPr id="46" name="Text 44"/>
          <p:cNvSpPr txBox="1"/>
          <p:nvPr/>
        </p:nvSpPr>
        <p:spPr>
          <a:xfrm>
            <a:off x="8229600" y="5074920"/>
            <a:ext cx="3337560" cy="411480"/>
          </a:xfrm>
          <a:prstGeom prst="rect">
            <a:avLst/>
          </a:prstGeom>
          <a:noFill/>
          <a:ln/>
        </p:spPr>
        <p:txBody>
          <a:bodyPr wrap="square" lIns="0" tIns="0" rIns="0" bIns="0" rtlCol="0" anchor="ctr"/>
          <a:lstStyle/>
          <a:p>
            <a:pPr algn="ctr" indent="0" marL="0">
              <a:buNone/>
            </a:pPr>
            <a:r>
              <a:rPr lang="en-US" sz="1200" dirty="0">
                <a:solidFill>
                  <a:schemeClr val="tx1"/>
                </a:solidFill>
              </a:rPr>
              <a:t>Exporters: DTDL, Kubernetes CRD</a:t>
            </a:r>
            <a:endParaRPr lang="en-US" sz="1200" dirty="0"/>
          </a:p>
        </p:txBody>
      </p:sp>
      <p:sp>
        <p:nvSpPr>
          <p:cNvPr id="47" name="Shape 45"/>
          <p:cNvSpPr/>
          <p:nvPr/>
        </p:nvSpPr>
        <p:spPr>
          <a:xfrm>
            <a:off x="3840480" y="2103120"/>
            <a:ext cx="320040" cy="914"/>
          </a:xfrm>
          <a:prstGeom prst="line">
            <a:avLst/>
          </a:prstGeom>
          <a:noFill/>
          <a:ln w="22225">
            <a:solidFill>
              <a:srgbClr val="6B7685"/>
            </a:solidFill>
            <a:prstDash val="solid"/>
            <a:tailEnd type="triangle"/>
          </a:ln>
        </p:spPr>
      </p:sp>
      <p:sp>
        <p:nvSpPr>
          <p:cNvPr id="48" name="Text 46"/>
          <p:cNvSpPr txBox="1"/>
          <p:nvPr/>
        </p:nvSpPr>
        <p:spPr>
          <a:xfrm>
            <a:off x="3858768" y="1783080"/>
            <a:ext cx="457200" cy="274320"/>
          </a:xfrm>
          <a:prstGeom prst="rect">
            <a:avLst/>
          </a:prstGeom>
          <a:noFill/>
          <a:ln/>
        </p:spPr>
        <p:txBody>
          <a:bodyPr wrap="square" lIns="0" tIns="0" rIns="0" bIns="0" rtlCol="0" anchor="t"/>
          <a:lstStyle/>
          <a:p>
            <a:pPr indent="0" marL="0">
              <a:buNone/>
            </a:pPr>
            <a:r>
              <a:rPr lang="en-US" sz="1000" dirty="0">
                <a:solidFill>
                  <a:schemeClr val="accent6"/>
                </a:solidFill>
              </a:rPr>
              <a:t>state</a:t>
            </a:r>
            <a:endParaRPr lang="en-US" sz="1000" dirty="0"/>
          </a:p>
        </p:txBody>
      </p:sp>
      <p:sp>
        <p:nvSpPr>
          <p:cNvPr id="49" name="Shape 47"/>
          <p:cNvSpPr/>
          <p:nvPr/>
        </p:nvSpPr>
        <p:spPr>
          <a:xfrm>
            <a:off x="7726680" y="2103120"/>
            <a:ext cx="457200" cy="914"/>
          </a:xfrm>
          <a:prstGeom prst="line">
            <a:avLst/>
          </a:prstGeom>
          <a:noFill/>
          <a:ln w="22225">
            <a:solidFill>
              <a:srgbClr val="6B7685"/>
            </a:solidFill>
            <a:prstDash val="solid"/>
            <a:tailEnd type="triangle"/>
          </a:ln>
        </p:spPr>
      </p:sp>
      <p:sp>
        <p:nvSpPr>
          <p:cNvPr id="50" name="Text 48"/>
          <p:cNvSpPr txBox="1"/>
          <p:nvPr/>
        </p:nvSpPr>
        <p:spPr>
          <a:xfrm>
            <a:off x="7772400" y="1783080"/>
            <a:ext cx="457200" cy="274320"/>
          </a:xfrm>
          <a:prstGeom prst="rect">
            <a:avLst/>
          </a:prstGeom>
          <a:noFill/>
          <a:ln/>
        </p:spPr>
        <p:txBody>
          <a:bodyPr wrap="square" lIns="0" tIns="0" rIns="0" bIns="0" rtlCol="0" anchor="t"/>
          <a:lstStyle/>
          <a:p>
            <a:pPr indent="0" marL="0">
              <a:buNone/>
            </a:pPr>
            <a:r>
              <a:rPr lang="en-US" sz="1000" dirty="0">
                <a:solidFill>
                  <a:schemeClr val="accent6"/>
                </a:solidFill>
              </a:rPr>
              <a:t>risk</a:t>
            </a:r>
            <a:endParaRPr lang="en-US" sz="1000" dirty="0"/>
          </a:p>
        </p:txBody>
      </p:sp>
      <p:sp>
        <p:nvSpPr>
          <p:cNvPr id="51" name="Shape 49"/>
          <p:cNvSpPr/>
          <p:nvPr/>
        </p:nvSpPr>
        <p:spPr>
          <a:xfrm>
            <a:off x="9875520" y="4251960"/>
            <a:ext cx="914" cy="182880"/>
          </a:xfrm>
          <a:prstGeom prst="line">
            <a:avLst/>
          </a:prstGeom>
          <a:noFill/>
          <a:ln w="19050">
            <a:solidFill>
              <a:srgbClr val="B03A2E"/>
            </a:solidFill>
            <a:prstDash val="dash"/>
          </a:ln>
        </p:spPr>
      </p:sp>
      <p:sp>
        <p:nvSpPr>
          <p:cNvPr id="52" name="Shape 50"/>
          <p:cNvSpPr/>
          <p:nvPr/>
        </p:nvSpPr>
        <p:spPr>
          <a:xfrm>
            <a:off x="2194560" y="4434840"/>
            <a:ext cx="7680960" cy="914"/>
          </a:xfrm>
          <a:prstGeom prst="line">
            <a:avLst/>
          </a:prstGeom>
          <a:noFill/>
          <a:ln w="19050">
            <a:solidFill>
              <a:srgbClr val="B03A2E"/>
            </a:solidFill>
            <a:prstDash val="dash"/>
          </a:ln>
        </p:spPr>
      </p:sp>
      <p:sp>
        <p:nvSpPr>
          <p:cNvPr id="53" name="Shape 51"/>
          <p:cNvSpPr/>
          <p:nvPr/>
        </p:nvSpPr>
        <p:spPr>
          <a:xfrm flipV="1">
            <a:off x="2194560" y="4270248"/>
            <a:ext cx="914" cy="164592"/>
          </a:xfrm>
          <a:prstGeom prst="line">
            <a:avLst/>
          </a:prstGeom>
          <a:noFill/>
          <a:ln w="22225">
            <a:solidFill>
              <a:srgbClr val="B03A2E"/>
            </a:solidFill>
            <a:prstDash val="dash"/>
            <a:tailEnd type="triangle"/>
          </a:ln>
        </p:spPr>
      </p:sp>
      <p:sp>
        <p:nvSpPr>
          <p:cNvPr id="54" name="Text 52"/>
          <p:cNvSpPr txBox="1"/>
          <p:nvPr/>
        </p:nvSpPr>
        <p:spPr>
          <a:xfrm>
            <a:off x="5120640" y="4270248"/>
            <a:ext cx="1828800" cy="164592"/>
          </a:xfrm>
          <a:prstGeom prst="rect">
            <a:avLst/>
          </a:prstGeom>
          <a:solidFill>
            <a:srgbClr val="FFFFFF"/>
          </a:solidFill>
          <a:ln/>
        </p:spPr>
        <p:txBody>
          <a:bodyPr wrap="square" lIns="0" tIns="0" rIns="0" bIns="0" rtlCol="0" anchor="t"/>
          <a:lstStyle/>
          <a:p>
            <a:pPr algn="ctr" indent="0" marL="0">
              <a:buNone/>
            </a:pPr>
            <a:r>
              <a:rPr lang="en-US" sz="900" dirty="0">
                <a:solidFill>
                  <a:schemeClr val="accent4"/>
                </a:solidFill>
              </a:rPr>
              <a:t>inject fault / heal</a:t>
            </a:r>
            <a:endParaRPr lang="en-US" sz="900" dirty="0"/>
          </a:p>
        </p:txBody>
      </p:sp>
      <p:sp>
        <p:nvSpPr>
          <p:cNvPr id="55" name="Text 53"/>
          <p:cNvSpPr txBox="1"/>
          <p:nvPr/>
        </p:nvSpPr>
        <p:spPr>
          <a:xfrm>
            <a:off x="548640" y="5806440"/>
            <a:ext cx="10972800" cy="320040"/>
          </a:xfrm>
          <a:prstGeom prst="rect">
            <a:avLst/>
          </a:prstGeom>
          <a:noFill/>
          <a:ln/>
        </p:spPr>
        <p:txBody>
          <a:bodyPr wrap="square" lIns="0" tIns="0" rIns="0" bIns="0" rtlCol="0" anchor="t"/>
          <a:lstStyle/>
          <a:p>
            <a:pPr indent="0" marL="0">
              <a:buNone/>
            </a:pPr>
            <a:r>
              <a:rPr lang="en-US" sz="1200" i="1" dirty="0">
                <a:solidFill>
                  <a:schemeClr val="accent6"/>
                </a:solidFill>
              </a:rPr>
              <a:t>Highlighted (new): added in the latest release: MQTT ingestion, GPU device requests, API-key auth on mutating routes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The twin core: one state model, four ways in</a:t>
            </a:r>
            <a:endParaRPr lang="en-US" sz="3200" dirty="0"/>
          </a:p>
        </p:txBody>
      </p:sp>
      <p:sp>
        <p:nvSpPr>
          <p:cNvPr id="3" name="Shape 1"/>
          <p:cNvSpPr/>
          <p:nvPr/>
        </p:nvSpPr>
        <p:spPr>
          <a:xfrm>
            <a:off x="548640" y="1508760"/>
            <a:ext cx="548640" cy="548640"/>
          </a:xfrm>
          <a:prstGeom prst="ellipse">
            <a:avLst/>
          </a:prstGeom>
          <a:solidFill>
            <a:srgbClr val="2E6FB5"/>
          </a:solidFill>
          <a:ln w="12700">
            <a:solidFill>
              <a:srgbClr val="2E6FB5"/>
            </a:solidFill>
            <a:prstDash val="solid"/>
          </a:ln>
        </p:spPr>
      </p:sp>
      <p:sp>
        <p:nvSpPr>
          <p:cNvPr id="4" name="Text 2"/>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325880" y="1417320"/>
            <a:ext cx="5852160" cy="36576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YAML descriptors</a:t>
            </a:r>
            <a:endParaRPr lang="en-US" sz="1800" dirty="0"/>
          </a:p>
        </p:txBody>
      </p:sp>
      <p:sp>
        <p:nvSpPr>
          <p:cNvPr id="6" name="Text 4"/>
          <p:cNvSpPr txBox="1"/>
          <p:nvPr/>
        </p:nvSpPr>
        <p:spPr>
          <a:xfrm>
            <a:off x="1325880" y="1801368"/>
            <a:ext cx="5852160" cy="640080"/>
          </a:xfrm>
          <a:prstGeom prst="rect">
            <a:avLst/>
          </a:prstGeom>
          <a:noFill/>
          <a:ln/>
        </p:spPr>
        <p:txBody>
          <a:bodyPr wrap="square" lIns="0" tIns="0" rIns="0" bIns="0" rtlCol="0" anchor="t"/>
          <a:lstStyle/>
          <a:p>
            <a:pPr indent="0" marL="0">
              <a:buNone/>
            </a:pPr>
            <a:r>
              <a:rPr lang="en-US" sz="1500" dirty="0">
                <a:solidFill>
                  <a:schemeClr val="tx1"/>
                </a:solidFill>
              </a:rPr>
              <a:t>Each node's CPU, RAM, GPU/VRAM, power profile and trust labels in nodes/*.yaml</a:t>
            </a:r>
            <a:endParaRPr lang="en-US" sz="1500" dirty="0"/>
          </a:p>
        </p:txBody>
      </p:sp>
      <p:sp>
        <p:nvSpPr>
          <p:cNvPr id="7" name="Shape 5"/>
          <p:cNvSpPr/>
          <p:nvPr/>
        </p:nvSpPr>
        <p:spPr>
          <a:xfrm>
            <a:off x="548640" y="2624328"/>
            <a:ext cx="548640" cy="548640"/>
          </a:xfrm>
          <a:prstGeom prst="ellipse">
            <a:avLst/>
          </a:prstGeom>
          <a:solidFill>
            <a:srgbClr val="2E6FB5"/>
          </a:solidFill>
          <a:ln w="12700">
            <a:solidFill>
              <a:srgbClr val="2E6FB5"/>
            </a:solidFill>
            <a:prstDash val="solid"/>
          </a:ln>
        </p:spPr>
      </p:sp>
      <p:sp>
        <p:nvSpPr>
          <p:cNvPr id="8" name="Text 6"/>
          <p:cNvSpPr txBox="1"/>
          <p:nvPr/>
        </p:nvSpPr>
        <p:spPr>
          <a:xfrm>
            <a:off x="548640" y="26243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325880" y="2532888"/>
            <a:ext cx="5852160" cy="36576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Hot reload</a:t>
            </a:r>
            <a:endParaRPr lang="en-US" sz="1800" dirty="0"/>
          </a:p>
        </p:txBody>
      </p:sp>
      <p:sp>
        <p:nvSpPr>
          <p:cNvPr id="10" name="Text 8"/>
          <p:cNvSpPr txBox="1"/>
          <p:nvPr/>
        </p:nvSpPr>
        <p:spPr>
          <a:xfrm>
            <a:off x="1325880" y="2916936"/>
            <a:ext cx="5852160" cy="640080"/>
          </a:xfrm>
          <a:prstGeom prst="rect">
            <a:avLst/>
          </a:prstGeom>
          <a:noFill/>
          <a:ln/>
        </p:spPr>
        <p:txBody>
          <a:bodyPr wrap="square" lIns="0" tIns="0" rIns="0" bIns="0" rtlCol="0" anchor="t"/>
          <a:lstStyle/>
          <a:p>
            <a:pPr indent="0" marL="0">
              <a:buNone/>
            </a:pPr>
            <a:r>
              <a:rPr lang="en-US" sz="1500" dirty="0">
                <a:solidFill>
                  <a:schemeClr val="tx1"/>
                </a:solidFill>
              </a:rPr>
              <a:t>Watchers pick up edited topology or node files in about 0.5 s, no restart</a:t>
            </a:r>
            <a:endParaRPr lang="en-US" sz="1500" dirty="0"/>
          </a:p>
        </p:txBody>
      </p:sp>
      <p:sp>
        <p:nvSpPr>
          <p:cNvPr id="11" name="Shape 9"/>
          <p:cNvSpPr/>
          <p:nvPr/>
        </p:nvSpPr>
        <p:spPr>
          <a:xfrm>
            <a:off x="548640" y="3739896"/>
            <a:ext cx="548640" cy="548640"/>
          </a:xfrm>
          <a:prstGeom prst="ellipse">
            <a:avLst/>
          </a:prstGeom>
          <a:solidFill>
            <a:srgbClr val="2E6FB5"/>
          </a:solidFill>
          <a:ln w="12700">
            <a:solidFill>
              <a:srgbClr val="2E6FB5"/>
            </a:solidFill>
            <a:prstDash val="solid"/>
          </a:ln>
        </p:spPr>
      </p:sp>
      <p:sp>
        <p:nvSpPr>
          <p:cNvPr id="12" name="Text 10"/>
          <p:cNvSpPr txBox="1"/>
          <p:nvPr/>
        </p:nvSpPr>
        <p:spPr>
          <a:xfrm>
            <a:off x="548640" y="373989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325880" y="3648456"/>
            <a:ext cx="5852160" cy="36576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REST /observe</a:t>
            </a:r>
            <a:endParaRPr lang="en-US" sz="1800" dirty="0"/>
          </a:p>
        </p:txBody>
      </p:sp>
      <p:sp>
        <p:nvSpPr>
          <p:cNvPr id="14" name="Text 12"/>
          <p:cNvSpPr txBox="1"/>
          <p:nvPr/>
        </p:nvSpPr>
        <p:spPr>
          <a:xfrm>
            <a:off x="1325880" y="4032504"/>
            <a:ext cx="5852160" cy="640080"/>
          </a:xfrm>
          <a:prstGeom prst="rect">
            <a:avLst/>
          </a:prstGeom>
          <a:noFill/>
          <a:ln/>
        </p:spPr>
        <p:txBody>
          <a:bodyPr wrap="square" lIns="0" tIns="0" rIns="0" bIns="0" rtlCol="0" anchor="t"/>
          <a:lstStyle/>
          <a:p>
            <a:pPr indent="0" marL="0">
              <a:buNone/>
            </a:pPr>
            <a:r>
              <a:rPr lang="en-US" sz="1500" dirty="0">
                <a:solidFill>
                  <a:schemeClr val="tx1"/>
                </a:solidFill>
              </a:rPr>
              <a:t>Push live observations (link jitter, thermal spikes, packet loss) as JSON</a:t>
            </a:r>
            <a:endParaRPr lang="en-US" sz="1500" dirty="0"/>
          </a:p>
        </p:txBody>
      </p:sp>
      <p:sp>
        <p:nvSpPr>
          <p:cNvPr id="15" name="Shape 13"/>
          <p:cNvSpPr/>
          <p:nvPr/>
        </p:nvSpPr>
        <p:spPr>
          <a:xfrm>
            <a:off x="548640" y="4855464"/>
            <a:ext cx="548640" cy="548640"/>
          </a:xfrm>
          <a:prstGeom prst="ellipse">
            <a:avLst/>
          </a:prstGeom>
          <a:solidFill>
            <a:srgbClr val="2E6FB5"/>
          </a:solidFill>
          <a:ln w="12700">
            <a:solidFill>
              <a:srgbClr val="2E6FB5"/>
            </a:solidFill>
            <a:prstDash val="solid"/>
          </a:ln>
        </p:spPr>
      </p:sp>
      <p:sp>
        <p:nvSpPr>
          <p:cNvPr id="16" name="Text 14"/>
          <p:cNvSpPr txBox="1"/>
          <p:nvPr/>
        </p:nvSpPr>
        <p:spPr>
          <a:xfrm>
            <a:off x="548640" y="485546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325880" y="4764024"/>
            <a:ext cx="5852160" cy="36576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MQTT bridge</a:t>
            </a:r>
            <a:endParaRPr lang="en-US" sz="1800" dirty="0"/>
          </a:p>
        </p:txBody>
      </p:sp>
      <p:sp>
        <p:nvSpPr>
          <p:cNvPr id="18" name="Text 16"/>
          <p:cNvSpPr txBox="1"/>
          <p:nvPr/>
        </p:nvSpPr>
        <p:spPr>
          <a:xfrm>
            <a:off x="1325880" y="5148072"/>
            <a:ext cx="5852160" cy="640080"/>
          </a:xfrm>
          <a:prstGeom prst="rect">
            <a:avLst/>
          </a:prstGeom>
          <a:noFill/>
          <a:ln/>
        </p:spPr>
        <p:txBody>
          <a:bodyPr wrap="square" lIns="0" tIns="0" rIns="0" bIns="0" rtlCol="0" anchor="t"/>
          <a:lstStyle/>
          <a:p>
            <a:pPr indent="0" marL="0">
              <a:buNone/>
            </a:pPr>
            <a:r>
              <a:rPr lang="en-US" sz="1500" dirty="0">
                <a:solidFill>
                  <a:schemeClr val="tx1"/>
                </a:solidFill>
              </a:rPr>
              <a:t>Subscribe to &lt;node&gt;/telemetry topics for event-driven ingestion from sensors</a:t>
            </a:r>
            <a:endParaRPr lang="en-US" sz="1500" dirty="0"/>
          </a:p>
        </p:txBody>
      </p:sp>
      <p:sp>
        <p:nvSpPr>
          <p:cNvPr id="19" name="core-stats"/>
          <p:cNvSpPr/>
          <p:nvPr/>
        </p:nvSpPr>
        <p:spPr>
          <a:xfrm>
            <a:off x="7589520" y="1417320"/>
            <a:ext cx="4050792" cy="4480560"/>
          </a:xfrm>
          <a:prstGeom prst="roundRect">
            <a:avLst>
              <a:gd name="adj" fmla="val 2709"/>
            </a:avLst>
          </a:prstGeom>
          <a:solidFill>
            <a:schemeClr val="bg2"/>
          </a:solidFill>
          <a:ln w="12700">
            <a:solidFill>
              <a:schemeClr val="bg2"/>
            </a:solidFill>
            <a:prstDash val="solid"/>
          </a:ln>
        </p:spPr>
      </p:sp>
      <p:sp>
        <p:nvSpPr>
          <p:cNvPr id="20" name="Text 18"/>
          <p:cNvSpPr txBox="1"/>
          <p:nvPr/>
        </p:nvSpPr>
        <p:spPr>
          <a:xfrm>
            <a:off x="7909560" y="1645920"/>
            <a:ext cx="3474720" cy="77724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100</a:t>
            </a:r>
            <a:endParaRPr lang="en-US" sz="4800" dirty="0"/>
          </a:p>
        </p:txBody>
      </p:sp>
      <p:sp>
        <p:nvSpPr>
          <p:cNvPr id="21" name="Text 19"/>
          <p:cNvSpPr txBox="1"/>
          <p:nvPr/>
        </p:nvSpPr>
        <p:spPr>
          <a:xfrm>
            <a:off x="7909560" y="2423160"/>
            <a:ext cx="3474720" cy="365760"/>
          </a:xfrm>
          <a:prstGeom prst="rect">
            <a:avLst/>
          </a:prstGeom>
          <a:noFill/>
          <a:ln/>
        </p:spPr>
        <p:txBody>
          <a:bodyPr wrap="square" lIns="0" tIns="0" rIns="0" bIns="0" rtlCol="0" anchor="t"/>
          <a:lstStyle/>
          <a:p>
            <a:pPr indent="0" marL="0">
              <a:buNone/>
            </a:pPr>
            <a:r>
              <a:rPr lang="en-US" sz="1500" dirty="0">
                <a:solidFill>
                  <a:schemeClr val="tx1"/>
                </a:solidFill>
              </a:rPr>
              <a:t>heterogeneous nodes</a:t>
            </a:r>
            <a:endParaRPr lang="en-US" sz="1500" dirty="0"/>
          </a:p>
        </p:txBody>
      </p:sp>
      <p:sp>
        <p:nvSpPr>
          <p:cNvPr id="22" name="Text 20"/>
          <p:cNvSpPr txBox="1"/>
          <p:nvPr/>
        </p:nvSpPr>
        <p:spPr>
          <a:xfrm>
            <a:off x="7909560" y="3063240"/>
            <a:ext cx="3474720" cy="77724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4</a:t>
            </a:r>
            <a:endParaRPr lang="en-US" sz="4800" dirty="0"/>
          </a:p>
        </p:txBody>
      </p:sp>
      <p:sp>
        <p:nvSpPr>
          <p:cNvPr id="23" name="Text 21"/>
          <p:cNvSpPr txBox="1"/>
          <p:nvPr/>
        </p:nvSpPr>
        <p:spPr>
          <a:xfrm>
            <a:off x="7909560" y="3840480"/>
            <a:ext cx="3474720" cy="365760"/>
          </a:xfrm>
          <a:prstGeom prst="rect">
            <a:avLst/>
          </a:prstGeom>
          <a:noFill/>
          <a:ln/>
        </p:spPr>
        <p:txBody>
          <a:bodyPr wrap="square" lIns="0" tIns="0" rIns="0" bIns="0" rtlCol="0" anchor="t"/>
          <a:lstStyle/>
          <a:p>
            <a:pPr indent="0" marL="0">
              <a:buNone/>
            </a:pPr>
            <a:r>
              <a:rPr lang="en-US" sz="1500" dirty="0">
                <a:solidFill>
                  <a:schemeClr val="tx1"/>
                </a:solidFill>
              </a:rPr>
              <a:t>sites in 2 regions</a:t>
            </a:r>
            <a:endParaRPr lang="en-US" sz="1500" dirty="0"/>
          </a:p>
        </p:txBody>
      </p:sp>
      <p:sp>
        <p:nvSpPr>
          <p:cNvPr id="24" name="Text 22"/>
          <p:cNvSpPr txBox="1"/>
          <p:nvPr/>
        </p:nvSpPr>
        <p:spPr>
          <a:xfrm>
            <a:off x="7909560" y="4480560"/>
            <a:ext cx="3474720" cy="77724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6</a:t>
            </a:r>
            <a:endParaRPr lang="en-US" sz="4800" dirty="0"/>
          </a:p>
        </p:txBody>
      </p:sp>
      <p:sp>
        <p:nvSpPr>
          <p:cNvPr id="25" name="Text 23"/>
          <p:cNvSpPr txBox="1"/>
          <p:nvPr/>
        </p:nvSpPr>
        <p:spPr>
          <a:xfrm>
            <a:off x="7909560" y="5257800"/>
            <a:ext cx="3474720" cy="365760"/>
          </a:xfrm>
          <a:prstGeom prst="rect">
            <a:avLst/>
          </a:prstGeom>
          <a:noFill/>
          <a:ln/>
        </p:spPr>
        <p:txBody>
          <a:bodyPr wrap="square" lIns="0" tIns="0" rIns="0" bIns="0" rtlCol="0" anchor="t"/>
          <a:lstStyle/>
          <a:p>
            <a:pPr indent="0" marL="0">
              <a:buNone/>
            </a:pPr>
            <a:r>
              <a:rPr lang="en-US" sz="1500" dirty="0">
                <a:solidFill>
                  <a:schemeClr val="tx1"/>
                </a:solidFill>
              </a:rPr>
              <a:t>link classes, 1 to 400 Gbps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Planning engine: four strategies, one interface</a:t>
            </a:r>
            <a:endParaRPr lang="en-US" sz="3200" dirty="0"/>
          </a:p>
        </p:txBody>
      </p:sp>
      <p:sp>
        <p:nvSpPr>
          <p:cNvPr id="3" name="Shape 1"/>
          <p:cNvSpPr/>
          <p:nvPr/>
        </p:nvSpPr>
        <p:spPr>
          <a:xfrm>
            <a:off x="548640" y="1417320"/>
            <a:ext cx="6309360" cy="777240"/>
          </a:xfrm>
          <a:prstGeom prst="roundRect">
            <a:avLst>
              <a:gd name="adj" fmla="val 9412"/>
            </a:avLst>
          </a:prstGeom>
          <a:solidFill>
            <a:schemeClr val="bg2"/>
          </a:solidFill>
          <a:ln w="12700">
            <a:solidFill>
              <a:schemeClr val="bg2"/>
            </a:solidFill>
            <a:prstDash val="solid"/>
          </a:ln>
        </p:spPr>
      </p:sp>
      <p:sp>
        <p:nvSpPr>
          <p:cNvPr id="4" name="Shape 2"/>
          <p:cNvSpPr/>
          <p:nvPr/>
        </p:nvSpPr>
        <p:spPr>
          <a:xfrm>
            <a:off x="777240" y="1664208"/>
            <a:ext cx="274320" cy="274320"/>
          </a:xfrm>
          <a:prstGeom prst="ellipse">
            <a:avLst/>
          </a:prstGeom>
          <a:solidFill>
            <a:srgbClr val="6B7685"/>
          </a:solidFill>
          <a:ln w="12700">
            <a:solidFill>
              <a:srgbClr val="6B7685"/>
            </a:solidFill>
            <a:prstDash val="solid"/>
          </a:ln>
        </p:spPr>
      </p:sp>
      <p:sp>
        <p:nvSpPr>
          <p:cNvPr id="5" name="Text 3"/>
          <p:cNvSpPr txBox="1"/>
          <p:nvPr/>
        </p:nvSpPr>
        <p:spPr>
          <a:xfrm>
            <a:off x="1234440" y="1490472"/>
            <a:ext cx="5394960" cy="320040"/>
          </a:xfrm>
          <a:prstGeom prst="rect">
            <a:avLst/>
          </a:prstGeom>
          <a:noFill/>
          <a:ln/>
        </p:spPr>
        <p:txBody>
          <a:bodyPr wrap="square" lIns="0" tIns="0" rIns="0" bIns="0" rtlCol="0" anchor="t"/>
          <a:lstStyle/>
          <a:p>
            <a:pPr indent="0" marL="0">
              <a:buNone/>
            </a:pPr>
            <a:r>
              <a:rPr lang="en-US" sz="1600" b="1" dirty="0">
                <a:solidFill>
                  <a:schemeClr val="tx2"/>
                </a:solidFill>
              </a:rPr>
              <a:t>Greedy</a:t>
            </a:r>
            <a:endParaRPr lang="en-US" sz="1600" dirty="0"/>
          </a:p>
        </p:txBody>
      </p:sp>
      <p:sp>
        <p:nvSpPr>
          <p:cNvPr id="6" name="Text 4"/>
          <p:cNvSpPr txBox="1"/>
          <p:nvPr/>
        </p:nvSpPr>
        <p:spPr>
          <a:xfrm>
            <a:off x="1234440" y="1810512"/>
            <a:ext cx="5394960" cy="347472"/>
          </a:xfrm>
          <a:prstGeom prst="rect">
            <a:avLst/>
          </a:prstGeom>
          <a:noFill/>
          <a:ln/>
        </p:spPr>
        <p:txBody>
          <a:bodyPr wrap="square" lIns="0" tIns="0" rIns="0" bIns="0" rtlCol="0" anchor="t"/>
          <a:lstStyle/>
          <a:p>
            <a:pPr indent="0" marL="0">
              <a:buNone/>
            </a:pPr>
            <a:r>
              <a:rPr lang="en-US" sz="1300" dirty="0">
                <a:solidFill>
                  <a:schemeClr val="tx1"/>
                </a:solidFill>
              </a:rPr>
              <a:t>First-fit placement on available CPU and VRAM</a:t>
            </a:r>
            <a:endParaRPr lang="en-US" sz="1300" dirty="0"/>
          </a:p>
        </p:txBody>
      </p:sp>
      <p:sp>
        <p:nvSpPr>
          <p:cNvPr id="7" name="Shape 5"/>
          <p:cNvSpPr/>
          <p:nvPr/>
        </p:nvSpPr>
        <p:spPr>
          <a:xfrm>
            <a:off x="548640" y="2331720"/>
            <a:ext cx="6309360" cy="777240"/>
          </a:xfrm>
          <a:prstGeom prst="roundRect">
            <a:avLst>
              <a:gd name="adj" fmla="val 9412"/>
            </a:avLst>
          </a:prstGeom>
          <a:solidFill>
            <a:schemeClr val="bg2"/>
          </a:solidFill>
          <a:ln w="12700">
            <a:solidFill>
              <a:schemeClr val="bg2"/>
            </a:solidFill>
            <a:prstDash val="solid"/>
          </a:ln>
        </p:spPr>
      </p:sp>
      <p:sp>
        <p:nvSpPr>
          <p:cNvPr id="8" name="Shape 6"/>
          <p:cNvSpPr/>
          <p:nvPr/>
        </p:nvSpPr>
        <p:spPr>
          <a:xfrm>
            <a:off x="777240" y="2578608"/>
            <a:ext cx="274320" cy="274320"/>
          </a:xfrm>
          <a:prstGeom prst="ellipse">
            <a:avLst/>
          </a:prstGeom>
          <a:solidFill>
            <a:srgbClr val="1E7A6E"/>
          </a:solidFill>
          <a:ln w="12700">
            <a:solidFill>
              <a:srgbClr val="1E7A6E"/>
            </a:solidFill>
            <a:prstDash val="solid"/>
          </a:ln>
        </p:spPr>
      </p:sp>
      <p:sp>
        <p:nvSpPr>
          <p:cNvPr id="9" name="Text 7"/>
          <p:cNvSpPr txBox="1"/>
          <p:nvPr/>
        </p:nvSpPr>
        <p:spPr>
          <a:xfrm>
            <a:off x="1234440" y="2404872"/>
            <a:ext cx="5394960" cy="320040"/>
          </a:xfrm>
          <a:prstGeom prst="rect">
            <a:avLst/>
          </a:prstGeom>
          <a:noFill/>
          <a:ln/>
        </p:spPr>
        <p:txBody>
          <a:bodyPr wrap="square" lIns="0" tIns="0" rIns="0" bIns="0" rtlCol="0" anchor="t"/>
          <a:lstStyle/>
          <a:p>
            <a:pPr indent="0" marL="0">
              <a:buNone/>
            </a:pPr>
            <a:r>
              <a:rPr lang="en-US" sz="1600" b="1" dirty="0">
                <a:solidFill>
                  <a:schemeClr val="tx2"/>
                </a:solidFill>
              </a:rPr>
              <a:t>Cheapest-Energy</a:t>
            </a:r>
            <a:endParaRPr lang="en-US" sz="1600" dirty="0"/>
          </a:p>
        </p:txBody>
      </p:sp>
      <p:sp>
        <p:nvSpPr>
          <p:cNvPr id="10" name="Text 8"/>
          <p:cNvSpPr txBox="1"/>
          <p:nvPr/>
        </p:nvSpPr>
        <p:spPr>
          <a:xfrm>
            <a:off x="1234440" y="2724912"/>
            <a:ext cx="5394960" cy="347472"/>
          </a:xfrm>
          <a:prstGeom prst="rect">
            <a:avLst/>
          </a:prstGeom>
          <a:noFill/>
          <a:ln/>
        </p:spPr>
        <p:txBody>
          <a:bodyPr wrap="square" lIns="0" tIns="0" rIns="0" bIns="0" rtlCol="0" anchor="t"/>
          <a:lstStyle/>
          <a:p>
            <a:pPr indent="0" marL="0">
              <a:buNone/>
            </a:pPr>
            <a:r>
              <a:rPr lang="en-US" sz="1300" dirty="0">
                <a:solidFill>
                  <a:schemeClr val="tx1"/>
                </a:solidFill>
              </a:rPr>
              <a:t>Picks nodes that minimise power and carbon</a:t>
            </a:r>
            <a:endParaRPr lang="en-US" sz="1300" dirty="0"/>
          </a:p>
        </p:txBody>
      </p:sp>
      <p:sp>
        <p:nvSpPr>
          <p:cNvPr id="11" name="Shape 9"/>
          <p:cNvSpPr/>
          <p:nvPr/>
        </p:nvSpPr>
        <p:spPr>
          <a:xfrm>
            <a:off x="548640" y="3246120"/>
            <a:ext cx="6309360" cy="777240"/>
          </a:xfrm>
          <a:prstGeom prst="roundRect">
            <a:avLst>
              <a:gd name="adj" fmla="val 9412"/>
            </a:avLst>
          </a:prstGeom>
          <a:solidFill>
            <a:schemeClr val="bg2"/>
          </a:solidFill>
          <a:ln w="12700">
            <a:solidFill>
              <a:schemeClr val="bg2"/>
            </a:solidFill>
            <a:prstDash val="solid"/>
          </a:ln>
        </p:spPr>
      </p:sp>
      <p:sp>
        <p:nvSpPr>
          <p:cNvPr id="12" name="Shape 10"/>
          <p:cNvSpPr/>
          <p:nvPr/>
        </p:nvSpPr>
        <p:spPr>
          <a:xfrm>
            <a:off x="777240" y="3493008"/>
            <a:ext cx="274320" cy="274320"/>
          </a:xfrm>
          <a:prstGeom prst="ellipse">
            <a:avLst/>
          </a:prstGeom>
          <a:solidFill>
            <a:srgbClr val="D4820A"/>
          </a:solidFill>
          <a:ln w="12700">
            <a:solidFill>
              <a:srgbClr val="D4820A"/>
            </a:solidFill>
            <a:prstDash val="solid"/>
          </a:ln>
        </p:spPr>
      </p:sp>
      <p:sp>
        <p:nvSpPr>
          <p:cNvPr id="13" name="Text 11"/>
          <p:cNvSpPr txBox="1"/>
          <p:nvPr/>
        </p:nvSpPr>
        <p:spPr>
          <a:xfrm>
            <a:off x="1234440" y="3319272"/>
            <a:ext cx="5394960" cy="320040"/>
          </a:xfrm>
          <a:prstGeom prst="rect">
            <a:avLst/>
          </a:prstGeom>
          <a:noFill/>
          <a:ln/>
        </p:spPr>
        <p:txBody>
          <a:bodyPr wrap="square" lIns="0" tIns="0" rIns="0" bIns="0" rtlCol="0" anchor="t"/>
          <a:lstStyle/>
          <a:p>
            <a:pPr indent="0" marL="0">
              <a:buNone/>
            </a:pPr>
            <a:r>
              <a:rPr lang="en-US" sz="1600" b="1" dirty="0">
                <a:solidFill>
                  <a:schemeClr val="tx2"/>
                </a:solidFill>
              </a:rPr>
              <a:t>Resilient / Federated</a:t>
            </a:r>
            <a:endParaRPr lang="en-US" sz="1600" dirty="0"/>
          </a:p>
        </p:txBody>
      </p:sp>
      <p:sp>
        <p:nvSpPr>
          <p:cNvPr id="14" name="Text 12"/>
          <p:cNvSpPr txBox="1"/>
          <p:nvPr/>
        </p:nvSpPr>
        <p:spPr>
          <a:xfrm>
            <a:off x="1234440" y="3639312"/>
            <a:ext cx="5394960" cy="347472"/>
          </a:xfrm>
          <a:prstGeom prst="rect">
            <a:avLst/>
          </a:prstGeom>
          <a:noFill/>
          <a:ln/>
        </p:spPr>
        <p:txBody>
          <a:bodyPr wrap="square" lIns="0" tIns="0" rIns="0" bIns="0" rtlCol="0" anchor="t"/>
          <a:lstStyle/>
          <a:p>
            <a:pPr indent="0" marL="0">
              <a:buNone/>
            </a:pPr>
            <a:r>
              <a:rPr lang="en-US" sz="1300" dirty="0">
                <a:solidFill>
                  <a:schemeClr val="tx1"/>
                </a:solidFill>
              </a:rPr>
              <a:t>Risk-weighted placement with redundant fallback paths</a:t>
            </a:r>
            <a:endParaRPr lang="en-US" sz="1300" dirty="0"/>
          </a:p>
        </p:txBody>
      </p:sp>
      <p:sp>
        <p:nvSpPr>
          <p:cNvPr id="15" name="Shape 13"/>
          <p:cNvSpPr/>
          <p:nvPr/>
        </p:nvSpPr>
        <p:spPr>
          <a:xfrm>
            <a:off x="548640" y="4160520"/>
            <a:ext cx="6309360" cy="777240"/>
          </a:xfrm>
          <a:prstGeom prst="roundRect">
            <a:avLst>
              <a:gd name="adj" fmla="val 9412"/>
            </a:avLst>
          </a:prstGeom>
          <a:solidFill>
            <a:schemeClr val="bg2"/>
          </a:solidFill>
          <a:ln w="12700">
            <a:solidFill>
              <a:schemeClr val="bg2"/>
            </a:solidFill>
            <a:prstDash val="solid"/>
          </a:ln>
        </p:spPr>
      </p:sp>
      <p:sp>
        <p:nvSpPr>
          <p:cNvPr id="16" name="Shape 14"/>
          <p:cNvSpPr/>
          <p:nvPr/>
        </p:nvSpPr>
        <p:spPr>
          <a:xfrm>
            <a:off x="777240" y="4407408"/>
            <a:ext cx="274320" cy="274320"/>
          </a:xfrm>
          <a:prstGeom prst="ellipse">
            <a:avLst/>
          </a:prstGeom>
          <a:solidFill>
            <a:srgbClr val="2E6FB5"/>
          </a:solidFill>
          <a:ln w="12700">
            <a:solidFill>
              <a:srgbClr val="2E6FB5"/>
            </a:solidFill>
            <a:prstDash val="solid"/>
          </a:ln>
        </p:spPr>
      </p:sp>
      <p:sp>
        <p:nvSpPr>
          <p:cNvPr id="17" name="Text 15"/>
          <p:cNvSpPr txBox="1"/>
          <p:nvPr/>
        </p:nvSpPr>
        <p:spPr>
          <a:xfrm>
            <a:off x="1234440" y="4233672"/>
            <a:ext cx="5394960" cy="320040"/>
          </a:xfrm>
          <a:prstGeom prst="rect">
            <a:avLst/>
          </a:prstGeom>
          <a:noFill/>
          <a:ln/>
        </p:spPr>
        <p:txBody>
          <a:bodyPr wrap="square" lIns="0" tIns="0" rIns="0" bIns="0" rtlCol="0" anchor="t"/>
          <a:lstStyle/>
          <a:p>
            <a:pPr indent="0" marL="0">
              <a:buNone/>
            </a:pPr>
            <a:r>
              <a:rPr lang="en-US" sz="1600" b="1" dirty="0">
                <a:solidFill>
                  <a:schemeClr val="tx2"/>
                </a:solidFill>
              </a:rPr>
              <a:t>RL-Markov</a:t>
            </a:r>
            <a:endParaRPr lang="en-US" sz="1600" dirty="0"/>
          </a:p>
        </p:txBody>
      </p:sp>
      <p:sp>
        <p:nvSpPr>
          <p:cNvPr id="18" name="Text 16"/>
          <p:cNvSpPr txBox="1"/>
          <p:nvPr/>
        </p:nvSpPr>
        <p:spPr>
          <a:xfrm>
            <a:off x="1234440" y="4553712"/>
            <a:ext cx="5394960" cy="347472"/>
          </a:xfrm>
          <a:prstGeom prst="rect">
            <a:avLst/>
          </a:prstGeom>
          <a:noFill/>
          <a:ln/>
        </p:spPr>
        <p:txBody>
          <a:bodyPr wrap="square" lIns="0" tIns="0" rIns="0" bIns="0" rtlCol="0" anchor="t"/>
          <a:lstStyle/>
          <a:p>
            <a:pPr indent="0" marL="0">
              <a:buNone/>
            </a:pPr>
            <a:r>
              <a:rPr lang="en-US" sz="1300" dirty="0">
                <a:solidFill>
                  <a:schemeClr val="tx1"/>
                </a:solidFill>
              </a:rPr>
              <a:t>Finite-horizon MDP solved by dynamic programming, plus online Q-learning</a:t>
            </a:r>
            <a:endParaRPr lang="en-US" sz="1300" dirty="0"/>
          </a:p>
        </p:txBody>
      </p:sp>
      <p:sp>
        <p:nvSpPr>
          <p:cNvPr id="19" name="Text 17"/>
          <p:cNvSpPr txBox="1"/>
          <p:nvPr/>
        </p:nvSpPr>
        <p:spPr>
          <a:xfrm>
            <a:off x="548640" y="5166360"/>
            <a:ext cx="6309360" cy="640080"/>
          </a:xfrm>
          <a:prstGeom prst="rect">
            <a:avLst/>
          </a:prstGeom>
          <a:noFill/>
          <a:ln/>
        </p:spPr>
        <p:txBody>
          <a:bodyPr wrap="square" lIns="0" tIns="0" rIns="0" bIns="0" rtlCol="0" anchor="t"/>
          <a:lstStyle/>
          <a:p>
            <a:pPr indent="0" marL="0">
              <a:buNone/>
            </a:pPr>
            <a:r>
              <a:rPr lang="en-US" sz="1400" i="1" dirty="0">
                <a:solidFill>
                  <a:schemeClr val="accent6"/>
                </a:solidFill>
              </a:rPr>
              <a:t>Every strategy supports dry-run: predicted latency, energy and SLA risk with no resources locked.</a:t>
            </a:r>
            <a:endParaRPr lang="en-US" sz="1400" dirty="0"/>
          </a:p>
        </p:txBody>
      </p:sp>
      <p:sp>
        <p:nvSpPr>
          <p:cNvPr id="20" name="cost-model"/>
          <p:cNvSpPr/>
          <p:nvPr/>
        </p:nvSpPr>
        <p:spPr>
          <a:xfrm>
            <a:off x="7269480" y="1417320"/>
            <a:ext cx="4370832" cy="4389120"/>
          </a:xfrm>
          <a:prstGeom prst="roundRect">
            <a:avLst>
              <a:gd name="adj" fmla="val 2510"/>
            </a:avLst>
          </a:prstGeom>
          <a:solidFill>
            <a:schemeClr val="tx2"/>
          </a:solidFill>
          <a:ln w="12700">
            <a:solidFill>
              <a:schemeClr val="tx2"/>
            </a:solidFill>
            <a:prstDash val="solid"/>
          </a:ln>
        </p:spPr>
      </p:sp>
      <p:sp>
        <p:nvSpPr>
          <p:cNvPr id="21" name="Text 19"/>
          <p:cNvSpPr txBox="1"/>
          <p:nvPr/>
        </p:nvSpPr>
        <p:spPr>
          <a:xfrm>
            <a:off x="7589520" y="1645920"/>
            <a:ext cx="3749040" cy="320040"/>
          </a:xfrm>
          <a:prstGeom prst="rect">
            <a:avLst/>
          </a:prstGeom>
          <a:noFill/>
          <a:ln/>
        </p:spPr>
        <p:txBody>
          <a:bodyPr wrap="square" lIns="0" tIns="0" rIns="0" bIns="0" rtlCol="0" anchor="t"/>
          <a:lstStyle/>
          <a:p>
            <a:pPr indent="0" marL="0">
              <a:buNone/>
            </a:pPr>
            <a:r>
              <a:rPr lang="en-US" sz="1200" spc="100" kern="0" dirty="0">
                <a:solidFill>
                  <a:srgbClr val="7FB0E6"/>
                </a:solidFill>
                <a:latin typeface="Courier New" pitchFamily="34" charset="0"/>
                <a:ea typeface="Courier New" pitchFamily="34" charset="-122"/>
                <a:cs typeface="Courier New" pitchFamily="34" charset="-120"/>
              </a:rPr>
              <a:t>RL-MARKOV COST MODEL</a:t>
            </a:r>
            <a:endParaRPr lang="en-US" sz="1200" dirty="0"/>
          </a:p>
        </p:txBody>
      </p:sp>
      <p:sp>
        <p:nvSpPr>
          <p:cNvPr id="22" name="Text 20"/>
          <p:cNvSpPr txBox="1"/>
          <p:nvPr/>
        </p:nvSpPr>
        <p:spPr>
          <a:xfrm>
            <a:off x="7589520" y="2011680"/>
            <a:ext cx="3749040" cy="73152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Weighted Tchebycheff over 9 terms</a:t>
            </a:r>
            <a:endParaRPr lang="en-US" sz="2000" dirty="0"/>
          </a:p>
        </p:txBody>
      </p:sp>
      <p:sp>
        <p:nvSpPr>
          <p:cNvPr id="23" name="Text 21"/>
          <p:cNvSpPr txBox="1"/>
          <p:nvPr/>
        </p:nvSpPr>
        <p:spPr>
          <a:xfrm>
            <a:off x="7589520" y="2743200"/>
            <a:ext cx="3840480" cy="1600200"/>
          </a:xfrm>
          <a:prstGeom prst="rect">
            <a:avLst/>
          </a:prstGeom>
          <a:noFill/>
          <a:ln/>
        </p:spPr>
        <p:txBody>
          <a:bodyPr wrap="square" lIns="0" tIns="0" rIns="0" bIns="0" rtlCol="0" anchor="t"/>
          <a:lstStyle/>
          <a:p>
            <a:pPr indent="0" marL="0">
              <a:spcAft>
                <a:spcPts val="300"/>
              </a:spcAft>
              <a:buNone/>
            </a:pPr>
            <a:r>
              <a:rPr lang="en-US" sz="1200" dirty="0">
                <a:solidFill>
                  <a:srgbClr val="C9D3E3"/>
                </a:solidFill>
                <a:latin typeface="Courier New" pitchFamily="34" charset="0"/>
                <a:ea typeface="Courier New" pitchFamily="34" charset="-122"/>
                <a:cs typeface="Courier New" pitchFamily="34" charset="-120"/>
              </a:rPr>
              <a:t>latency 0.34   energy 0.14</a:t>
            </a:r>
            <a:endParaRPr lang="en-US" sz="1200" dirty="0"/>
          </a:p>
          <a:p>
            <a:pPr indent="0" marL="0">
              <a:spcAft>
                <a:spcPts val="300"/>
              </a:spcAft>
              <a:buNone/>
            </a:pPr>
            <a:r>
              <a:rPr lang="en-US" sz="1200" dirty="0">
                <a:solidFill>
                  <a:srgbClr val="C9D3E3"/>
                </a:solidFill>
                <a:latin typeface="Courier New" pitchFamily="34" charset="0"/>
                <a:ea typeface="Courier New" pitchFamily="34" charset="-122"/>
                <a:cs typeface="Courier New" pitchFamily="34" charset="-120"/>
              </a:rPr>
              <a:t>risk    0.16   load   0.10</a:t>
            </a:r>
            <a:endParaRPr lang="en-US" sz="1200" dirty="0"/>
          </a:p>
          <a:p>
            <a:pPr indent="0" marL="0">
              <a:spcAft>
                <a:spcPts val="300"/>
              </a:spcAft>
              <a:buNone/>
            </a:pPr>
            <a:r>
              <a:rPr lang="en-US" sz="1200" dirty="0">
                <a:solidFill>
                  <a:srgbClr val="C9D3E3"/>
                </a:solidFill>
                <a:latin typeface="Courier New" pitchFamily="34" charset="0"/>
                <a:ea typeface="Courier New" pitchFamily="34" charset="-122"/>
                <a:cs typeface="Courier New" pitchFamily="34" charset="-120"/>
              </a:rPr>
              <a:t>network 0.08   federation 0.06</a:t>
            </a:r>
            <a:endParaRPr lang="en-US" sz="1200" dirty="0"/>
          </a:p>
          <a:p>
            <a:pPr indent="0" marL="0">
              <a:spcAft>
                <a:spcPts val="300"/>
              </a:spcAft>
              <a:buNone/>
            </a:pPr>
            <a:r>
              <a:rPr lang="en-US" sz="1200" dirty="0">
                <a:solidFill>
                  <a:srgbClr val="C9D3E3"/>
                </a:solidFill>
                <a:latin typeface="Courier New" pitchFamily="34" charset="0"/>
                <a:ea typeface="Courier New" pitchFamily="34" charset="-122"/>
                <a:cs typeface="Courier New" pitchFamily="34" charset="-120"/>
              </a:rPr>
              <a:t>RL 0.04   reliability 0.04</a:t>
            </a:r>
            <a:endParaRPr lang="en-US" sz="1200" dirty="0"/>
          </a:p>
          <a:p>
            <a:pPr indent="0" marL="0">
              <a:spcAft>
                <a:spcPts val="300"/>
              </a:spcAft>
              <a:buNone/>
            </a:pPr>
            <a:r>
              <a:rPr lang="en-US" sz="1200" dirty="0">
                <a:solidFill>
                  <a:srgbClr val="C9D3E3"/>
                </a:solidFill>
                <a:latin typeface="Courier New" pitchFamily="34" charset="0"/>
                <a:ea typeface="Courier New" pitchFamily="34" charset="-122"/>
                <a:cs typeface="Courier New" pitchFamily="34" charset="-120"/>
              </a:rPr>
              <a:t>availability 0.04</a:t>
            </a:r>
            <a:endParaRPr lang="en-US" sz="1200" dirty="0"/>
          </a:p>
        </p:txBody>
      </p:sp>
      <p:sp>
        <p:nvSpPr>
          <p:cNvPr id="24" name="Text 22"/>
          <p:cNvSpPr txBox="1"/>
          <p:nvPr/>
        </p:nvSpPr>
        <p:spPr>
          <a:xfrm>
            <a:off x="7589520" y="4480560"/>
            <a:ext cx="3749040" cy="1188720"/>
          </a:xfrm>
          <a:prstGeom prst="rect">
            <a:avLst/>
          </a:prstGeom>
          <a:noFill/>
          <a:ln/>
        </p:spPr>
        <p:txBody>
          <a:bodyPr wrap="square" lIns="0" tIns="0" rIns="0" bIns="0" rtlCol="0" anchor="t"/>
          <a:lstStyle/>
          <a:p>
            <a:pPr indent="0" marL="0">
              <a:buNone/>
            </a:pPr>
            <a:r>
              <a:rPr lang="en-US" sz="1400" dirty="0">
                <a:solidFill>
                  <a:srgbClr val="C9D3E3"/>
                </a:solidFill>
              </a:rPr>
              <a:t>Penalises a placement that is great on one term and terrible on another, which a plain weighted sum would miss.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Chaos and resilience: break it in the twin first</a:t>
            </a:r>
            <a:endParaRPr lang="en-US" sz="3200" dirty="0"/>
          </a:p>
        </p:txBody>
      </p:sp>
      <p:sp>
        <p:nvSpPr>
          <p:cNvPr id="3" name="Text 1"/>
          <p:cNvSpPr txBox="1"/>
          <p:nvPr/>
        </p:nvSpPr>
        <p:spPr>
          <a:xfrm>
            <a:off x="548640" y="1371600"/>
            <a:ext cx="6035040" cy="365760"/>
          </a:xfrm>
          <a:prstGeom prst="rect">
            <a:avLst/>
          </a:prstGeom>
          <a:noFill/>
          <a:ln/>
        </p:spPr>
        <p:txBody>
          <a:bodyPr wrap="square" lIns="0" tIns="0" rIns="0" bIns="0" rtlCol="0" anchor="t"/>
          <a:lstStyle/>
          <a:p>
            <a:pPr indent="0" marL="0">
              <a:buNone/>
            </a:pPr>
            <a:r>
              <a:rPr lang="en-US" sz="1600" b="1" dirty="0">
                <a:solidFill>
                  <a:schemeClr val="tx2"/>
                </a:solidFill>
              </a:rPr>
              <a:t>Deterministic scenarios, replayed on a compressed timeline</a:t>
            </a:r>
            <a:endParaRPr lang="en-US" sz="1600" dirty="0"/>
          </a:p>
        </p:txBody>
      </p:sp>
      <p:sp>
        <p:nvSpPr>
          <p:cNvPr id="4" name="Shape 2"/>
          <p:cNvSpPr/>
          <p:nvPr/>
        </p:nvSpPr>
        <p:spPr>
          <a:xfrm>
            <a:off x="548640" y="1874520"/>
            <a:ext cx="6035040" cy="841248"/>
          </a:xfrm>
          <a:prstGeom prst="roundRect">
            <a:avLst>
              <a:gd name="adj" fmla="val 8696"/>
            </a:avLst>
          </a:prstGeom>
          <a:solidFill>
            <a:schemeClr val="bg2"/>
          </a:solidFill>
          <a:ln w="12700">
            <a:solidFill>
              <a:schemeClr val="bg2"/>
            </a:solidFill>
            <a:prstDash val="solid"/>
          </a:ln>
        </p:spPr>
      </p:sp>
      <p:sp>
        <p:nvSpPr>
          <p:cNvPr id="5" name="Text 3"/>
          <p:cNvSpPr txBox="1"/>
          <p:nvPr/>
        </p:nvSpPr>
        <p:spPr>
          <a:xfrm>
            <a:off x="777240" y="1965960"/>
            <a:ext cx="5577840" cy="320040"/>
          </a:xfrm>
          <a:prstGeom prst="rect">
            <a:avLst/>
          </a:prstGeom>
          <a:noFill/>
          <a:ln/>
        </p:spPr>
        <p:txBody>
          <a:bodyPr wrap="square" lIns="0" tIns="0" rIns="0" bIns="0" rtlCol="0" anchor="t"/>
          <a:lstStyle/>
          <a:p>
            <a:pPr indent="0" marL="0">
              <a:buNone/>
            </a:pPr>
            <a:r>
              <a:rPr lang="en-US" sz="1400" b="1" dirty="0">
                <a:solidFill>
                  <a:schemeClr val="accent4"/>
                </a:solidFill>
                <a:latin typeface="Courier New" pitchFamily="34" charset="0"/>
                <a:ea typeface="Courier New" pitchFamily="34" charset="-122"/>
                <a:cs typeface="Courier New" pitchFamily="34" charset="-120"/>
              </a:rPr>
              <a:t>wifi_brownout</a:t>
            </a:r>
            <a:endParaRPr lang="en-US" sz="1400" dirty="0"/>
          </a:p>
        </p:txBody>
      </p:sp>
      <p:sp>
        <p:nvSpPr>
          <p:cNvPr id="6" name="Text 4"/>
          <p:cNvSpPr txBox="1"/>
          <p:nvPr/>
        </p:nvSpPr>
        <p:spPr>
          <a:xfrm>
            <a:off x="777240" y="2304288"/>
            <a:ext cx="5577840" cy="365760"/>
          </a:xfrm>
          <a:prstGeom prst="rect">
            <a:avLst/>
          </a:prstGeom>
          <a:noFill/>
          <a:ln/>
        </p:spPr>
        <p:txBody>
          <a:bodyPr wrap="square" lIns="0" tIns="0" rIns="0" bIns="0" rtlCol="0" anchor="t"/>
          <a:lstStyle/>
          <a:p>
            <a:pPr indent="0" marL="0">
              <a:buNone/>
            </a:pPr>
            <a:r>
              <a:rPr lang="en-US" sz="1300" dirty="0">
                <a:solidFill>
                  <a:schemeClr val="tx1"/>
                </a:solidFill>
              </a:rPr>
              <a:t>Congested Wi-Fi 7 cloudlet link plus one thermally derated workstation</a:t>
            </a:r>
            <a:endParaRPr lang="en-US" sz="1300" dirty="0"/>
          </a:p>
        </p:txBody>
      </p:sp>
      <p:sp>
        <p:nvSpPr>
          <p:cNvPr id="7" name="Shape 5"/>
          <p:cNvSpPr/>
          <p:nvPr/>
        </p:nvSpPr>
        <p:spPr>
          <a:xfrm>
            <a:off x="548640" y="2862072"/>
            <a:ext cx="6035040" cy="841248"/>
          </a:xfrm>
          <a:prstGeom prst="roundRect">
            <a:avLst>
              <a:gd name="adj" fmla="val 8696"/>
            </a:avLst>
          </a:prstGeom>
          <a:solidFill>
            <a:schemeClr val="bg2"/>
          </a:solidFill>
          <a:ln w="12700">
            <a:solidFill>
              <a:schemeClr val="bg2"/>
            </a:solidFill>
            <a:prstDash val="solid"/>
          </a:ln>
        </p:spPr>
      </p:sp>
      <p:sp>
        <p:nvSpPr>
          <p:cNvPr id="8" name="Text 6"/>
          <p:cNvSpPr txBox="1"/>
          <p:nvPr/>
        </p:nvSpPr>
        <p:spPr>
          <a:xfrm>
            <a:off x="777240" y="2953512"/>
            <a:ext cx="5577840" cy="320040"/>
          </a:xfrm>
          <a:prstGeom prst="rect">
            <a:avLst/>
          </a:prstGeom>
          <a:noFill/>
          <a:ln/>
        </p:spPr>
        <p:txBody>
          <a:bodyPr wrap="square" lIns="0" tIns="0" rIns="0" bIns="0" rtlCol="0" anchor="t"/>
          <a:lstStyle/>
          <a:p>
            <a:pPr indent="0" marL="0">
              <a:buNone/>
            </a:pPr>
            <a:r>
              <a:rPr lang="en-US" sz="1400" b="1" dirty="0">
                <a:solidFill>
                  <a:schemeClr val="accent4"/>
                </a:solidFill>
                <a:latin typeface="Courier New" pitchFamily="34" charset="0"/>
                <a:ea typeface="Courier New" pitchFamily="34" charset="-122"/>
                <a:cs typeface="Courier New" pitchFamily="34" charset="-120"/>
              </a:rPr>
              <a:t>core_link_cut</a:t>
            </a:r>
            <a:endParaRPr lang="en-US" sz="1400" dirty="0"/>
          </a:p>
        </p:txBody>
      </p:sp>
      <p:sp>
        <p:nvSpPr>
          <p:cNvPr id="9" name="Text 7"/>
          <p:cNvSpPr txBox="1"/>
          <p:nvPr/>
        </p:nvSpPr>
        <p:spPr>
          <a:xfrm>
            <a:off x="777240" y="3291840"/>
            <a:ext cx="5577840" cy="365760"/>
          </a:xfrm>
          <a:prstGeom prst="rect">
            <a:avLst/>
          </a:prstGeom>
          <a:noFill/>
          <a:ln/>
        </p:spPr>
        <p:txBody>
          <a:bodyPr wrap="square" lIns="0" tIns="0" rIns="0" bIns="0" rtlCol="0" anchor="t"/>
          <a:lstStyle/>
          <a:p>
            <a:pPr indent="0" marL="0">
              <a:buNone/>
            </a:pPr>
            <a:r>
              <a:rPr lang="en-US" sz="1300" dirty="0">
                <a:solidFill>
                  <a:schemeClr val="tx1"/>
                </a:solidFill>
              </a:rPr>
              <a:t>Hard lab-to-datacenter cut and a node kill, forcing spill-over routing</a:t>
            </a:r>
            <a:endParaRPr lang="en-US" sz="1300" dirty="0"/>
          </a:p>
        </p:txBody>
      </p:sp>
      <p:sp>
        <p:nvSpPr>
          <p:cNvPr id="10" name="Shape 8"/>
          <p:cNvSpPr/>
          <p:nvPr/>
        </p:nvSpPr>
        <p:spPr>
          <a:xfrm>
            <a:off x="548640" y="3849624"/>
            <a:ext cx="6035040" cy="841248"/>
          </a:xfrm>
          <a:prstGeom prst="roundRect">
            <a:avLst>
              <a:gd name="adj" fmla="val 8696"/>
            </a:avLst>
          </a:prstGeom>
          <a:solidFill>
            <a:schemeClr val="bg2"/>
          </a:solidFill>
          <a:ln w="12700">
            <a:solidFill>
              <a:schemeClr val="bg2"/>
            </a:solidFill>
            <a:prstDash val="solid"/>
          </a:ln>
        </p:spPr>
      </p:sp>
      <p:sp>
        <p:nvSpPr>
          <p:cNvPr id="11" name="Text 9"/>
          <p:cNvSpPr txBox="1"/>
          <p:nvPr/>
        </p:nvSpPr>
        <p:spPr>
          <a:xfrm>
            <a:off x="777240" y="3941064"/>
            <a:ext cx="5577840" cy="320040"/>
          </a:xfrm>
          <a:prstGeom prst="rect">
            <a:avLst/>
          </a:prstGeom>
          <a:noFill/>
          <a:ln/>
        </p:spPr>
        <p:txBody>
          <a:bodyPr wrap="square" lIns="0" tIns="0" rIns="0" bIns="0" rtlCol="0" anchor="t"/>
          <a:lstStyle/>
          <a:p>
            <a:pPr indent="0" marL="0">
              <a:buNone/>
            </a:pPr>
            <a:r>
              <a:rPr lang="en-US" sz="1400" b="1" dirty="0">
                <a:solidFill>
                  <a:schemeClr val="accent4"/>
                </a:solidFill>
                <a:latin typeface="Courier New" pitchFamily="34" charset="0"/>
                <a:ea typeface="Courier New" pitchFamily="34" charset="-122"/>
                <a:cs typeface="Courier New" pitchFamily="34" charset="-120"/>
              </a:rPr>
              <a:t>campus_edge_failover</a:t>
            </a:r>
            <a:endParaRPr lang="en-US" sz="1400" dirty="0"/>
          </a:p>
        </p:txBody>
      </p:sp>
      <p:sp>
        <p:nvSpPr>
          <p:cNvPr id="12" name="Text 10"/>
          <p:cNvSpPr txBox="1"/>
          <p:nvPr/>
        </p:nvSpPr>
        <p:spPr>
          <a:xfrm>
            <a:off x="777240" y="4279392"/>
            <a:ext cx="5577840" cy="365760"/>
          </a:xfrm>
          <a:prstGeom prst="rect">
            <a:avLst/>
          </a:prstGeom>
          <a:noFill/>
          <a:ln/>
        </p:spPr>
        <p:txBody>
          <a:bodyPr wrap="square" lIns="0" tIns="0" rIns="0" bIns="0" rtlCol="0" anchor="t"/>
          <a:lstStyle/>
          <a:p>
            <a:pPr indent="0" marL="0">
              <a:buNone/>
            </a:pPr>
            <a:r>
              <a:rPr lang="en-US" sz="1300" dirty="0">
                <a:solidFill>
                  <a:schemeClr val="tx1"/>
                </a:solidFill>
              </a:rPr>
              <a:t>Edge zone blackout with a cross-zone partition</a:t>
            </a:r>
            <a:endParaRPr lang="en-US" sz="1300" dirty="0"/>
          </a:p>
        </p:txBody>
      </p:sp>
      <p:sp>
        <p:nvSpPr>
          <p:cNvPr id="13" name="Shape 11"/>
          <p:cNvSpPr/>
          <p:nvPr/>
        </p:nvSpPr>
        <p:spPr>
          <a:xfrm>
            <a:off x="548640" y="4837176"/>
            <a:ext cx="6035040" cy="841248"/>
          </a:xfrm>
          <a:prstGeom prst="roundRect">
            <a:avLst>
              <a:gd name="adj" fmla="val 8696"/>
            </a:avLst>
          </a:prstGeom>
          <a:solidFill>
            <a:schemeClr val="bg2"/>
          </a:solidFill>
          <a:ln w="12700">
            <a:solidFill>
              <a:schemeClr val="bg2"/>
            </a:solidFill>
            <a:prstDash val="solid"/>
          </a:ln>
        </p:spPr>
      </p:sp>
      <p:sp>
        <p:nvSpPr>
          <p:cNvPr id="14" name="Text 12"/>
          <p:cNvSpPr txBox="1"/>
          <p:nvPr/>
        </p:nvSpPr>
        <p:spPr>
          <a:xfrm>
            <a:off x="777240" y="4928616"/>
            <a:ext cx="5577840" cy="320040"/>
          </a:xfrm>
          <a:prstGeom prst="rect">
            <a:avLst/>
          </a:prstGeom>
          <a:noFill/>
          <a:ln/>
        </p:spPr>
        <p:txBody>
          <a:bodyPr wrap="square" lIns="0" tIns="0" rIns="0" bIns="0" rtlCol="0" anchor="t"/>
          <a:lstStyle/>
          <a:p>
            <a:pPr indent="0" marL="0">
              <a:buNone/>
            </a:pPr>
            <a:r>
              <a:rPr lang="en-US" sz="1400" b="1" dirty="0">
                <a:solidFill>
                  <a:schemeClr val="accent4"/>
                </a:solidFill>
                <a:latin typeface="Courier New" pitchFamily="34" charset="0"/>
                <a:ea typeface="Courier New" pitchFamily="34" charset="-122"/>
                <a:cs typeface="Courier New" pitchFamily="34" charset="-120"/>
              </a:rPr>
              <a:t>multi_federation_surge</a:t>
            </a:r>
            <a:endParaRPr lang="en-US" sz="1400" dirty="0"/>
          </a:p>
        </p:txBody>
      </p:sp>
      <p:sp>
        <p:nvSpPr>
          <p:cNvPr id="15" name="Text 13"/>
          <p:cNvSpPr txBox="1"/>
          <p:nvPr/>
        </p:nvSpPr>
        <p:spPr>
          <a:xfrm>
            <a:off x="777240" y="5266944"/>
            <a:ext cx="5577840" cy="365760"/>
          </a:xfrm>
          <a:prstGeom prst="rect">
            <a:avLst/>
          </a:prstGeom>
          <a:noFill/>
          <a:ln/>
        </p:spPr>
        <p:txBody>
          <a:bodyPr wrap="square" lIns="0" tIns="0" rIns="0" bIns="0" rtlCol="0" anchor="t"/>
          <a:lstStyle/>
          <a:p>
            <a:pPr indent="0" marL="0">
              <a:buNone/>
            </a:pPr>
            <a:r>
              <a:rPr lang="en-US" sz="1300" dirty="0">
                <a:solidFill>
                  <a:schemeClr val="tx1"/>
                </a:solidFill>
              </a:rPr>
              <a:t>Load surge across several federations at once</a:t>
            </a:r>
            <a:endParaRPr lang="en-US" sz="1300" dirty="0"/>
          </a:p>
        </p:txBody>
      </p:sp>
      <p:sp>
        <p:nvSpPr>
          <p:cNvPr id="16" name="guard-0"/>
          <p:cNvSpPr/>
          <p:nvPr/>
        </p:nvSpPr>
        <p:spPr>
          <a:xfrm>
            <a:off x="6949440" y="1371600"/>
            <a:ext cx="4690872" cy="1280160"/>
          </a:xfrm>
          <a:prstGeom prst="roundRect">
            <a:avLst>
              <a:gd name="adj" fmla="val 8571"/>
            </a:avLst>
          </a:prstGeom>
          <a:solidFill>
            <a:schemeClr val="bg2"/>
          </a:solidFill>
          <a:ln w="12700">
            <a:solidFill>
              <a:schemeClr val="bg2"/>
            </a:solidFill>
            <a:prstDash val="solid"/>
          </a:ln>
        </p:spPr>
      </p:sp>
      <p:sp>
        <p:nvSpPr>
          <p:cNvPr id="17" name="Shape 15"/>
          <p:cNvSpPr/>
          <p:nvPr/>
        </p:nvSpPr>
        <p:spPr>
          <a:xfrm>
            <a:off x="7178040" y="1600200"/>
            <a:ext cx="365760" cy="365760"/>
          </a:xfrm>
          <a:prstGeom prst="ellipse">
            <a:avLst/>
          </a:prstGeom>
          <a:solidFill>
            <a:srgbClr val="1E7A6E"/>
          </a:solidFill>
          <a:ln w="12700">
            <a:solidFill>
              <a:srgbClr val="1E7A6E"/>
            </a:solidFill>
            <a:prstDash val="solid"/>
          </a:ln>
        </p:spPr>
      </p:sp>
      <p:sp>
        <p:nvSpPr>
          <p:cNvPr id="18" name="Text 16"/>
          <p:cNvSpPr txBox="1"/>
          <p:nvPr/>
        </p:nvSpPr>
        <p:spPr>
          <a:xfrm>
            <a:off x="7726680" y="1554480"/>
            <a:ext cx="3749040" cy="365760"/>
          </a:xfrm>
          <a:prstGeom prst="rect">
            <a:avLst/>
          </a:prstGeom>
          <a:noFill/>
          <a:ln/>
        </p:spPr>
        <p:txBody>
          <a:bodyPr wrap="square" lIns="0" tIns="0" rIns="0" bIns="0" rtlCol="0" anchor="t"/>
          <a:lstStyle/>
          <a:p>
            <a:pPr indent="0" marL="0">
              <a:buNone/>
            </a:pPr>
            <a:r>
              <a:rPr lang="en-US" sz="1700" b="1" dirty="0">
                <a:solidFill>
                  <a:schemeClr val="tx2"/>
                </a:solidFill>
              </a:rPr>
              <a:t>Self-healing controller</a:t>
            </a:r>
            <a:endParaRPr lang="en-US" sz="1700" dirty="0"/>
          </a:p>
        </p:txBody>
      </p:sp>
      <p:sp>
        <p:nvSpPr>
          <p:cNvPr id="19" name="Text 17"/>
          <p:cNvSpPr txBox="1"/>
          <p:nvPr/>
        </p:nvSpPr>
        <p:spPr>
          <a:xfrm>
            <a:off x="7726680" y="1938528"/>
            <a:ext cx="3749040" cy="640080"/>
          </a:xfrm>
          <a:prstGeom prst="rect">
            <a:avLst/>
          </a:prstGeom>
          <a:noFill/>
          <a:ln/>
        </p:spPr>
        <p:txBody>
          <a:bodyPr wrap="square" lIns="0" tIns="0" rIns="0" bIns="0" rtlCol="0" anchor="t"/>
          <a:lstStyle/>
          <a:p>
            <a:pPr indent="0" marL="0">
              <a:buNone/>
            </a:pPr>
            <a:r>
              <a:rPr lang="en-US" sz="1300" dirty="0">
                <a:solidFill>
                  <a:schemeClr val="tx1"/>
                </a:solidFill>
              </a:rPr>
              <a:t>Watches health scores and re-routes reservations off degraded nodes</a:t>
            </a:r>
            <a:endParaRPr lang="en-US" sz="1300" dirty="0"/>
          </a:p>
        </p:txBody>
      </p:sp>
      <p:sp>
        <p:nvSpPr>
          <p:cNvPr id="20" name="guard-1"/>
          <p:cNvSpPr/>
          <p:nvPr/>
        </p:nvSpPr>
        <p:spPr>
          <a:xfrm>
            <a:off x="6949440" y="2834640"/>
            <a:ext cx="4690872" cy="1280160"/>
          </a:xfrm>
          <a:prstGeom prst="roundRect">
            <a:avLst>
              <a:gd name="adj" fmla="val 8571"/>
            </a:avLst>
          </a:prstGeom>
          <a:solidFill>
            <a:schemeClr val="bg2"/>
          </a:solidFill>
          <a:ln w="12700">
            <a:solidFill>
              <a:schemeClr val="bg2"/>
            </a:solidFill>
            <a:prstDash val="solid"/>
          </a:ln>
        </p:spPr>
      </p:sp>
      <p:sp>
        <p:nvSpPr>
          <p:cNvPr id="21" name="Shape 19"/>
          <p:cNvSpPr/>
          <p:nvPr/>
        </p:nvSpPr>
        <p:spPr>
          <a:xfrm>
            <a:off x="7178040" y="3063240"/>
            <a:ext cx="365760" cy="365760"/>
          </a:xfrm>
          <a:prstGeom prst="ellipse">
            <a:avLst/>
          </a:prstGeom>
          <a:solidFill>
            <a:srgbClr val="2E6FB5"/>
          </a:solidFill>
          <a:ln w="12700">
            <a:solidFill>
              <a:srgbClr val="2E6FB5"/>
            </a:solidFill>
            <a:prstDash val="solid"/>
          </a:ln>
        </p:spPr>
      </p:sp>
      <p:sp>
        <p:nvSpPr>
          <p:cNvPr id="22" name="Text 20"/>
          <p:cNvSpPr txBox="1"/>
          <p:nvPr/>
        </p:nvSpPr>
        <p:spPr>
          <a:xfrm>
            <a:off x="7726680" y="3017520"/>
            <a:ext cx="3749040" cy="365760"/>
          </a:xfrm>
          <a:prstGeom prst="rect">
            <a:avLst/>
          </a:prstGeom>
          <a:noFill/>
          <a:ln/>
        </p:spPr>
        <p:txBody>
          <a:bodyPr wrap="square" lIns="0" tIns="0" rIns="0" bIns="0" rtlCol="0" anchor="t"/>
          <a:lstStyle/>
          <a:p>
            <a:pPr indent="0" marL="0">
              <a:buNone/>
            </a:pPr>
            <a:r>
              <a:rPr lang="en-US" sz="1700" b="1" dirty="0">
                <a:solidFill>
                  <a:schemeClr val="tx2"/>
                </a:solidFill>
              </a:rPr>
              <a:t>Resource guardian</a:t>
            </a:r>
            <a:endParaRPr lang="en-US" sz="1700" dirty="0"/>
          </a:p>
        </p:txBody>
      </p:sp>
      <p:sp>
        <p:nvSpPr>
          <p:cNvPr id="23" name="Text 21"/>
          <p:cNvSpPr txBox="1"/>
          <p:nvPr/>
        </p:nvSpPr>
        <p:spPr>
          <a:xfrm>
            <a:off x="7726680" y="3401568"/>
            <a:ext cx="3749040" cy="640080"/>
          </a:xfrm>
          <a:prstGeom prst="rect">
            <a:avLst/>
          </a:prstGeom>
          <a:noFill/>
          <a:ln/>
        </p:spPr>
        <p:txBody>
          <a:bodyPr wrap="square" lIns="0" tIns="0" rIns="0" bIns="0" rtlCol="0" anchor="t"/>
          <a:lstStyle/>
          <a:p>
            <a:pPr indent="0" marL="0">
              <a:buNone/>
            </a:pPr>
            <a:r>
              <a:rPr lang="en-US" sz="1300" dirty="0">
                <a:solidFill>
                  <a:schemeClr val="tx1"/>
                </a:solidFill>
              </a:rPr>
              <a:t>Purges expired and abandoned reservations so nothing deadlocks</a:t>
            </a:r>
            <a:endParaRPr lang="en-US" sz="1300" dirty="0"/>
          </a:p>
        </p:txBody>
      </p:sp>
      <p:sp>
        <p:nvSpPr>
          <p:cNvPr id="24" name="guard-2"/>
          <p:cNvSpPr/>
          <p:nvPr/>
        </p:nvSpPr>
        <p:spPr>
          <a:xfrm>
            <a:off x="6949440" y="4297680"/>
            <a:ext cx="4690872" cy="1280160"/>
          </a:xfrm>
          <a:prstGeom prst="roundRect">
            <a:avLst>
              <a:gd name="adj" fmla="val 8571"/>
            </a:avLst>
          </a:prstGeom>
          <a:solidFill>
            <a:schemeClr val="bg2"/>
          </a:solidFill>
          <a:ln w="12700">
            <a:solidFill>
              <a:schemeClr val="bg2"/>
            </a:solidFill>
            <a:prstDash val="solid"/>
          </a:ln>
        </p:spPr>
      </p:sp>
      <p:sp>
        <p:nvSpPr>
          <p:cNvPr id="25" name="Shape 23"/>
          <p:cNvSpPr/>
          <p:nvPr/>
        </p:nvSpPr>
        <p:spPr>
          <a:xfrm>
            <a:off x="7178040" y="4526280"/>
            <a:ext cx="365760" cy="365760"/>
          </a:xfrm>
          <a:prstGeom prst="ellipse">
            <a:avLst/>
          </a:prstGeom>
          <a:solidFill>
            <a:srgbClr val="D4820A"/>
          </a:solidFill>
          <a:ln w="12700">
            <a:solidFill>
              <a:srgbClr val="D4820A"/>
            </a:solidFill>
            <a:prstDash val="solid"/>
          </a:ln>
        </p:spPr>
      </p:sp>
      <p:sp>
        <p:nvSpPr>
          <p:cNvPr id="26" name="Text 24"/>
          <p:cNvSpPr txBox="1"/>
          <p:nvPr/>
        </p:nvSpPr>
        <p:spPr>
          <a:xfrm>
            <a:off x="7726680" y="4480560"/>
            <a:ext cx="3749040" cy="365760"/>
          </a:xfrm>
          <a:prstGeom prst="rect">
            <a:avLst/>
          </a:prstGeom>
          <a:noFill/>
          <a:ln/>
        </p:spPr>
        <p:txBody>
          <a:bodyPr wrap="square" lIns="0" tIns="0" rIns="0" bIns="0" rtlCol="0" anchor="t"/>
          <a:lstStyle/>
          <a:p>
            <a:pPr indent="0" marL="0">
              <a:buNone/>
            </a:pPr>
            <a:r>
              <a:rPr lang="en-US" sz="1700" b="1" dirty="0">
                <a:solidFill>
                  <a:schemeClr val="tx2"/>
                </a:solidFill>
              </a:rPr>
              <a:t>CI resilience gate</a:t>
            </a:r>
            <a:endParaRPr lang="en-US" sz="1700" dirty="0"/>
          </a:p>
        </p:txBody>
      </p:sp>
      <p:sp>
        <p:nvSpPr>
          <p:cNvPr id="27" name="Text 25"/>
          <p:cNvSpPr txBox="1"/>
          <p:nvPr/>
        </p:nvSpPr>
        <p:spPr>
          <a:xfrm>
            <a:off x="7726680" y="4864608"/>
            <a:ext cx="3749040" cy="640080"/>
          </a:xfrm>
          <a:prstGeom prst="rect">
            <a:avLst/>
          </a:prstGeom>
          <a:noFill/>
          <a:ln/>
        </p:spPr>
        <p:txBody>
          <a:bodyPr wrap="square" lIns="0" tIns="0" rIns="0" bIns="0" rtlCol="0" anchor="t"/>
          <a:lstStyle/>
          <a:p>
            <a:pPr indent="0" marL="0">
              <a:buNone/>
            </a:pPr>
            <a:r>
              <a:rPr lang="en-US" sz="1300" dirty="0">
                <a:solidFill>
                  <a:schemeClr val="tx1"/>
                </a:solidFill>
              </a:rPr>
              <a:t>Fails the build if a scheduling change drops SLA or raises p95 under chaos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Decision tools on top of the twin</a:t>
            </a:r>
            <a:endParaRPr lang="en-US" sz="3200" dirty="0"/>
          </a:p>
        </p:txBody>
      </p:sp>
      <p:sp>
        <p:nvSpPr>
          <p:cNvPr id="3" name="tool-0"/>
          <p:cNvSpPr/>
          <p:nvPr/>
        </p:nvSpPr>
        <p:spPr>
          <a:xfrm>
            <a:off x="548640" y="1463040"/>
            <a:ext cx="3520440" cy="2240280"/>
          </a:xfrm>
          <a:prstGeom prst="roundRect">
            <a:avLst>
              <a:gd name="adj" fmla="val 4898"/>
            </a:avLst>
          </a:prstGeom>
          <a:solidFill>
            <a:schemeClr val="bg2"/>
          </a:solidFill>
          <a:ln w="12700">
            <a:solidFill>
              <a:schemeClr val="bg2"/>
            </a:solidFill>
            <a:prstDash val="solid"/>
          </a:ln>
        </p:spPr>
      </p:sp>
      <p:sp>
        <p:nvSpPr>
          <p:cNvPr id="4" name="Shape 2"/>
          <p:cNvSpPr/>
          <p:nvPr/>
        </p:nvSpPr>
        <p:spPr>
          <a:xfrm>
            <a:off x="822960" y="1737360"/>
            <a:ext cx="411480" cy="411480"/>
          </a:xfrm>
          <a:prstGeom prst="ellipse">
            <a:avLst/>
          </a:prstGeom>
          <a:solidFill>
            <a:srgbClr val="1E7A6E"/>
          </a:solidFill>
          <a:ln w="12700">
            <a:solidFill>
              <a:srgbClr val="1E7A6E"/>
            </a:solidFill>
            <a:prstDash val="solid"/>
          </a:ln>
        </p:spPr>
      </p:sp>
      <p:sp>
        <p:nvSpPr>
          <p:cNvPr id="5" name="Text 3"/>
          <p:cNvSpPr txBox="1"/>
          <p:nvPr/>
        </p:nvSpPr>
        <p:spPr>
          <a:xfrm>
            <a:off x="822960" y="2286000"/>
            <a:ext cx="3017520" cy="411480"/>
          </a:xfrm>
          <a:prstGeom prst="rect">
            <a:avLst/>
          </a:prstGeom>
          <a:noFill/>
          <a:ln/>
        </p:spPr>
        <p:txBody>
          <a:bodyPr wrap="square" lIns="0" tIns="0" rIns="0" bIns="0" rtlCol="0" anchor="t"/>
          <a:lstStyle/>
          <a:p>
            <a:pPr indent="0" marL="0">
              <a:buNone/>
            </a:pPr>
            <a:r>
              <a:rPr lang="en-US" sz="1800" b="1" dirty="0">
                <a:solidFill>
                  <a:schemeClr val="tx2"/>
                </a:solidFill>
              </a:rPr>
              <a:t>Money and carbon</a:t>
            </a:r>
            <a:endParaRPr lang="en-US" sz="1800" dirty="0"/>
          </a:p>
        </p:txBody>
      </p:sp>
      <p:sp>
        <p:nvSpPr>
          <p:cNvPr id="6" name="Text 4"/>
          <p:cNvSpPr txBox="1"/>
          <p:nvPr/>
        </p:nvSpPr>
        <p:spPr>
          <a:xfrm>
            <a:off x="822960" y="2697480"/>
            <a:ext cx="3017520" cy="685800"/>
          </a:xfrm>
          <a:prstGeom prst="rect">
            <a:avLst/>
          </a:prstGeom>
          <a:noFill/>
          <a:ln/>
        </p:spPr>
        <p:txBody>
          <a:bodyPr wrap="square" lIns="0" tIns="0" rIns="0" bIns="0" rtlCol="0" anchor="t"/>
          <a:lstStyle/>
          <a:p>
            <a:pPr indent="0" marL="0">
              <a:buNone/>
            </a:pPr>
            <a:r>
              <a:rPr lang="en-US" sz="1400" dirty="0">
                <a:solidFill>
                  <a:schemeClr val="tx1"/>
                </a:solidFill>
              </a:rPr>
              <a:t>Every plan reports cost and CO₂ alongside latency and energy</a:t>
            </a:r>
            <a:endParaRPr lang="en-US" sz="1400" dirty="0"/>
          </a:p>
        </p:txBody>
      </p:sp>
      <p:sp>
        <p:nvSpPr>
          <p:cNvPr id="7" name="tool-1"/>
          <p:cNvSpPr/>
          <p:nvPr/>
        </p:nvSpPr>
        <p:spPr>
          <a:xfrm>
            <a:off x="4297680" y="1463040"/>
            <a:ext cx="3520440" cy="2240280"/>
          </a:xfrm>
          <a:prstGeom prst="roundRect">
            <a:avLst>
              <a:gd name="adj" fmla="val 4898"/>
            </a:avLst>
          </a:prstGeom>
          <a:solidFill>
            <a:schemeClr val="bg2"/>
          </a:solidFill>
          <a:ln w="12700">
            <a:solidFill>
              <a:schemeClr val="bg2"/>
            </a:solidFill>
            <a:prstDash val="solid"/>
          </a:ln>
        </p:spPr>
      </p:sp>
      <p:sp>
        <p:nvSpPr>
          <p:cNvPr id="8" name="Shape 6"/>
          <p:cNvSpPr/>
          <p:nvPr/>
        </p:nvSpPr>
        <p:spPr>
          <a:xfrm>
            <a:off x="4572000" y="1737360"/>
            <a:ext cx="411480" cy="411480"/>
          </a:xfrm>
          <a:prstGeom prst="ellipse">
            <a:avLst/>
          </a:prstGeom>
          <a:solidFill>
            <a:srgbClr val="B03A2E"/>
          </a:solidFill>
          <a:ln w="12700">
            <a:solidFill>
              <a:srgbClr val="B03A2E"/>
            </a:solidFill>
            <a:prstDash val="solid"/>
          </a:ln>
        </p:spPr>
      </p:sp>
      <p:sp>
        <p:nvSpPr>
          <p:cNvPr id="9" name="Text 7"/>
          <p:cNvSpPr txBox="1"/>
          <p:nvPr/>
        </p:nvSpPr>
        <p:spPr>
          <a:xfrm>
            <a:off x="4572000" y="2286000"/>
            <a:ext cx="3017520" cy="411480"/>
          </a:xfrm>
          <a:prstGeom prst="rect">
            <a:avLst/>
          </a:prstGeom>
          <a:noFill/>
          <a:ln/>
        </p:spPr>
        <p:txBody>
          <a:bodyPr wrap="square" lIns="0" tIns="0" rIns="0" bIns="0" rtlCol="0" anchor="t"/>
          <a:lstStyle/>
          <a:p>
            <a:pPr indent="0" marL="0">
              <a:buNone/>
            </a:pPr>
            <a:r>
              <a:rPr lang="en-US" sz="1800" b="1" dirty="0">
                <a:solidFill>
                  <a:schemeClr val="tx2"/>
                </a:solidFill>
              </a:rPr>
              <a:t>Blast-radius finder</a:t>
            </a:r>
            <a:endParaRPr lang="en-US" sz="1800" dirty="0"/>
          </a:p>
        </p:txBody>
      </p:sp>
      <p:sp>
        <p:nvSpPr>
          <p:cNvPr id="10" name="Text 8"/>
          <p:cNvSpPr txBox="1"/>
          <p:nvPr/>
        </p:nvSpPr>
        <p:spPr>
          <a:xfrm>
            <a:off x="4572000" y="2697480"/>
            <a:ext cx="3017520" cy="685800"/>
          </a:xfrm>
          <a:prstGeom prst="rect">
            <a:avLst/>
          </a:prstGeom>
          <a:noFill/>
          <a:ln/>
        </p:spPr>
        <p:txBody>
          <a:bodyPr wrap="square" lIns="0" tIns="0" rIns="0" bIns="0" rtlCol="0" anchor="t"/>
          <a:lstStyle/>
          <a:p>
            <a:pPr indent="0" marL="0">
              <a:buNone/>
            </a:pPr>
            <a:r>
              <a:rPr lang="en-US" sz="1400" dirty="0">
                <a:solidFill>
                  <a:schemeClr val="tx1"/>
                </a:solidFill>
              </a:rPr>
              <a:t>Which jobs break if this node or link fails, and how badly</a:t>
            </a:r>
            <a:endParaRPr lang="en-US" sz="1400" dirty="0"/>
          </a:p>
        </p:txBody>
      </p:sp>
      <p:sp>
        <p:nvSpPr>
          <p:cNvPr id="11" name="tool-2"/>
          <p:cNvSpPr/>
          <p:nvPr/>
        </p:nvSpPr>
        <p:spPr>
          <a:xfrm>
            <a:off x="8046720" y="1463040"/>
            <a:ext cx="3520440" cy="2240280"/>
          </a:xfrm>
          <a:prstGeom prst="roundRect">
            <a:avLst>
              <a:gd name="adj" fmla="val 4898"/>
            </a:avLst>
          </a:prstGeom>
          <a:solidFill>
            <a:schemeClr val="bg2"/>
          </a:solidFill>
          <a:ln w="12700">
            <a:solidFill>
              <a:schemeClr val="bg2"/>
            </a:solidFill>
            <a:prstDash val="solid"/>
          </a:ln>
        </p:spPr>
      </p:sp>
      <p:sp>
        <p:nvSpPr>
          <p:cNvPr id="12" name="Shape 10"/>
          <p:cNvSpPr/>
          <p:nvPr/>
        </p:nvSpPr>
        <p:spPr>
          <a:xfrm>
            <a:off x="8321040" y="1737360"/>
            <a:ext cx="411480" cy="411480"/>
          </a:xfrm>
          <a:prstGeom prst="ellipse">
            <a:avLst/>
          </a:prstGeom>
          <a:solidFill>
            <a:srgbClr val="2E6FB5"/>
          </a:solidFill>
          <a:ln w="12700">
            <a:solidFill>
              <a:srgbClr val="2E6FB5"/>
            </a:solidFill>
            <a:prstDash val="solid"/>
          </a:ln>
        </p:spPr>
      </p:sp>
      <p:sp>
        <p:nvSpPr>
          <p:cNvPr id="13" name="Text 11"/>
          <p:cNvSpPr txBox="1"/>
          <p:nvPr/>
        </p:nvSpPr>
        <p:spPr>
          <a:xfrm>
            <a:off x="8321040" y="2286000"/>
            <a:ext cx="3017520" cy="411480"/>
          </a:xfrm>
          <a:prstGeom prst="rect">
            <a:avLst/>
          </a:prstGeom>
          <a:noFill/>
          <a:ln/>
        </p:spPr>
        <p:txBody>
          <a:bodyPr wrap="square" lIns="0" tIns="0" rIns="0" bIns="0" rtlCol="0" anchor="t"/>
          <a:lstStyle/>
          <a:p>
            <a:pPr indent="0" marL="0">
              <a:buNone/>
            </a:pPr>
            <a:r>
              <a:rPr lang="en-US" sz="1800" b="1" dirty="0">
                <a:solidFill>
                  <a:schemeClr val="tx2"/>
                </a:solidFill>
              </a:rPr>
              <a:t>What-if capacity</a:t>
            </a:r>
            <a:endParaRPr lang="en-US" sz="1800" dirty="0"/>
          </a:p>
        </p:txBody>
      </p:sp>
      <p:sp>
        <p:nvSpPr>
          <p:cNvPr id="14" name="Text 12"/>
          <p:cNvSpPr txBox="1"/>
          <p:nvPr/>
        </p:nvSpPr>
        <p:spPr>
          <a:xfrm>
            <a:off x="8321040" y="2697480"/>
            <a:ext cx="3017520" cy="685800"/>
          </a:xfrm>
          <a:prstGeom prst="rect">
            <a:avLst/>
          </a:prstGeom>
          <a:noFill/>
          <a:ln/>
        </p:spPr>
        <p:txBody>
          <a:bodyPr wrap="square" lIns="0" tIns="0" rIns="0" bIns="0" rtlCol="0" anchor="t"/>
          <a:lstStyle/>
          <a:p>
            <a:pPr indent="0" marL="0">
              <a:buNone/>
            </a:pPr>
            <a:r>
              <a:rPr lang="en-US" sz="1400" dirty="0">
                <a:solidFill>
                  <a:schemeClr val="tx1"/>
                </a:solidFill>
              </a:rPr>
              <a:t>Add or remove hardware in the twin and re-run the catalogue</a:t>
            </a:r>
            <a:endParaRPr lang="en-US" sz="1400" dirty="0"/>
          </a:p>
        </p:txBody>
      </p:sp>
      <p:sp>
        <p:nvSpPr>
          <p:cNvPr id="15" name="tool-3"/>
          <p:cNvSpPr/>
          <p:nvPr/>
        </p:nvSpPr>
        <p:spPr>
          <a:xfrm>
            <a:off x="548640" y="3931920"/>
            <a:ext cx="3520440" cy="2240280"/>
          </a:xfrm>
          <a:prstGeom prst="roundRect">
            <a:avLst>
              <a:gd name="adj" fmla="val 4898"/>
            </a:avLst>
          </a:prstGeom>
          <a:solidFill>
            <a:schemeClr val="bg2"/>
          </a:solidFill>
          <a:ln w="12700">
            <a:solidFill>
              <a:schemeClr val="bg2"/>
            </a:solidFill>
            <a:prstDash val="solid"/>
          </a:ln>
        </p:spPr>
      </p:sp>
      <p:sp>
        <p:nvSpPr>
          <p:cNvPr id="16" name="Shape 14"/>
          <p:cNvSpPr/>
          <p:nvPr/>
        </p:nvSpPr>
        <p:spPr>
          <a:xfrm>
            <a:off x="822960" y="4206240"/>
            <a:ext cx="411480" cy="411480"/>
          </a:xfrm>
          <a:prstGeom prst="ellipse">
            <a:avLst/>
          </a:prstGeom>
          <a:solidFill>
            <a:srgbClr val="D4820A"/>
          </a:solidFill>
          <a:ln w="12700">
            <a:solidFill>
              <a:srgbClr val="D4820A"/>
            </a:solidFill>
            <a:prstDash val="solid"/>
          </a:ln>
        </p:spPr>
      </p:sp>
      <p:sp>
        <p:nvSpPr>
          <p:cNvPr id="17" name="Text 15"/>
          <p:cNvSpPr txBox="1"/>
          <p:nvPr/>
        </p:nvSpPr>
        <p:spPr>
          <a:xfrm>
            <a:off x="822960" y="4754880"/>
            <a:ext cx="3017520" cy="411480"/>
          </a:xfrm>
          <a:prstGeom prst="rect">
            <a:avLst/>
          </a:prstGeom>
          <a:noFill/>
          <a:ln/>
        </p:spPr>
        <p:txBody>
          <a:bodyPr wrap="square" lIns="0" tIns="0" rIns="0" bIns="0" rtlCol="0" anchor="t"/>
          <a:lstStyle/>
          <a:p>
            <a:pPr indent="0" marL="0">
              <a:buNone/>
            </a:pPr>
            <a:r>
              <a:rPr lang="en-US" sz="1800" b="1" dirty="0">
                <a:solidFill>
                  <a:schemeClr val="tx2"/>
                </a:solidFill>
              </a:rPr>
              <a:t>Incident bundles</a:t>
            </a:r>
            <a:endParaRPr lang="en-US" sz="1800" dirty="0"/>
          </a:p>
        </p:txBody>
      </p:sp>
      <p:sp>
        <p:nvSpPr>
          <p:cNvPr id="18" name="Text 16"/>
          <p:cNvSpPr txBox="1"/>
          <p:nvPr/>
        </p:nvSpPr>
        <p:spPr>
          <a:xfrm>
            <a:off x="822960" y="5166360"/>
            <a:ext cx="3017520" cy="685800"/>
          </a:xfrm>
          <a:prstGeom prst="rect">
            <a:avLst/>
          </a:prstGeom>
          <a:noFill/>
          <a:ln/>
        </p:spPr>
        <p:txBody>
          <a:bodyPr wrap="square" lIns="0" tIns="0" rIns="0" bIns="0" rtlCol="0" anchor="t"/>
          <a:lstStyle/>
          <a:p>
            <a:pPr indent="0" marL="0">
              <a:buNone/>
            </a:pPr>
            <a:r>
              <a:rPr lang="en-US" sz="1400" dirty="0">
                <a:solidFill>
                  <a:schemeClr val="tx1"/>
                </a:solidFill>
              </a:rPr>
              <a:t>Snapshot state, plans and events into one reproducible bundle</a:t>
            </a:r>
            <a:endParaRPr lang="en-US" sz="1400" dirty="0"/>
          </a:p>
        </p:txBody>
      </p:sp>
      <p:sp>
        <p:nvSpPr>
          <p:cNvPr id="19" name="tool-4"/>
          <p:cNvSpPr/>
          <p:nvPr/>
        </p:nvSpPr>
        <p:spPr>
          <a:xfrm>
            <a:off x="4297680" y="3931920"/>
            <a:ext cx="3520440" cy="2240280"/>
          </a:xfrm>
          <a:prstGeom prst="roundRect">
            <a:avLst>
              <a:gd name="adj" fmla="val 4898"/>
            </a:avLst>
          </a:prstGeom>
          <a:solidFill>
            <a:schemeClr val="bg2"/>
          </a:solidFill>
          <a:ln w="12700">
            <a:solidFill>
              <a:schemeClr val="bg2"/>
            </a:solidFill>
            <a:prstDash val="solid"/>
          </a:ln>
        </p:spPr>
      </p:sp>
      <p:sp>
        <p:nvSpPr>
          <p:cNvPr id="20" name="Shape 18"/>
          <p:cNvSpPr/>
          <p:nvPr/>
        </p:nvSpPr>
        <p:spPr>
          <a:xfrm>
            <a:off x="4572000" y="4206240"/>
            <a:ext cx="411480" cy="411480"/>
          </a:xfrm>
          <a:prstGeom prst="ellipse">
            <a:avLst/>
          </a:prstGeom>
          <a:solidFill>
            <a:srgbClr val="6A3FA0"/>
          </a:solidFill>
          <a:ln w="12700">
            <a:solidFill>
              <a:srgbClr val="6A3FA0"/>
            </a:solidFill>
            <a:prstDash val="solid"/>
          </a:ln>
        </p:spPr>
      </p:sp>
      <p:sp>
        <p:nvSpPr>
          <p:cNvPr id="21" name="Text 19"/>
          <p:cNvSpPr txBox="1"/>
          <p:nvPr/>
        </p:nvSpPr>
        <p:spPr>
          <a:xfrm>
            <a:off x="4572000" y="4754880"/>
            <a:ext cx="3017520" cy="411480"/>
          </a:xfrm>
          <a:prstGeom prst="rect">
            <a:avLst/>
          </a:prstGeom>
          <a:noFill/>
          <a:ln/>
        </p:spPr>
        <p:txBody>
          <a:bodyPr wrap="square" lIns="0" tIns="0" rIns="0" bIns="0" rtlCol="0" anchor="t"/>
          <a:lstStyle/>
          <a:p>
            <a:pPr indent="0" marL="0">
              <a:buNone/>
            </a:pPr>
            <a:r>
              <a:rPr lang="en-US" sz="1800" b="1" dirty="0">
                <a:solidFill>
                  <a:schemeClr val="tx2"/>
                </a:solidFill>
              </a:rPr>
              <a:t>Cluster import</a:t>
            </a:r>
            <a:endParaRPr lang="en-US" sz="1800" dirty="0"/>
          </a:p>
        </p:txBody>
      </p:sp>
      <p:sp>
        <p:nvSpPr>
          <p:cNvPr id="22" name="Text 20"/>
          <p:cNvSpPr txBox="1"/>
          <p:nvPr/>
        </p:nvSpPr>
        <p:spPr>
          <a:xfrm>
            <a:off x="4572000" y="5166360"/>
            <a:ext cx="3017520" cy="685800"/>
          </a:xfrm>
          <a:prstGeom prst="rect">
            <a:avLst/>
          </a:prstGeom>
          <a:noFill/>
          <a:ln/>
        </p:spPr>
        <p:txBody>
          <a:bodyPr wrap="square" lIns="0" tIns="0" rIns="0" bIns="0" rtlCol="0" anchor="t"/>
          <a:lstStyle/>
          <a:p>
            <a:pPr indent="0" marL="0">
              <a:buNone/>
            </a:pPr>
            <a:r>
              <a:rPr lang="en-US" sz="1400" dirty="0">
                <a:solidFill>
                  <a:schemeClr val="tx1"/>
                </a:solidFill>
              </a:rPr>
              <a:t>Build a twin from a real cluster's inventory</a:t>
            </a:r>
            <a:endParaRPr lang="en-US" sz="1400" dirty="0"/>
          </a:p>
        </p:txBody>
      </p:sp>
      <p:sp>
        <p:nvSpPr>
          <p:cNvPr id="23" name="tool-5"/>
          <p:cNvSpPr/>
          <p:nvPr/>
        </p:nvSpPr>
        <p:spPr>
          <a:xfrm>
            <a:off x="8046720" y="3931920"/>
            <a:ext cx="3520440" cy="2240280"/>
          </a:xfrm>
          <a:prstGeom prst="roundRect">
            <a:avLst>
              <a:gd name="adj" fmla="val 4898"/>
            </a:avLst>
          </a:prstGeom>
          <a:solidFill>
            <a:schemeClr val="bg2"/>
          </a:solidFill>
          <a:ln w="12700">
            <a:solidFill>
              <a:schemeClr val="bg2"/>
            </a:solidFill>
            <a:prstDash val="solid"/>
          </a:ln>
        </p:spPr>
      </p:sp>
      <p:sp>
        <p:nvSpPr>
          <p:cNvPr id="24" name="Shape 22"/>
          <p:cNvSpPr/>
          <p:nvPr/>
        </p:nvSpPr>
        <p:spPr>
          <a:xfrm>
            <a:off x="8321040" y="4206240"/>
            <a:ext cx="411480" cy="411480"/>
          </a:xfrm>
          <a:prstGeom prst="ellipse">
            <a:avLst/>
          </a:prstGeom>
          <a:solidFill>
            <a:srgbClr val="6B7685"/>
          </a:solidFill>
          <a:ln w="12700">
            <a:solidFill>
              <a:srgbClr val="6B7685"/>
            </a:solidFill>
            <a:prstDash val="solid"/>
          </a:ln>
        </p:spPr>
      </p:sp>
      <p:sp>
        <p:nvSpPr>
          <p:cNvPr id="25" name="Text 23"/>
          <p:cNvSpPr txBox="1"/>
          <p:nvPr/>
        </p:nvSpPr>
        <p:spPr>
          <a:xfrm>
            <a:off x="8321040" y="4754880"/>
            <a:ext cx="3017520" cy="411480"/>
          </a:xfrm>
          <a:prstGeom prst="rect">
            <a:avLst/>
          </a:prstGeom>
          <a:noFill/>
          <a:ln/>
        </p:spPr>
        <p:txBody>
          <a:bodyPr wrap="square" lIns="0" tIns="0" rIns="0" bIns="0" rtlCol="0" anchor="t"/>
          <a:lstStyle/>
          <a:p>
            <a:pPr indent="0" marL="0">
              <a:buNone/>
            </a:pPr>
            <a:r>
              <a:rPr lang="en-US" sz="1800" b="1" dirty="0">
                <a:solidFill>
                  <a:schemeClr val="tx2"/>
                </a:solidFill>
              </a:rPr>
              <a:t>Standard exports</a:t>
            </a:r>
            <a:endParaRPr lang="en-US" sz="1800" dirty="0"/>
          </a:p>
        </p:txBody>
      </p:sp>
      <p:sp>
        <p:nvSpPr>
          <p:cNvPr id="26" name="Text 24"/>
          <p:cNvSpPr txBox="1"/>
          <p:nvPr/>
        </p:nvSpPr>
        <p:spPr>
          <a:xfrm>
            <a:off x="8321040" y="5166360"/>
            <a:ext cx="3017520" cy="685800"/>
          </a:xfrm>
          <a:prstGeom prst="rect">
            <a:avLst/>
          </a:prstGeom>
          <a:noFill/>
          <a:ln/>
        </p:spPr>
        <p:txBody>
          <a:bodyPr wrap="square" lIns="0" tIns="0" rIns="0" bIns="0" rtlCol="0" anchor="t"/>
          <a:lstStyle/>
          <a:p>
            <a:pPr indent="0" marL="0">
              <a:buNone/>
            </a:pPr>
            <a:r>
              <a:rPr lang="en-US" sz="1400" dirty="0">
                <a:solidFill>
                  <a:schemeClr val="tx1"/>
                </a:solidFill>
              </a:rPr>
              <a:t>Azure DTDL models and Kubernetes custom resources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Result: completion time stays flat as load grows</a:t>
            </a:r>
            <a:endParaRPr lang="en-US" sz="3200" dirty="0"/>
          </a:p>
        </p:txBody>
      </p:sp>
      <p:graphicFrame>
        <p:nvGraphicFramePr>
          <p:cNvPr id="3" name="Chart 0" descr=""/>
          <p:cNvGraphicFramePr/>
          <p:nvPr/>
        </p:nvGraphicFramePr>
        <p:xfrm>
          <a:off x="548640" y="1325880"/>
          <a:ext cx="7315200" cy="4754880"/>
        </p:xfrm>
        <a:graphic xmlns:a="http://schemas.openxmlformats.org/drawingml/2006/main">
          <a:graphicData uri="http://schemas.openxmlformats.org/drawingml/2006/chart">
            <c:chart xmlns:c="http://schemas.openxmlformats.org/drawingml/2006/chart" r:id="rId1"/>
          </a:graphicData>
        </a:graphic>
      </p:graphicFrame>
      <p:sp>
        <p:nvSpPr>
          <p:cNvPr id="4" name="jct-takeaways"/>
          <p:cNvSpPr/>
          <p:nvPr/>
        </p:nvSpPr>
        <p:spPr>
          <a:xfrm>
            <a:off x="8229600" y="1417320"/>
            <a:ext cx="3410712" cy="3566160"/>
          </a:xfrm>
          <a:prstGeom prst="roundRect">
            <a:avLst>
              <a:gd name="adj" fmla="val 3217"/>
            </a:avLst>
          </a:prstGeom>
          <a:solidFill>
            <a:schemeClr val="bg2"/>
          </a:solidFill>
          <a:ln w="12700">
            <a:solidFill>
              <a:schemeClr val="bg2"/>
            </a:solidFill>
            <a:prstDash val="solid"/>
          </a:ln>
        </p:spPr>
      </p:sp>
      <p:sp>
        <p:nvSpPr>
          <p:cNvPr id="5" name="Text 2"/>
          <p:cNvSpPr txBox="1"/>
          <p:nvPr/>
        </p:nvSpPr>
        <p:spPr>
          <a:xfrm>
            <a:off x="8503920" y="1645920"/>
            <a:ext cx="2926080" cy="4114800"/>
          </a:xfrm>
          <a:prstGeom prst="rect">
            <a:avLst/>
          </a:prstGeom>
          <a:noFill/>
          <a:ln/>
        </p:spPr>
        <p:txBody>
          <a:bodyPr wrap="square" lIns="0" tIns="0" rIns="0" bIns="0" rtlCol="0" anchor="t"/>
          <a:lstStyle/>
          <a:p>
            <a:pPr indent="0" marL="0">
              <a:buNone/>
            </a:pPr>
            <a:r>
              <a:rPr lang="en-US" sz="1800" b="1" dirty="0">
                <a:solidFill>
                  <a:schemeClr val="tx2"/>
                </a:solidFill>
              </a:rPr>
              <a:t>What it shows</a:t>
            </a:r>
            <a:endParaRPr lang="en-US" sz="1800" dirty="0"/>
          </a:p>
          <a:p>
            <a:pPr indent="0" marL="0">
              <a:buNone/>
            </a:pPr>
            <a:r>
              <a:rPr lang="en-US" sz="800" dirty="0">
                <a:solidFill>
                  <a:srgbClr val="000000"/>
                </a:solidFill>
              </a:rPr>
              <a:t> </a:t>
            </a:r>
            <a:endParaRPr lang="en-US" sz="1800" dirty="0"/>
          </a:p>
          <a:p>
            <a:pPr indent="0" marL="0">
              <a:buNone/>
            </a:pPr>
            <a:r>
              <a:rPr lang="en-US" sz="1500" dirty="0">
                <a:solidFill>
                  <a:schemeClr val="tx1"/>
                </a:solidFill>
              </a:rPr>
              <a:t>Every strategy holds between 1.0 and 1.35 s from 2 to 10 concurrent jobs.</a:t>
            </a:r>
            <a:endParaRPr lang="en-US" sz="1800" dirty="0"/>
          </a:p>
          <a:p>
            <a:pPr indent="0" marL="0">
              <a:buNone/>
            </a:pPr>
            <a:r>
              <a:rPr lang="en-US" sz="800" dirty="0">
                <a:solidFill>
                  <a:srgbClr val="000000"/>
                </a:solidFill>
              </a:rPr>
              <a:t> </a:t>
            </a:r>
            <a:endParaRPr lang="en-US" sz="1800" dirty="0"/>
          </a:p>
          <a:p>
            <a:pPr indent="0" marL="0">
              <a:buNone/>
            </a:pPr>
            <a:r>
              <a:rPr lang="en-US" sz="1500" dirty="0">
                <a:solidFill>
                  <a:schemeClr val="tx1"/>
                </a:solidFill>
              </a:rPr>
              <a:t>Greedy and Cheapest-Energy overlap exactly: on this job mix the cheapest node is also the first fit.</a:t>
            </a:r>
            <a:endParaRPr lang="en-US" sz="1800" dirty="0"/>
          </a:p>
          <a:p>
            <a:pPr indent="0" marL="0">
              <a:buNone/>
            </a:pPr>
            <a:r>
              <a:rPr lang="en-US" sz="800" dirty="0">
                <a:solidFill>
                  <a:srgbClr val="000000"/>
                </a:solidFill>
              </a:rPr>
              <a:t> </a:t>
            </a:r>
            <a:endParaRPr lang="en-US" sz="1800" dirty="0"/>
          </a:p>
          <a:p>
            <a:pPr indent="0" marL="0">
              <a:buNone/>
            </a:pPr>
            <a:r>
              <a:rPr lang="en-US" sz="1500" dirty="0">
                <a:solidFill>
                  <a:schemeClr val="tx1"/>
                </a:solidFill>
              </a:rPr>
              <a:t>Resilient pays roughly 0.2 s for its redundant fallback paths.</a:t>
            </a:r>
            <a:endParaRPr lang="en-US" sz="1800" dirty="0"/>
          </a:p>
        </p:txBody>
      </p:sp>
      <p:sp>
        <p:nvSpPr>
          <p:cNvPr id="6" name="Text 3"/>
          <p:cNvSpPr txBox="1"/>
          <p:nvPr/>
        </p:nvSpPr>
        <p:spPr>
          <a:xfrm>
            <a:off x="548640" y="6080760"/>
            <a:ext cx="10972800" cy="274320"/>
          </a:xfrm>
          <a:prstGeom prst="rect">
            <a:avLst/>
          </a:prstGeom>
          <a:noFill/>
          <a:ln/>
        </p:spPr>
        <p:txBody>
          <a:bodyPr wrap="square" lIns="0" tIns="0" rIns="0" bIns="0" rtlCol="0" anchor="t"/>
          <a:lstStyle/>
          <a:p>
            <a:pPr indent="0" marL="0">
              <a:buNone/>
            </a:pPr>
            <a:r>
              <a:rPr lang="en-US" sz="1000" dirty="0">
                <a:solidFill>
                  <a:schemeClr val="accent6"/>
                </a:solidFill>
              </a:rPr>
              <a:t>Source: tools/benchmark_paper_figures.py · tools/policy_benchmark.py · 100-node fabric, 11-job catalogue, no chaos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Result: 100% SLA under chaos for three strategies</a:t>
            </a:r>
            <a:endParaRPr lang="en-US" sz="3200" dirty="0"/>
          </a:p>
        </p:txBody>
      </p:sp>
      <p:graphicFrame>
        <p:nvGraphicFramePr>
          <p:cNvPr id="3" name="Chart 0" descr=""/>
          <p:cNvGraphicFramePr/>
          <p:nvPr/>
        </p:nvGraphicFramePr>
        <p:xfrm>
          <a:off x="548640" y="1325880"/>
          <a:ext cx="539496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63640" y="1417320"/>
          <a:ext cx="5376672" cy="914400"/>
        </p:xfrm>
        <a:graphic>
          <a:graphicData uri="http://schemas.openxmlformats.org/drawingml/2006/table">
            <a:tbl>
              <a:tblPr/>
              <a:tblGrid>
                <a:gridCol w="1536192"/>
                <a:gridCol w="1005840"/>
                <a:gridCol w="960120"/>
                <a:gridCol w="914400"/>
                <a:gridCol w="96012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Strategy</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Mean JCT (s)</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p95 JCT (s)</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Energy (J)</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SLA hit</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13D"/>
                    </a:solidFill>
                  </a:tcPr>
                </a:tc>
              </a:tr>
              <a:tr h="384048">
                <a:tc>
                  <a:txBody>
                    <a:bodyPr/>
                    <a:lstStyle/>
                    <a:p>
                      <a:pPr algn="l" indent="0" marL="0">
                        <a:buNone/>
                      </a:pPr>
                      <a:r>
                        <a:rPr lang="en-US" sz="1300" dirty="0">
                          <a:solidFill>
                            <a:srgbClr val="1B2333"/>
                          </a:solidFill>
                          <a:latin typeface="Calibri" pitchFamily="34" charset="0"/>
                          <a:ea typeface="Calibri" pitchFamily="34" charset="-122"/>
                          <a:cs typeface="Calibri" pitchFamily="34" charset="-120"/>
                        </a:rPr>
                        <a:t>Greedy</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1.26</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84048">
                <a:tc>
                  <a:txBody>
                    <a:bodyPr/>
                    <a:lstStyle/>
                    <a:p>
                      <a:pPr algn="l" indent="0" marL="0">
                        <a:buNone/>
                      </a:pPr>
                      <a:r>
                        <a:rPr lang="en-US" sz="1300" dirty="0">
                          <a:solidFill>
                            <a:srgbClr val="1B2333"/>
                          </a:solidFill>
                          <a:latin typeface="Calibri" pitchFamily="34" charset="0"/>
                          <a:ea typeface="Calibri" pitchFamily="34" charset="-122"/>
                          <a:cs typeface="Calibri" pitchFamily="34" charset="-120"/>
                        </a:rPr>
                        <a:t>Cheapest-Energy</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1.26</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84048">
                <a:tc>
                  <a:txBody>
                    <a:bodyPr/>
                    <a:lstStyle/>
                    <a:p>
                      <a:pPr algn="l" indent="0" marL="0">
                        <a:buNone/>
                      </a:pPr>
                      <a:r>
                        <a:rPr lang="en-US" sz="1300" dirty="0">
                          <a:solidFill>
                            <a:srgbClr val="1B2333"/>
                          </a:solidFill>
                          <a:latin typeface="Calibri" pitchFamily="34" charset="0"/>
                          <a:ea typeface="Calibri" pitchFamily="34" charset="-122"/>
                          <a:cs typeface="Calibri" pitchFamily="34" charset="-120"/>
                        </a:rPr>
                        <a:t>RL-Markov</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1.14</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1.37</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16.2</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84048">
                <a:tc>
                  <a:txBody>
                    <a:bodyPr/>
                    <a:lstStyle/>
                    <a:p>
                      <a:pPr algn="l" indent="0" marL="0">
                        <a:buNone/>
                      </a:pPr>
                      <a:r>
                        <a:rPr lang="en-US" sz="1300" b="1" dirty="0">
                          <a:solidFill>
                            <a:srgbClr val="B03A2E"/>
                          </a:solidFill>
                          <a:latin typeface="Calibri" pitchFamily="34" charset="0"/>
                          <a:ea typeface="Calibri" pitchFamily="34" charset="-122"/>
                          <a:cs typeface="Calibri" pitchFamily="34" charset="-120"/>
                        </a:rPr>
                        <a:t>Resilient</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1.27</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1.72</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dirty="0">
                          <a:solidFill>
                            <a:srgbClr val="1B2333"/>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ctr" indent="0" marL="0">
                        <a:buNone/>
                      </a:pPr>
                      <a:r>
                        <a:rPr lang="en-US" sz="1300" b="1" dirty="0">
                          <a:solidFill>
                            <a:srgbClr val="B03A2E"/>
                          </a:solidFill>
                          <a:latin typeface="Calibri" pitchFamily="34" charset="0"/>
                          <a:ea typeface="Calibri" pitchFamily="34" charset="-122"/>
                          <a:cs typeface="Calibri" pitchFamily="34" charset="-120"/>
                        </a:rPr>
                        <a:t>83.3%</a:t>
                      </a:r>
                      <a:endParaRPr lang="en-US" sz="1300" dirty="0">
                        <a:latin typeface="Calibri" charset="0"/>
                        <a:ea typeface="Calibri" charset="0"/>
                        <a:cs typeface="Calibri" charset="0"/>
                      </a:endParaRPr>
                    </a:p>
                  </a:txBody>
                  <a:tcPr marL="91440" marR="91440" marT="45720" marB="45720">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bl>
          </a:graphicData>
        </a:graphic>
      </p:graphicFrame>
      <p:sp>
        <p:nvSpPr>
          <p:cNvPr id="5" name="sla-finding"/>
          <p:cNvSpPr/>
          <p:nvPr/>
        </p:nvSpPr>
        <p:spPr>
          <a:xfrm>
            <a:off x="6263640" y="3657600"/>
            <a:ext cx="5376672" cy="1783080"/>
          </a:xfrm>
          <a:prstGeom prst="roundRect">
            <a:avLst>
              <a:gd name="adj" fmla="val 6154"/>
            </a:avLst>
          </a:prstGeom>
          <a:solidFill>
            <a:schemeClr val="bg2"/>
          </a:solidFill>
          <a:ln w="12700">
            <a:solidFill>
              <a:schemeClr val="bg2"/>
            </a:solidFill>
            <a:prstDash val="solid"/>
          </a:ln>
        </p:spPr>
      </p:sp>
      <p:sp>
        <p:nvSpPr>
          <p:cNvPr id="6" name="Text 2"/>
          <p:cNvSpPr txBox="1"/>
          <p:nvPr/>
        </p:nvSpPr>
        <p:spPr>
          <a:xfrm>
            <a:off x="6492240" y="3840480"/>
            <a:ext cx="4937760" cy="1828800"/>
          </a:xfrm>
          <a:prstGeom prst="rect">
            <a:avLst/>
          </a:prstGeom>
          <a:noFill/>
          <a:ln/>
        </p:spPr>
        <p:txBody>
          <a:bodyPr wrap="square" lIns="0" tIns="0" rIns="0" bIns="0" rtlCol="0" anchor="t"/>
          <a:lstStyle/>
          <a:p>
            <a:pPr indent="0" marL="0">
              <a:buNone/>
            </a:pPr>
            <a:r>
              <a:rPr lang="en-US" sz="1600" b="1" dirty="0">
                <a:solidFill>
                  <a:schemeClr val="accent4"/>
                </a:solidFill>
              </a:rPr>
              <a:t>Honest finding: Resilient underperforms</a:t>
            </a:r>
            <a:endParaRPr lang="en-US" sz="1600" dirty="0"/>
          </a:p>
          <a:p>
            <a:pPr indent="0" marL="0">
              <a:buNone/>
            </a:pPr>
            <a:r>
              <a:rPr lang="en-US" sz="1400" dirty="0">
                <a:solidFill>
                  <a:schemeClr val="tx1"/>
                </a:solidFill>
              </a:rPr>
              <a:t>Its redundancy overhead uses up the deadline margin in the tight test (deadline scale 0.28), so it misses 1 in 6 jobs. That is a weighting problem to tune, and the CI gate is how we'll prove the fix.</a:t>
            </a:r>
            <a:endParaRPr lang="en-US" sz="1600" dirty="0"/>
          </a:p>
        </p:txBody>
      </p:sp>
      <p:sp>
        <p:nvSpPr>
          <p:cNvPr id="7" name="Text 3"/>
          <p:cNvSpPr txBox="1"/>
          <p:nvPr/>
        </p:nvSpPr>
        <p:spPr>
          <a:xfrm>
            <a:off x="548640" y="6080760"/>
            <a:ext cx="10972800" cy="274320"/>
          </a:xfrm>
          <a:prstGeom prst="rect">
            <a:avLst/>
          </a:prstGeom>
          <a:noFill/>
          <a:ln/>
        </p:spPr>
        <p:txBody>
          <a:bodyPr wrap="square" lIns="0" tIns="0" rIns="0" bIns="0" rtlCol="0" anchor="t"/>
          <a:lstStyle/>
          <a:p>
            <a:pPr indent="0" marL="0">
              <a:buNone/>
            </a:pPr>
            <a:r>
              <a:rPr lang="en-US" sz="1000" dirty="0">
                <a:solidFill>
                  <a:schemeClr val="accent6"/>
                </a:solidFill>
              </a:rPr>
              <a:t>Mean JCT and energy without chaos; p95 and SLA under core_link_cut at deadline scale 0.28 (ci/gate.yaml), seed 7, single run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Built to run, not just to demo</a:t>
            </a:r>
            <a:endParaRPr lang="en-US" sz="3200" dirty="0"/>
          </a:p>
        </p:txBody>
      </p:sp>
      <p:sp>
        <p:nvSpPr>
          <p:cNvPr id="3" name="stat-0"/>
          <p:cNvSpPr/>
          <p:nvPr/>
        </p:nvSpPr>
        <p:spPr>
          <a:xfrm>
            <a:off x="548640" y="1417320"/>
            <a:ext cx="3520440" cy="1737360"/>
          </a:xfrm>
          <a:prstGeom prst="roundRect">
            <a:avLst>
              <a:gd name="adj" fmla="val 6316"/>
            </a:avLst>
          </a:prstGeom>
          <a:solidFill>
            <a:schemeClr val="tx2"/>
          </a:solidFill>
          <a:ln w="12700">
            <a:solidFill>
              <a:schemeClr val="tx2"/>
            </a:solidFill>
            <a:prstDash val="solid"/>
          </a:ln>
        </p:spPr>
      </p:sp>
      <p:sp>
        <p:nvSpPr>
          <p:cNvPr id="4" name="Text 2"/>
          <p:cNvSpPr txBox="1"/>
          <p:nvPr/>
        </p:nvSpPr>
        <p:spPr>
          <a:xfrm>
            <a:off x="822960" y="1554480"/>
            <a:ext cx="3017520" cy="868680"/>
          </a:xfrm>
          <a:prstGeom prst="rect">
            <a:avLst/>
          </a:prstGeom>
          <a:noFill/>
          <a:ln/>
        </p:spPr>
        <p:txBody>
          <a:bodyPr wrap="square" lIns="0" tIns="0" rIns="0" bIns="0" rtlCol="0" anchor="t"/>
          <a:lstStyle/>
          <a:p>
            <a:pPr indent="0" marL="0">
              <a:buNone/>
            </a:pPr>
            <a:r>
              <a:rPr lang="en-US" sz="4400" b="1" dirty="0">
                <a:solidFill>
                  <a:srgbClr val="7FB0E6"/>
                </a:solidFill>
                <a:latin typeface="Arial" pitchFamily="34" charset="0"/>
                <a:ea typeface="Arial" pitchFamily="34" charset="-122"/>
                <a:cs typeface="Arial" pitchFamily="34" charset="-120"/>
              </a:rPr>
              <a:t>166</a:t>
            </a:r>
            <a:endParaRPr lang="en-US" sz="4400" dirty="0"/>
          </a:p>
        </p:txBody>
      </p:sp>
      <p:sp>
        <p:nvSpPr>
          <p:cNvPr id="5" name="Text 3"/>
          <p:cNvSpPr txBox="1"/>
          <p:nvPr/>
        </p:nvSpPr>
        <p:spPr>
          <a:xfrm>
            <a:off x="822960" y="2468880"/>
            <a:ext cx="3017520" cy="457200"/>
          </a:xfrm>
          <a:prstGeom prst="rect">
            <a:avLst/>
          </a:prstGeom>
          <a:noFill/>
          <a:ln/>
        </p:spPr>
        <p:txBody>
          <a:bodyPr wrap="square" lIns="0" tIns="0" rIns="0" bIns="0" rtlCol="0" anchor="t"/>
          <a:lstStyle/>
          <a:p>
            <a:pPr indent="0" marL="0">
              <a:buNone/>
            </a:pPr>
            <a:r>
              <a:rPr lang="en-US" sz="1500" dirty="0">
                <a:solidFill>
                  <a:srgbClr val="C9D3E3"/>
                </a:solidFill>
              </a:rPr>
              <a:t>automated tests passing</a:t>
            </a:r>
            <a:endParaRPr lang="en-US" sz="1500" dirty="0"/>
          </a:p>
        </p:txBody>
      </p:sp>
      <p:sp>
        <p:nvSpPr>
          <p:cNvPr id="6" name="stat-1"/>
          <p:cNvSpPr/>
          <p:nvPr/>
        </p:nvSpPr>
        <p:spPr>
          <a:xfrm>
            <a:off x="4297680" y="1417320"/>
            <a:ext cx="3520440" cy="1737360"/>
          </a:xfrm>
          <a:prstGeom prst="roundRect">
            <a:avLst>
              <a:gd name="adj" fmla="val 6316"/>
            </a:avLst>
          </a:prstGeom>
          <a:solidFill>
            <a:schemeClr val="tx2"/>
          </a:solidFill>
          <a:ln w="12700">
            <a:solidFill>
              <a:schemeClr val="tx2"/>
            </a:solidFill>
            <a:prstDash val="solid"/>
          </a:ln>
        </p:spPr>
      </p:sp>
      <p:sp>
        <p:nvSpPr>
          <p:cNvPr id="7" name="Text 5"/>
          <p:cNvSpPr txBox="1"/>
          <p:nvPr/>
        </p:nvSpPr>
        <p:spPr>
          <a:xfrm>
            <a:off x="4572000" y="1554480"/>
            <a:ext cx="3017520" cy="868680"/>
          </a:xfrm>
          <a:prstGeom prst="rect">
            <a:avLst/>
          </a:prstGeom>
          <a:noFill/>
          <a:ln/>
        </p:spPr>
        <p:txBody>
          <a:bodyPr wrap="square" lIns="0" tIns="0" rIns="0" bIns="0" rtlCol="0" anchor="t"/>
          <a:lstStyle/>
          <a:p>
            <a:pPr indent="0" marL="0">
              <a:buNone/>
            </a:pPr>
            <a:r>
              <a:rPr lang="en-US" sz="4400" b="1" dirty="0">
                <a:solidFill>
                  <a:srgbClr val="7FB0E6"/>
                </a:solidFill>
                <a:latin typeface="Arial" pitchFamily="34" charset="0"/>
                <a:ea typeface="Arial" pitchFamily="34" charset="-122"/>
                <a:cs typeface="Arial" pitchFamily="34" charset="-120"/>
              </a:rPr>
              <a:t>29</a:t>
            </a:r>
            <a:endParaRPr lang="en-US" sz="4400" dirty="0"/>
          </a:p>
        </p:txBody>
      </p:sp>
      <p:sp>
        <p:nvSpPr>
          <p:cNvPr id="8" name="Text 6"/>
          <p:cNvSpPr txBox="1"/>
          <p:nvPr/>
        </p:nvSpPr>
        <p:spPr>
          <a:xfrm>
            <a:off x="4572000" y="2468880"/>
            <a:ext cx="3017520" cy="457200"/>
          </a:xfrm>
          <a:prstGeom prst="rect">
            <a:avLst/>
          </a:prstGeom>
          <a:noFill/>
          <a:ln/>
        </p:spPr>
        <p:txBody>
          <a:bodyPr wrap="square" lIns="0" tIns="0" rIns="0" bIns="0" rtlCol="0" anchor="t"/>
          <a:lstStyle/>
          <a:p>
            <a:pPr indent="0" marL="0">
              <a:buNone/>
            </a:pPr>
            <a:r>
              <a:rPr lang="en-US" sz="1500" dirty="0">
                <a:solidFill>
                  <a:srgbClr val="C9D3E3"/>
                </a:solidFill>
              </a:rPr>
              <a:t>REST API routes</a:t>
            </a:r>
            <a:endParaRPr lang="en-US" sz="1500" dirty="0"/>
          </a:p>
        </p:txBody>
      </p:sp>
      <p:sp>
        <p:nvSpPr>
          <p:cNvPr id="9" name="stat-2"/>
          <p:cNvSpPr/>
          <p:nvPr/>
        </p:nvSpPr>
        <p:spPr>
          <a:xfrm>
            <a:off x="8046720" y="1417320"/>
            <a:ext cx="3520440" cy="1737360"/>
          </a:xfrm>
          <a:prstGeom prst="roundRect">
            <a:avLst>
              <a:gd name="adj" fmla="val 6316"/>
            </a:avLst>
          </a:prstGeom>
          <a:solidFill>
            <a:schemeClr val="tx2"/>
          </a:solidFill>
          <a:ln w="12700">
            <a:solidFill>
              <a:schemeClr val="tx2"/>
            </a:solidFill>
            <a:prstDash val="solid"/>
          </a:ln>
        </p:spPr>
      </p:sp>
      <p:sp>
        <p:nvSpPr>
          <p:cNvPr id="10" name="Text 8"/>
          <p:cNvSpPr txBox="1"/>
          <p:nvPr/>
        </p:nvSpPr>
        <p:spPr>
          <a:xfrm>
            <a:off x="8321040" y="1554480"/>
            <a:ext cx="3017520" cy="868680"/>
          </a:xfrm>
          <a:prstGeom prst="rect">
            <a:avLst/>
          </a:prstGeom>
          <a:noFill/>
          <a:ln/>
        </p:spPr>
        <p:txBody>
          <a:bodyPr wrap="square" lIns="0" tIns="0" rIns="0" bIns="0" rtlCol="0" anchor="t"/>
          <a:lstStyle/>
          <a:p>
            <a:pPr indent="0" marL="0">
              <a:buNone/>
            </a:pPr>
            <a:r>
              <a:rPr lang="en-US" sz="4400" b="1" dirty="0">
                <a:solidFill>
                  <a:srgbClr val="F0B35A"/>
                </a:solidFill>
                <a:latin typeface="Arial" pitchFamily="34" charset="0"/>
                <a:ea typeface="Arial" pitchFamily="34" charset="-122"/>
                <a:cs typeface="Arial" pitchFamily="34" charset="-120"/>
              </a:rPr>
              <a:t>Live</a:t>
            </a:r>
            <a:endParaRPr lang="en-US" sz="4400" dirty="0"/>
          </a:p>
        </p:txBody>
      </p:sp>
      <p:sp>
        <p:nvSpPr>
          <p:cNvPr id="11" name="Text 9"/>
          <p:cNvSpPr txBox="1"/>
          <p:nvPr/>
        </p:nvSpPr>
        <p:spPr>
          <a:xfrm>
            <a:off x="8321040" y="2468880"/>
            <a:ext cx="3017520" cy="457200"/>
          </a:xfrm>
          <a:prstGeom prst="rect">
            <a:avLst/>
          </a:prstGeom>
          <a:noFill/>
          <a:ln/>
        </p:spPr>
        <p:txBody>
          <a:bodyPr wrap="square" lIns="0" tIns="0" rIns="0" bIns="0" rtlCol="0" anchor="t"/>
          <a:lstStyle/>
          <a:p>
            <a:pPr indent="0" marL="0">
              <a:buNone/>
            </a:pPr>
            <a:r>
              <a:rPr lang="en-US" sz="1500" dirty="0">
                <a:solidFill>
                  <a:srgbClr val="C9D3E3"/>
                </a:solidFill>
              </a:rPr>
              <a:t>raptwin.seloraos.online</a:t>
            </a:r>
            <a:endParaRPr lang="en-US" sz="1500" dirty="0"/>
          </a:p>
        </p:txBody>
      </p:sp>
      <p:sp>
        <p:nvSpPr>
          <p:cNvPr id="12" name="Text 10"/>
          <p:cNvSpPr txBox="1"/>
          <p:nvPr/>
        </p:nvSpPr>
        <p:spPr>
          <a:xfrm>
            <a:off x="548640" y="347472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Deployment</a:t>
            </a:r>
            <a:endParaRPr lang="en-US" sz="1700" dirty="0"/>
          </a:p>
        </p:txBody>
      </p:sp>
      <p:sp>
        <p:nvSpPr>
          <p:cNvPr id="13" name="Text 11"/>
          <p:cNvSpPr txBox="1"/>
          <p:nvPr/>
        </p:nvSpPr>
        <p:spPr>
          <a:xfrm>
            <a:off x="548640" y="3840480"/>
            <a:ext cx="5394960" cy="731520"/>
          </a:xfrm>
          <a:prstGeom prst="rect">
            <a:avLst/>
          </a:prstGeom>
          <a:noFill/>
          <a:ln/>
        </p:spPr>
        <p:txBody>
          <a:bodyPr wrap="square" lIns="0" tIns="0" rIns="0" bIns="0" rtlCol="0" anchor="t"/>
          <a:lstStyle/>
          <a:p>
            <a:pPr indent="0" marL="0">
              <a:buNone/>
            </a:pPr>
            <a:r>
              <a:rPr lang="en-US" sz="1400" dirty="0">
                <a:solidFill>
                  <a:schemeClr val="tx1"/>
                </a:solidFill>
              </a:rPr>
              <a:t>Gunicorn API behind Caddy with automatic TLS on a VPS, managed by systemd; one-command redeploy script</a:t>
            </a:r>
            <a:endParaRPr lang="en-US" sz="1400" dirty="0"/>
          </a:p>
        </p:txBody>
      </p:sp>
      <p:sp>
        <p:nvSpPr>
          <p:cNvPr id="14" name="Text 12"/>
          <p:cNvSpPr txBox="1"/>
          <p:nvPr/>
        </p:nvSpPr>
        <p:spPr>
          <a:xfrm>
            <a:off x="6172200" y="347472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Security</a:t>
            </a:r>
            <a:endParaRPr lang="en-US" sz="1700" dirty="0"/>
          </a:p>
        </p:txBody>
      </p:sp>
      <p:sp>
        <p:nvSpPr>
          <p:cNvPr id="15" name="Text 13"/>
          <p:cNvSpPr txBox="1"/>
          <p:nvPr/>
        </p:nvSpPr>
        <p:spPr>
          <a:xfrm>
            <a:off x="6172200" y="3840480"/>
            <a:ext cx="5394960" cy="731520"/>
          </a:xfrm>
          <a:prstGeom prst="rect">
            <a:avLst/>
          </a:prstGeom>
          <a:noFill/>
          <a:ln/>
        </p:spPr>
        <p:txBody>
          <a:bodyPr wrap="square" lIns="0" tIns="0" rIns="0" bIns="0" rtlCol="0" anchor="t"/>
          <a:lstStyle/>
          <a:p>
            <a:pPr indent="0" marL="0">
              <a:buNone/>
            </a:pPr>
            <a:r>
              <a:rPr lang="en-US" sz="1400" dirty="0">
                <a:solidFill>
                  <a:schemeClr val="tx1"/>
                </a:solidFill>
              </a:rPr>
              <a:t>Optional API key on every mutating route, compared in constant time; secret kept out of the repo</a:t>
            </a:r>
            <a:endParaRPr lang="en-US" sz="1400" dirty="0"/>
          </a:p>
        </p:txBody>
      </p:sp>
      <p:sp>
        <p:nvSpPr>
          <p:cNvPr id="16" name="Text 14"/>
          <p:cNvSpPr txBox="1"/>
          <p:nvPr/>
        </p:nvSpPr>
        <p:spPr>
          <a:xfrm>
            <a:off x="548640" y="470916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Frontend</a:t>
            </a:r>
            <a:endParaRPr lang="en-US" sz="1700" dirty="0"/>
          </a:p>
        </p:txBody>
      </p:sp>
      <p:sp>
        <p:nvSpPr>
          <p:cNvPr id="17" name="Text 15"/>
          <p:cNvSpPr txBox="1"/>
          <p:nvPr/>
        </p:nvSpPr>
        <p:spPr>
          <a:xfrm>
            <a:off x="548640" y="5074920"/>
            <a:ext cx="5394960" cy="731520"/>
          </a:xfrm>
          <a:prstGeom prst="rect">
            <a:avLst/>
          </a:prstGeom>
          <a:noFill/>
          <a:ln/>
        </p:spPr>
        <p:txBody>
          <a:bodyPr wrap="square" lIns="0" tIns="0" rIns="0" bIns="0" rtlCol="0" anchor="t"/>
          <a:lstStyle/>
          <a:p>
            <a:pPr indent="0" marL="0">
              <a:buNone/>
            </a:pPr>
            <a:r>
              <a:rPr lang="en-US" sz="1400" dirty="0">
                <a:solidFill>
                  <a:schemeClr val="tx1"/>
                </a:solidFill>
              </a:rPr>
              <a:t>React + TypeScript dashboard with live topology graph, job composer and server-sent event feed</a:t>
            </a:r>
            <a:endParaRPr lang="en-US" sz="1400" dirty="0"/>
          </a:p>
        </p:txBody>
      </p:sp>
      <p:sp>
        <p:nvSpPr>
          <p:cNvPr id="18" name="Text 16"/>
          <p:cNvSpPr txBox="1"/>
          <p:nvPr/>
        </p:nvSpPr>
        <p:spPr>
          <a:xfrm>
            <a:off x="6172200" y="470916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Emulation</a:t>
            </a:r>
            <a:endParaRPr lang="en-US" sz="1700" dirty="0"/>
          </a:p>
        </p:txBody>
      </p:sp>
      <p:sp>
        <p:nvSpPr>
          <p:cNvPr id="19" name="Text 17"/>
          <p:cNvSpPr txBox="1"/>
          <p:nvPr/>
        </p:nvSpPr>
        <p:spPr>
          <a:xfrm>
            <a:off x="6172200" y="5074920"/>
            <a:ext cx="5394960" cy="731520"/>
          </a:xfrm>
          <a:prstGeom prst="rect">
            <a:avLst/>
          </a:prstGeom>
          <a:noFill/>
          <a:ln/>
        </p:spPr>
        <p:txBody>
          <a:bodyPr wrap="square" lIns="0" tIns="0" rIns="0" bIns="0" rtlCol="0" anchor="t"/>
          <a:lstStyle/>
          <a:p>
            <a:pPr indent="0" marL="0">
              <a:buNone/>
            </a:pPr>
            <a:r>
              <a:rPr lang="en-US" sz="1400" dirty="0">
                <a:solidFill>
                  <a:schemeClr val="tx1"/>
                </a:solidFill>
              </a:rPr>
              <a:t>Docker fabric launcher builds one container per node, with traffic shaping and GPU device requests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Known limits and the roadmap</a:t>
            </a:r>
            <a:endParaRPr lang="en-US" sz="3200" dirty="0"/>
          </a:p>
        </p:txBody>
      </p:sp>
      <p:sp>
        <p:nvSpPr>
          <p:cNvPr id="3" name="Text 1"/>
          <p:cNvSpPr txBox="1"/>
          <p:nvPr/>
        </p:nvSpPr>
        <p:spPr>
          <a:xfrm>
            <a:off x="548640" y="1371600"/>
            <a:ext cx="5303520" cy="411480"/>
          </a:xfrm>
          <a:prstGeom prst="rect">
            <a:avLst/>
          </a:prstGeom>
          <a:noFill/>
          <a:ln/>
        </p:spPr>
        <p:txBody>
          <a:bodyPr wrap="square" lIns="0" tIns="0" rIns="0" bIns="0" rtlCol="0" anchor="t"/>
          <a:lstStyle/>
          <a:p>
            <a:pPr indent="0" marL="0">
              <a:buNone/>
            </a:pPr>
            <a:r>
              <a:rPr lang="en-US" sz="2000" b="1" dirty="0">
                <a:solidFill>
                  <a:schemeClr val="accent4"/>
                </a:solidFill>
              </a:rPr>
              <a:t>Limits today</a:t>
            </a:r>
            <a:endParaRPr lang="en-US" sz="2000" dirty="0"/>
          </a:p>
        </p:txBody>
      </p:sp>
      <p:sp>
        <p:nvSpPr>
          <p:cNvPr id="4" name="Text 2"/>
          <p:cNvSpPr txBox="1"/>
          <p:nvPr/>
        </p:nvSpPr>
        <p:spPr>
          <a:xfrm>
            <a:off x="548640" y="1874520"/>
            <a:ext cx="5303520" cy="32004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Single-seed results: point estimates, no confidence intervals yet</a:t>
            </a:r>
            <a:endParaRPr lang="en-US" sz="1600" dirty="0"/>
          </a:p>
          <a:p>
            <a:pPr marL="342900" indent="-342900">
              <a:spcAft>
                <a:spcPts val="1200"/>
              </a:spcAft>
              <a:buSzPct val="100000"/>
              <a:buChar char="•"/>
            </a:pPr>
            <a:r>
              <a:rPr lang="en-US" sz="1600" dirty="0">
                <a:solidFill>
                  <a:schemeClr val="tx1"/>
                </a:solidFill>
              </a:rPr>
              <a:t>Small scale: 100 nodes and 11 jobs never saturate the fabric</a:t>
            </a:r>
            <a:endParaRPr lang="en-US" sz="1600" dirty="0"/>
          </a:p>
          <a:p>
            <a:pPr marL="342900" indent="-342900">
              <a:spcAft>
                <a:spcPts val="1200"/>
              </a:spcAft>
              <a:buSzPct val="100000"/>
              <a:buChar char="•"/>
            </a:pPr>
            <a:r>
              <a:rPr lang="en-US" sz="1600" dirty="0">
                <a:solidFill>
                  <a:schemeClr val="tx1"/>
                </a:solidFill>
              </a:rPr>
              <a:t>No external baseline: compared only against its own strategies</a:t>
            </a:r>
            <a:endParaRPr lang="en-US" sz="1600" dirty="0"/>
          </a:p>
          <a:p>
            <a:pPr marL="342900" indent="-342900">
              <a:spcAft>
                <a:spcPts val="1200"/>
              </a:spcAft>
              <a:buSzPct val="100000"/>
              <a:buChar char="•"/>
            </a:pPr>
            <a:r>
              <a:rPr lang="en-US" sz="1600" dirty="0">
                <a:solidFill>
                  <a:schemeClr val="tx1"/>
                </a:solidFill>
              </a:rPr>
              <a:t>Self-healing's own contribution not yet isolated by ablation</a:t>
            </a:r>
            <a:endParaRPr lang="en-US" sz="1600" dirty="0"/>
          </a:p>
        </p:txBody>
      </p:sp>
      <p:sp>
        <p:nvSpPr>
          <p:cNvPr id="5" name="road-0"/>
          <p:cNvSpPr/>
          <p:nvPr/>
        </p:nvSpPr>
        <p:spPr>
          <a:xfrm>
            <a:off x="6400800" y="1371600"/>
            <a:ext cx="5239512" cy="914400"/>
          </a:xfrm>
          <a:prstGeom prst="roundRect">
            <a:avLst>
              <a:gd name="adj" fmla="val 12000"/>
            </a:avLst>
          </a:prstGeom>
          <a:solidFill>
            <a:schemeClr val="bg2"/>
          </a:solidFill>
          <a:ln w="12700">
            <a:solidFill>
              <a:schemeClr val="bg2"/>
            </a:solidFill>
            <a:prstDash val="solid"/>
          </a:ln>
        </p:spPr>
      </p:sp>
      <p:sp>
        <p:nvSpPr>
          <p:cNvPr id="6" name="Shape 4"/>
          <p:cNvSpPr/>
          <p:nvPr/>
        </p:nvSpPr>
        <p:spPr>
          <a:xfrm>
            <a:off x="6583680" y="1508760"/>
            <a:ext cx="640080" cy="640080"/>
          </a:xfrm>
          <a:prstGeom prst="ellipse">
            <a:avLst/>
          </a:prstGeom>
          <a:solidFill>
            <a:srgbClr val="D4820A"/>
          </a:solidFill>
          <a:ln w="12700">
            <a:solidFill>
              <a:srgbClr val="D4820A"/>
            </a:solidFill>
            <a:prstDash val="solid"/>
          </a:ln>
        </p:spPr>
      </p:sp>
      <p:sp>
        <p:nvSpPr>
          <p:cNvPr id="7" name="Text 5"/>
          <p:cNvSpPr txBox="1"/>
          <p:nvPr/>
        </p:nvSpPr>
        <p:spPr>
          <a:xfrm>
            <a:off x="6583680" y="1508760"/>
            <a:ext cx="640080" cy="640080"/>
          </a:xfrm>
          <a:prstGeom prst="rect">
            <a:avLst/>
          </a:prstGeom>
          <a:noFill/>
          <a:ln/>
        </p:spPr>
        <p:txBody>
          <a:bodyPr wrap="square" lIns="0" tIns="0" rIns="0" bIns="0" rtlCol="0" anchor="ctr"/>
          <a:lstStyle/>
          <a:p>
            <a:pPr algn="ctr" indent="0" marL="0">
              <a:buNone/>
            </a:pPr>
            <a:r>
              <a:rPr lang="en-US" sz="1100" b="1" dirty="0">
                <a:solidFill>
                  <a:schemeClr val="bg1"/>
                </a:solidFill>
              </a:rPr>
              <a:t>Now</a:t>
            </a:r>
            <a:endParaRPr lang="en-US" sz="1100" dirty="0"/>
          </a:p>
        </p:txBody>
      </p:sp>
      <p:sp>
        <p:nvSpPr>
          <p:cNvPr id="8" name="Text 6"/>
          <p:cNvSpPr txBox="1"/>
          <p:nvPr/>
        </p:nvSpPr>
        <p:spPr>
          <a:xfrm>
            <a:off x="7406640" y="1463040"/>
            <a:ext cx="4069080" cy="731520"/>
          </a:xfrm>
          <a:prstGeom prst="rect">
            <a:avLst/>
          </a:prstGeom>
          <a:noFill/>
          <a:ln/>
        </p:spPr>
        <p:txBody>
          <a:bodyPr wrap="square" lIns="0" tIns="0" rIns="0" bIns="0" rtlCol="0" anchor="ctr"/>
          <a:lstStyle/>
          <a:p>
            <a:pPr indent="0" marL="0">
              <a:buNone/>
            </a:pPr>
            <a:r>
              <a:rPr lang="en-US" sz="1500" dirty="0">
                <a:solidFill>
                  <a:schemeClr val="tx1"/>
                </a:solidFill>
              </a:rPr>
              <a:t>Tune Resilient weights; prove the fix through the CI gate</a:t>
            </a:r>
            <a:endParaRPr lang="en-US" sz="1500" dirty="0"/>
          </a:p>
        </p:txBody>
      </p:sp>
      <p:sp>
        <p:nvSpPr>
          <p:cNvPr id="9" name="road-1"/>
          <p:cNvSpPr/>
          <p:nvPr/>
        </p:nvSpPr>
        <p:spPr>
          <a:xfrm>
            <a:off x="6400800" y="2468880"/>
            <a:ext cx="5239512" cy="914400"/>
          </a:xfrm>
          <a:prstGeom prst="roundRect">
            <a:avLst>
              <a:gd name="adj" fmla="val 12000"/>
            </a:avLst>
          </a:prstGeom>
          <a:solidFill>
            <a:schemeClr val="bg2"/>
          </a:solidFill>
          <a:ln w="12700">
            <a:solidFill>
              <a:schemeClr val="bg2"/>
            </a:solidFill>
            <a:prstDash val="solid"/>
          </a:ln>
        </p:spPr>
      </p:sp>
      <p:sp>
        <p:nvSpPr>
          <p:cNvPr id="10" name="Shape 8"/>
          <p:cNvSpPr/>
          <p:nvPr/>
        </p:nvSpPr>
        <p:spPr>
          <a:xfrm>
            <a:off x="6583680" y="2606040"/>
            <a:ext cx="640080" cy="640080"/>
          </a:xfrm>
          <a:prstGeom prst="ellipse">
            <a:avLst/>
          </a:prstGeom>
          <a:solidFill>
            <a:srgbClr val="2E6FB5"/>
          </a:solidFill>
          <a:ln w="12700">
            <a:solidFill>
              <a:srgbClr val="2E6FB5"/>
            </a:solidFill>
            <a:prstDash val="solid"/>
          </a:ln>
        </p:spPr>
      </p:sp>
      <p:sp>
        <p:nvSpPr>
          <p:cNvPr id="11" name="Text 9"/>
          <p:cNvSpPr txBox="1"/>
          <p:nvPr/>
        </p:nvSpPr>
        <p:spPr>
          <a:xfrm>
            <a:off x="6583680" y="2606040"/>
            <a:ext cx="640080" cy="640080"/>
          </a:xfrm>
          <a:prstGeom prst="rect">
            <a:avLst/>
          </a:prstGeom>
          <a:noFill/>
          <a:ln/>
        </p:spPr>
        <p:txBody>
          <a:bodyPr wrap="square" lIns="0" tIns="0" rIns="0" bIns="0" rtlCol="0" anchor="ctr"/>
          <a:lstStyle/>
          <a:p>
            <a:pPr algn="ctr" indent="0" marL="0">
              <a:buNone/>
            </a:pPr>
            <a:r>
              <a:rPr lang="en-US" sz="1100" b="1" dirty="0">
                <a:solidFill>
                  <a:schemeClr val="bg1"/>
                </a:solidFill>
              </a:rPr>
              <a:t>Next</a:t>
            </a:r>
            <a:endParaRPr lang="en-US" sz="1100" dirty="0"/>
          </a:p>
        </p:txBody>
      </p:sp>
      <p:sp>
        <p:nvSpPr>
          <p:cNvPr id="12" name="Text 10"/>
          <p:cNvSpPr txBox="1"/>
          <p:nvPr/>
        </p:nvSpPr>
        <p:spPr>
          <a:xfrm>
            <a:off x="7406640" y="2560320"/>
            <a:ext cx="4069080" cy="731520"/>
          </a:xfrm>
          <a:prstGeom prst="rect">
            <a:avLst/>
          </a:prstGeom>
          <a:noFill/>
          <a:ln/>
        </p:spPr>
        <p:txBody>
          <a:bodyPr wrap="square" lIns="0" tIns="0" rIns="0" bIns="0" rtlCol="0" anchor="ctr"/>
          <a:lstStyle/>
          <a:p>
            <a:pPr indent="0" marL="0">
              <a:buNone/>
            </a:pPr>
            <a:r>
              <a:rPr lang="en-US" sz="1500" dirty="0">
                <a:solidFill>
                  <a:schemeClr val="tx1"/>
                </a:solidFill>
              </a:rPr>
              <a:t>Larger job catalogue and repeated-seed Monte-Carlo runs</a:t>
            </a:r>
            <a:endParaRPr lang="en-US" sz="1500" dirty="0"/>
          </a:p>
        </p:txBody>
      </p:sp>
      <p:sp>
        <p:nvSpPr>
          <p:cNvPr id="13" name="road-2"/>
          <p:cNvSpPr/>
          <p:nvPr/>
        </p:nvSpPr>
        <p:spPr>
          <a:xfrm>
            <a:off x="6400800" y="3566160"/>
            <a:ext cx="5239512" cy="914400"/>
          </a:xfrm>
          <a:prstGeom prst="roundRect">
            <a:avLst>
              <a:gd name="adj" fmla="val 12000"/>
            </a:avLst>
          </a:prstGeom>
          <a:solidFill>
            <a:schemeClr val="bg2"/>
          </a:solidFill>
          <a:ln w="12700">
            <a:solidFill>
              <a:schemeClr val="bg2"/>
            </a:solidFill>
            <a:prstDash val="solid"/>
          </a:ln>
        </p:spPr>
      </p:sp>
      <p:sp>
        <p:nvSpPr>
          <p:cNvPr id="14" name="Shape 12"/>
          <p:cNvSpPr/>
          <p:nvPr/>
        </p:nvSpPr>
        <p:spPr>
          <a:xfrm>
            <a:off x="6583680" y="3703320"/>
            <a:ext cx="640080" cy="640080"/>
          </a:xfrm>
          <a:prstGeom prst="ellipse">
            <a:avLst/>
          </a:prstGeom>
          <a:solidFill>
            <a:srgbClr val="2E6FB5"/>
          </a:solidFill>
          <a:ln w="12700">
            <a:solidFill>
              <a:srgbClr val="2E6FB5"/>
            </a:solidFill>
            <a:prstDash val="solid"/>
          </a:ln>
        </p:spPr>
      </p:sp>
      <p:sp>
        <p:nvSpPr>
          <p:cNvPr id="15" name="Text 13"/>
          <p:cNvSpPr txBox="1"/>
          <p:nvPr/>
        </p:nvSpPr>
        <p:spPr>
          <a:xfrm>
            <a:off x="6583680" y="3703320"/>
            <a:ext cx="640080" cy="640080"/>
          </a:xfrm>
          <a:prstGeom prst="rect">
            <a:avLst/>
          </a:prstGeom>
          <a:noFill/>
          <a:ln/>
        </p:spPr>
        <p:txBody>
          <a:bodyPr wrap="square" lIns="0" tIns="0" rIns="0" bIns="0" rtlCol="0" anchor="ctr"/>
          <a:lstStyle/>
          <a:p>
            <a:pPr algn="ctr" indent="0" marL="0">
              <a:buNone/>
            </a:pPr>
            <a:r>
              <a:rPr lang="en-US" sz="1100" b="1" dirty="0">
                <a:solidFill>
                  <a:schemeClr val="bg1"/>
                </a:solidFill>
              </a:rPr>
              <a:t>Then</a:t>
            </a:r>
            <a:endParaRPr lang="en-US" sz="1100" dirty="0"/>
          </a:p>
        </p:txBody>
      </p:sp>
      <p:sp>
        <p:nvSpPr>
          <p:cNvPr id="16" name="Text 14"/>
          <p:cNvSpPr txBox="1"/>
          <p:nvPr/>
        </p:nvSpPr>
        <p:spPr>
          <a:xfrm>
            <a:off x="7406640" y="3657600"/>
            <a:ext cx="4069080" cy="731520"/>
          </a:xfrm>
          <a:prstGeom prst="rect">
            <a:avLst/>
          </a:prstGeom>
          <a:noFill/>
          <a:ln/>
        </p:spPr>
        <p:txBody>
          <a:bodyPr wrap="square" lIns="0" tIns="0" rIns="0" bIns="0" rtlCol="0" anchor="ctr"/>
          <a:lstStyle/>
          <a:p>
            <a:pPr indent="0" marL="0">
              <a:buNone/>
            </a:pPr>
            <a:r>
              <a:rPr lang="en-US" sz="1500" dirty="0">
                <a:solidFill>
                  <a:schemeClr val="tx1"/>
                </a:solidFill>
              </a:rPr>
              <a:t>External baseline: default Kubernetes scheduler</a:t>
            </a:r>
            <a:endParaRPr lang="en-US" sz="1500" dirty="0"/>
          </a:p>
        </p:txBody>
      </p:sp>
      <p:sp>
        <p:nvSpPr>
          <p:cNvPr id="17" name="road-3"/>
          <p:cNvSpPr/>
          <p:nvPr/>
        </p:nvSpPr>
        <p:spPr>
          <a:xfrm>
            <a:off x="6400800" y="4663440"/>
            <a:ext cx="5239512" cy="914400"/>
          </a:xfrm>
          <a:prstGeom prst="roundRect">
            <a:avLst>
              <a:gd name="adj" fmla="val 12000"/>
            </a:avLst>
          </a:prstGeom>
          <a:solidFill>
            <a:schemeClr val="bg2"/>
          </a:solidFill>
          <a:ln w="12700">
            <a:solidFill>
              <a:schemeClr val="bg2"/>
            </a:solidFill>
            <a:prstDash val="solid"/>
          </a:ln>
        </p:spPr>
      </p:sp>
      <p:sp>
        <p:nvSpPr>
          <p:cNvPr id="18" name="Shape 16"/>
          <p:cNvSpPr/>
          <p:nvPr/>
        </p:nvSpPr>
        <p:spPr>
          <a:xfrm>
            <a:off x="6583680" y="4800600"/>
            <a:ext cx="640080" cy="640080"/>
          </a:xfrm>
          <a:prstGeom prst="ellipse">
            <a:avLst/>
          </a:prstGeom>
          <a:solidFill>
            <a:srgbClr val="2E6FB5"/>
          </a:solidFill>
          <a:ln w="12700">
            <a:solidFill>
              <a:srgbClr val="2E6FB5"/>
            </a:solidFill>
            <a:prstDash val="solid"/>
          </a:ln>
        </p:spPr>
      </p:sp>
      <p:sp>
        <p:nvSpPr>
          <p:cNvPr id="19" name="Text 17"/>
          <p:cNvSpPr txBox="1"/>
          <p:nvPr/>
        </p:nvSpPr>
        <p:spPr>
          <a:xfrm>
            <a:off x="6583680" y="4800600"/>
            <a:ext cx="640080" cy="640080"/>
          </a:xfrm>
          <a:prstGeom prst="rect">
            <a:avLst/>
          </a:prstGeom>
          <a:noFill/>
          <a:ln/>
        </p:spPr>
        <p:txBody>
          <a:bodyPr wrap="square" lIns="0" tIns="0" rIns="0" bIns="0" rtlCol="0" anchor="ctr"/>
          <a:lstStyle/>
          <a:p>
            <a:pPr algn="ctr" indent="0" marL="0">
              <a:buNone/>
            </a:pPr>
            <a:r>
              <a:rPr lang="en-US" sz="1100" b="1" dirty="0">
                <a:solidFill>
                  <a:schemeClr val="bg1"/>
                </a:solidFill>
              </a:rPr>
              <a:t>Later</a:t>
            </a:r>
            <a:endParaRPr lang="en-US" sz="1100" dirty="0"/>
          </a:p>
        </p:txBody>
      </p:sp>
      <p:sp>
        <p:nvSpPr>
          <p:cNvPr id="20" name="Text 18"/>
          <p:cNvSpPr txBox="1"/>
          <p:nvPr/>
        </p:nvSpPr>
        <p:spPr>
          <a:xfrm>
            <a:off x="7406640" y="4754880"/>
            <a:ext cx="4069080" cy="731520"/>
          </a:xfrm>
          <a:prstGeom prst="rect">
            <a:avLst/>
          </a:prstGeom>
          <a:noFill/>
          <a:ln/>
        </p:spPr>
        <p:txBody>
          <a:bodyPr wrap="square" lIns="0" tIns="0" rIns="0" bIns="0" rtlCol="0" anchor="ctr"/>
          <a:lstStyle/>
          <a:p>
            <a:pPr indent="0" marL="0">
              <a:buNone/>
            </a:pPr>
            <a:r>
              <a:rPr lang="en-US" sz="1500" dirty="0">
                <a:solidFill>
                  <a:schemeClr val="tx1"/>
                </a:solidFill>
              </a:rPr>
              <a:t>Physical 5G/6G edge testbed via /observe and MQTT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731520"/>
            <a:ext cx="7315200" cy="365760"/>
          </a:xfrm>
          <a:prstGeom prst="rect">
            <a:avLst/>
          </a:prstGeom>
          <a:noFill/>
          <a:ln/>
        </p:spPr>
        <p:txBody>
          <a:bodyPr wrap="square" lIns="0" tIns="0" rIns="0" bIns="0" rtlCol="0" anchor="t"/>
          <a:lstStyle/>
          <a:p>
            <a:pPr indent="0" marL="0">
              <a:buNone/>
            </a:pPr>
            <a:r>
              <a:rPr lang="en-US" sz="1400" spc="200" kern="0" dirty="0">
                <a:solidFill>
                  <a:schemeClr val="accent2"/>
                </a:solidFill>
                <a:latin typeface="Courier New" pitchFamily="34" charset="0"/>
                <a:ea typeface="Courier New" pitchFamily="34" charset="-122"/>
                <a:cs typeface="Courier New" pitchFamily="34" charset="-120"/>
              </a:rPr>
              <a:t>WHAT WE'D VALUE FROM YOU</a:t>
            </a:r>
            <a:endParaRPr lang="en-US" sz="1400" dirty="0"/>
          </a:p>
        </p:txBody>
      </p:sp>
      <p:sp>
        <p:nvSpPr>
          <p:cNvPr id="3" name="Text 1"/>
          <p:cNvSpPr txBox="1"/>
          <p:nvPr/>
        </p:nvSpPr>
        <p:spPr>
          <a:xfrm>
            <a:off x="731520" y="1280160"/>
            <a:ext cx="10515600" cy="914400"/>
          </a:xfrm>
          <a:prstGeom prst="rect">
            <a:avLst/>
          </a:prstGeom>
          <a:noFill/>
          <a:ln/>
        </p:spPr>
        <p:txBody>
          <a:bodyPr wrap="square" lIns="0" tIns="0" rIns="0" bIns="0" rtlCol="0" anchor="t"/>
          <a:lstStyle/>
          <a:p>
            <a:pPr indent="0" marL="0">
              <a:buNone/>
            </a:pPr>
            <a:r>
              <a:rPr lang="en-US" sz="3600" b="1" dirty="0">
                <a:solidFill>
                  <a:schemeClr val="bg1"/>
                </a:solidFill>
                <a:latin typeface="Arial" pitchFamily="34" charset="0"/>
                <a:ea typeface="Arial" pitchFamily="34" charset="-122"/>
                <a:cs typeface="Arial" pitchFamily="34" charset="-120"/>
              </a:rPr>
              <a:t>Help us make the twin match real fabrics</a:t>
            </a:r>
            <a:endParaRPr lang="en-US" sz="3600" dirty="0"/>
          </a:p>
        </p:txBody>
      </p:sp>
      <p:sp>
        <p:nvSpPr>
          <p:cNvPr id="4" name="Shape 2"/>
          <p:cNvSpPr/>
          <p:nvPr/>
        </p:nvSpPr>
        <p:spPr>
          <a:xfrm>
            <a:off x="731520" y="2651760"/>
            <a:ext cx="3429000" cy="2468880"/>
          </a:xfrm>
          <a:prstGeom prst="roundRect">
            <a:avLst>
              <a:gd name="adj" fmla="val 4444"/>
            </a:avLst>
          </a:prstGeom>
          <a:solidFill>
            <a:srgbClr val="22325A"/>
          </a:solidFill>
          <a:ln w="12700">
            <a:solidFill>
              <a:srgbClr val="22325A"/>
            </a:solidFill>
            <a:prstDash val="solid"/>
          </a:ln>
        </p:spPr>
      </p:sp>
      <p:sp>
        <p:nvSpPr>
          <p:cNvPr id="5" name="Shape 3"/>
          <p:cNvSpPr/>
          <p:nvPr/>
        </p:nvSpPr>
        <p:spPr>
          <a:xfrm>
            <a:off x="1005840" y="2926080"/>
            <a:ext cx="548640" cy="548640"/>
          </a:xfrm>
          <a:prstGeom prst="ellipse">
            <a:avLst/>
          </a:prstGeom>
          <a:solidFill>
            <a:srgbClr val="D4820A"/>
          </a:solidFill>
          <a:ln w="12700">
            <a:solidFill>
              <a:srgbClr val="D4820A"/>
            </a:solidFill>
            <a:prstDash val="solid"/>
          </a:ln>
        </p:spPr>
      </p:sp>
      <p:sp>
        <p:nvSpPr>
          <p:cNvPr id="6" name="Text 4"/>
          <p:cNvSpPr txBox="1"/>
          <p:nvPr/>
        </p:nvSpPr>
        <p:spPr>
          <a:xfrm>
            <a:off x="1005840" y="29260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005840" y="3657600"/>
            <a:ext cx="2926080" cy="411480"/>
          </a:xfrm>
          <a:prstGeom prst="rect">
            <a:avLst/>
          </a:prstGeom>
          <a:noFill/>
          <a:ln/>
        </p:spPr>
        <p:txBody>
          <a:bodyPr wrap="square" lIns="0" tIns="0" rIns="0" bIns="0" rtlCol="0" anchor="t"/>
          <a:lstStyle/>
          <a:p>
            <a:pPr indent="0" marL="0">
              <a:buNone/>
            </a:pPr>
            <a:r>
              <a:rPr lang="en-US" sz="1800" b="1" dirty="0">
                <a:solidFill>
                  <a:schemeClr val="bg1"/>
                </a:solidFill>
              </a:rPr>
              <a:t>Validate the approach</a:t>
            </a:r>
            <a:endParaRPr lang="en-US" sz="1800" dirty="0"/>
          </a:p>
        </p:txBody>
      </p:sp>
      <p:sp>
        <p:nvSpPr>
          <p:cNvPr id="8" name="Text 6"/>
          <p:cNvSpPr txBox="1"/>
          <p:nvPr/>
        </p:nvSpPr>
        <p:spPr>
          <a:xfrm>
            <a:off x="1005840" y="4114800"/>
            <a:ext cx="2926080" cy="914400"/>
          </a:xfrm>
          <a:prstGeom prst="rect">
            <a:avLst/>
          </a:prstGeom>
          <a:noFill/>
          <a:ln/>
        </p:spPr>
        <p:txBody>
          <a:bodyPr wrap="square" lIns="0" tIns="0" rIns="0" bIns="0" rtlCol="0" anchor="t"/>
          <a:lstStyle/>
          <a:p>
            <a:pPr indent="0" marL="0">
              <a:buNone/>
            </a:pPr>
            <a:r>
              <a:rPr lang="en-US" sz="1400" dirty="0">
                <a:solidFill>
                  <a:srgbClr val="C9D3E3"/>
                </a:solidFill>
              </a:rPr>
              <a:t>Does this way of testing schedulers fit how your teams roll out policy changes?</a:t>
            </a:r>
            <a:endParaRPr lang="en-US" sz="1400" dirty="0"/>
          </a:p>
        </p:txBody>
      </p:sp>
      <p:sp>
        <p:nvSpPr>
          <p:cNvPr id="9" name="Shape 7"/>
          <p:cNvSpPr/>
          <p:nvPr/>
        </p:nvSpPr>
        <p:spPr>
          <a:xfrm>
            <a:off x="4434840" y="2651760"/>
            <a:ext cx="3429000" cy="2468880"/>
          </a:xfrm>
          <a:prstGeom prst="roundRect">
            <a:avLst>
              <a:gd name="adj" fmla="val 4444"/>
            </a:avLst>
          </a:prstGeom>
          <a:solidFill>
            <a:srgbClr val="22325A"/>
          </a:solidFill>
          <a:ln w="12700">
            <a:solidFill>
              <a:srgbClr val="22325A"/>
            </a:solidFill>
            <a:prstDash val="solid"/>
          </a:ln>
        </p:spPr>
      </p:sp>
      <p:sp>
        <p:nvSpPr>
          <p:cNvPr id="10" name="Shape 8"/>
          <p:cNvSpPr/>
          <p:nvPr/>
        </p:nvSpPr>
        <p:spPr>
          <a:xfrm>
            <a:off x="4709160" y="2926080"/>
            <a:ext cx="548640" cy="548640"/>
          </a:xfrm>
          <a:prstGeom prst="ellipse">
            <a:avLst/>
          </a:prstGeom>
          <a:solidFill>
            <a:srgbClr val="D4820A"/>
          </a:solidFill>
          <a:ln w="12700">
            <a:solidFill>
              <a:srgbClr val="D4820A"/>
            </a:solidFill>
            <a:prstDash val="solid"/>
          </a:ln>
        </p:spPr>
      </p:sp>
      <p:sp>
        <p:nvSpPr>
          <p:cNvPr id="11" name="Text 9"/>
          <p:cNvSpPr txBox="1"/>
          <p:nvPr/>
        </p:nvSpPr>
        <p:spPr>
          <a:xfrm>
            <a:off x="4709160" y="29260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4709160" y="3657600"/>
            <a:ext cx="2926080" cy="411480"/>
          </a:xfrm>
          <a:prstGeom prst="rect">
            <a:avLst/>
          </a:prstGeom>
          <a:noFill/>
          <a:ln/>
        </p:spPr>
        <p:txBody>
          <a:bodyPr wrap="square" lIns="0" tIns="0" rIns="0" bIns="0" rtlCol="0" anchor="t"/>
          <a:lstStyle/>
          <a:p>
            <a:pPr indent="0" marL="0">
              <a:buNone/>
            </a:pPr>
            <a:r>
              <a:rPr lang="en-US" sz="1800" b="1" dirty="0">
                <a:solidFill>
                  <a:schemeClr val="bg1"/>
                </a:solidFill>
              </a:rPr>
              <a:t>Real-world scenarios</a:t>
            </a:r>
            <a:endParaRPr lang="en-US" sz="1800" dirty="0"/>
          </a:p>
        </p:txBody>
      </p:sp>
      <p:sp>
        <p:nvSpPr>
          <p:cNvPr id="13" name="Text 11"/>
          <p:cNvSpPr txBox="1"/>
          <p:nvPr/>
        </p:nvSpPr>
        <p:spPr>
          <a:xfrm>
            <a:off x="4709160" y="4114800"/>
            <a:ext cx="2926080" cy="914400"/>
          </a:xfrm>
          <a:prstGeom prst="rect">
            <a:avLst/>
          </a:prstGeom>
          <a:noFill/>
          <a:ln/>
        </p:spPr>
        <p:txBody>
          <a:bodyPr wrap="square" lIns="0" tIns="0" rIns="0" bIns="0" rtlCol="0" anchor="t"/>
          <a:lstStyle/>
          <a:p>
            <a:pPr indent="0" marL="0">
              <a:buNone/>
            </a:pPr>
            <a:r>
              <a:rPr lang="en-US" sz="1400" dirty="0">
                <a:solidFill>
                  <a:srgbClr val="C9D3E3"/>
                </a:solidFill>
              </a:rPr>
              <a:t>Which failure modes and workloads from your environment should the twin model next?</a:t>
            </a:r>
            <a:endParaRPr lang="en-US" sz="1400" dirty="0"/>
          </a:p>
        </p:txBody>
      </p:sp>
      <p:sp>
        <p:nvSpPr>
          <p:cNvPr id="14" name="Shape 12"/>
          <p:cNvSpPr/>
          <p:nvPr/>
        </p:nvSpPr>
        <p:spPr>
          <a:xfrm>
            <a:off x="8138160" y="2651760"/>
            <a:ext cx="3429000" cy="2468880"/>
          </a:xfrm>
          <a:prstGeom prst="roundRect">
            <a:avLst>
              <a:gd name="adj" fmla="val 4444"/>
            </a:avLst>
          </a:prstGeom>
          <a:solidFill>
            <a:srgbClr val="22325A"/>
          </a:solidFill>
          <a:ln w="12700">
            <a:solidFill>
              <a:srgbClr val="22325A"/>
            </a:solidFill>
            <a:prstDash val="solid"/>
          </a:ln>
        </p:spPr>
      </p:sp>
      <p:sp>
        <p:nvSpPr>
          <p:cNvPr id="15" name="Shape 13"/>
          <p:cNvSpPr/>
          <p:nvPr/>
        </p:nvSpPr>
        <p:spPr>
          <a:xfrm>
            <a:off x="8412480" y="2926080"/>
            <a:ext cx="548640" cy="548640"/>
          </a:xfrm>
          <a:prstGeom prst="ellipse">
            <a:avLst/>
          </a:prstGeom>
          <a:solidFill>
            <a:srgbClr val="D4820A"/>
          </a:solidFill>
          <a:ln w="12700">
            <a:solidFill>
              <a:srgbClr val="D4820A"/>
            </a:solidFill>
            <a:prstDash val="solid"/>
          </a:ln>
        </p:spPr>
      </p:sp>
      <p:sp>
        <p:nvSpPr>
          <p:cNvPr id="16" name="Text 14"/>
          <p:cNvSpPr txBox="1"/>
          <p:nvPr/>
        </p:nvSpPr>
        <p:spPr>
          <a:xfrm>
            <a:off x="8412480" y="29260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8412480" y="3657600"/>
            <a:ext cx="2926080" cy="411480"/>
          </a:xfrm>
          <a:prstGeom prst="rect">
            <a:avLst/>
          </a:prstGeom>
          <a:noFill/>
          <a:ln/>
        </p:spPr>
        <p:txBody>
          <a:bodyPr wrap="square" lIns="0" tIns="0" rIns="0" bIns="0" rtlCol="0" anchor="t"/>
          <a:lstStyle/>
          <a:p>
            <a:pPr indent="0" marL="0">
              <a:buNone/>
            </a:pPr>
            <a:r>
              <a:rPr lang="en-US" sz="1800" b="1" dirty="0">
                <a:solidFill>
                  <a:schemeClr val="bg1"/>
                </a:solidFill>
              </a:rPr>
              <a:t>Pilot data</a:t>
            </a:r>
            <a:endParaRPr lang="en-US" sz="1800" dirty="0"/>
          </a:p>
        </p:txBody>
      </p:sp>
      <p:sp>
        <p:nvSpPr>
          <p:cNvPr id="18" name="Text 16"/>
          <p:cNvSpPr txBox="1"/>
          <p:nvPr/>
        </p:nvSpPr>
        <p:spPr>
          <a:xfrm>
            <a:off x="8412480" y="4114800"/>
            <a:ext cx="2926080" cy="914400"/>
          </a:xfrm>
          <a:prstGeom prst="rect">
            <a:avLst/>
          </a:prstGeom>
          <a:noFill/>
          <a:ln/>
        </p:spPr>
        <p:txBody>
          <a:bodyPr wrap="square" lIns="0" tIns="0" rIns="0" bIns="0" rtlCol="0" anchor="t"/>
          <a:lstStyle/>
          <a:p>
            <a:pPr indent="0" marL="0">
              <a:buNone/>
            </a:pPr>
            <a:r>
              <a:rPr lang="en-US" sz="1400" dirty="0">
                <a:solidFill>
                  <a:srgbClr val="C9D3E3"/>
                </a:solidFill>
              </a:rPr>
              <a:t>Access to anonymised telemetry or topology to calibrate the twin against a real cluster</a:t>
            </a:r>
            <a:endParaRPr lang="en-US" sz="1400" dirty="0"/>
          </a:p>
        </p:txBody>
      </p:sp>
      <p:sp>
        <p:nvSpPr>
          <p:cNvPr id="19" name="Text 17"/>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dirty="0">
                <a:solidFill>
                  <a:srgbClr val="9FB0C8"/>
                </a:solidFill>
              </a:rPr>
              <a:t>Thank you  ·  raptwin.seloraos.online</a:t>
            </a:r>
            <a:endParaRPr lang="en-US" sz="1600" dirty="0"/>
          </a:p>
        </p:txBody>
      </p:sp>
    </p:spTree>
  </p:cSld>
  <p:clrMapOvr>
    <a:masterClrMapping/>
  </p:clrMapOvr>
</p:sld>
</file>

<file path=ppt/theme/theme1.xml><?xml version="1.0" encoding="utf-8"?>
<a:theme xmlns:a="http://schemas.openxmlformats.org/drawingml/2006/main" name="RAP Twin">
  <a:themeElements>
    <a:clrScheme name="RAP Twin">
      <a:dk1>
        <a:srgbClr val="1B2333"/>
      </a:dk1>
      <a:lt1>
        <a:srgbClr val="FFFFFF"/>
      </a:lt1>
      <a:dk2>
        <a:srgbClr val="14213D"/>
      </a:dk2>
      <a:lt2>
        <a:srgbClr val="EEF2F7"/>
      </a:lt2>
      <a:accent1>
        <a:srgbClr val="2E6FB5"/>
      </a:accent1>
      <a:accent2>
        <a:srgbClr val="D4820A"/>
      </a:accent2>
      <a:accent3>
        <a:srgbClr val="1E7A6E"/>
      </a:accent3>
      <a:accent4>
        <a:srgbClr val="B03A2E"/>
      </a:accent4>
      <a:accent5>
        <a:srgbClr val="6A3FA0"/>
      </a:accent5>
      <a:accent6>
        <a:srgbClr val="6B7685"/>
      </a:accent6>
      <a:hlink>
        <a:srgbClr val="2E6FB5"/>
      </a:hlink>
      <a:folHlink>
        <a:srgbClr val="6A3FA0"/>
      </a:folHlink>
    </a:clrScheme>
    <a:fontScheme name="RAP Twi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 Twin: Pitch Deck</dc:title>
  <dc:subject>Digital twin fabric simulator for distributed scheduling</dc:subject>
  <dc:creator>Riaan Masoud Attar</dc:creator>
  <cp:lastModifiedBy>Riaan Masoud Attar</cp:lastModifiedBy>
  <cp:revision>1</cp:revision>
  <dcterms:created xsi:type="dcterms:W3CDTF">2026-10-10T11:54:35Z</dcterms:created>
  <dcterms:modified xsi:type="dcterms:W3CDTF">2026-10-10T11:54:35Z</dcterms:modified>
</cp:coreProperties>
</file>