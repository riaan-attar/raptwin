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10698480" cy="457200"/>
          </a:xfrm>
          <a:prstGeom prst="rect">
            <a:avLst/>
          </a:prstGeom>
          <a:noFill/>
        </p:spPr>
        <p:txBody>
          <a:bodyPr wrap="square" anchor="t">
            <a:spAutoFit/>
          </a:bodyPr>
          <a:lstStyle/>
          <a:p>
            <a:pPr algn="l">
              <a:spcAft>
                <a:spcPts val="500"/>
              </a:spcAft>
            </a:pPr>
            <a:r>
              <a:rPr sz="1800" b="1">
                <a:solidFill>
                  <a:srgbClr val="93C5FD"/>
                </a:solidFill>
                <a:latin typeface="Calibri"/>
              </a:rPr>
              <a:t>Department Research Colloquium 2026</a:t>
            </a:r>
          </a:p>
        </p:txBody>
      </p:sp>
      <p:sp>
        <p:nvSpPr>
          <p:cNvPr id="5" name="TextBox 4"/>
          <p:cNvSpPr txBox="1"/>
          <p:nvPr/>
        </p:nvSpPr>
        <p:spPr>
          <a:xfrm>
            <a:off x="731520" y="1371600"/>
            <a:ext cx="10698480" cy="1645920"/>
          </a:xfrm>
          <a:prstGeom prst="rect">
            <a:avLst/>
          </a:prstGeom>
          <a:noFill/>
        </p:spPr>
        <p:txBody>
          <a:bodyPr wrap="square" anchor="t">
            <a:spAutoFit/>
          </a:bodyPr>
          <a:lstStyle/>
          <a:p>
            <a:pPr algn="l">
              <a:spcAft>
                <a:spcPts val="500"/>
              </a:spcAft>
            </a:pPr>
            <a:r>
              <a:rPr sz="4200" b="1">
                <a:solidFill>
                  <a:srgbClr val="FFFFFF"/>
                </a:solidFill>
                <a:latin typeface="Calibri"/>
              </a:rPr>
              <a:t>RAP twin: A Digital Twin and Planning Sandbox for Distributed Systems</a:t>
            </a:r>
          </a:p>
        </p:txBody>
      </p:sp>
      <p:sp>
        <p:nvSpPr>
          <p:cNvPr id="6" name="TextBox 5"/>
          <p:cNvSpPr txBox="1"/>
          <p:nvPr/>
        </p:nvSpPr>
        <p:spPr>
          <a:xfrm>
            <a:off x="731520" y="3200400"/>
            <a:ext cx="10698480" cy="1188720"/>
          </a:xfrm>
          <a:prstGeom prst="rect">
            <a:avLst/>
          </a:prstGeom>
          <a:noFill/>
        </p:spPr>
        <p:txBody>
          <a:bodyPr wrap="square" anchor="t">
            <a:spAutoFit/>
          </a:bodyPr>
          <a:lstStyle/>
          <a:p>
            <a:pPr algn="l">
              <a:spcAft>
                <a:spcPts val="500"/>
              </a:spcAft>
            </a:pPr>
            <a:r>
              <a:rPr sz="2000" b="0">
                <a:solidFill>
                  <a:srgbClr val="FFFFFF"/>
                </a:solidFill>
                <a:latin typeface="Calibri"/>
              </a:rPr>
              <a:t>• Riaan Masoud Attar (first author)  •  Avanti Nitin Patil  •  Preet Prashant Boralkar</a:t>
            </a:r>
          </a:p>
          <a:p>
            <a:pPr algn="l">
              <a:spcAft>
                <a:spcPts val="500"/>
              </a:spcAft>
            </a:pPr>
            <a:r>
              <a:rPr sz="2000" b="0">
                <a:solidFill>
                  <a:srgbClr val="FFFFFF"/>
                </a:solidFill>
                <a:latin typeface="Calibri"/>
              </a:rPr>
              <a:t>• Faculty Mentor: Prof. K. K. Deshmukh</a:t>
            </a:r>
          </a:p>
        </p:txBody>
      </p:sp>
      <p:sp>
        <p:nvSpPr>
          <p:cNvPr id="7" name="TextBox 6"/>
          <p:cNvSpPr txBox="1"/>
          <p:nvPr/>
        </p:nvSpPr>
        <p:spPr>
          <a:xfrm>
            <a:off x="731520" y="4754880"/>
            <a:ext cx="10698480" cy="1463040"/>
          </a:xfrm>
          <a:prstGeom prst="rect">
            <a:avLst/>
          </a:prstGeom>
          <a:noFill/>
        </p:spPr>
        <p:txBody>
          <a:bodyPr wrap="square" anchor="t">
            <a:spAutoFit/>
          </a:bodyPr>
          <a:lstStyle/>
          <a:p>
            <a:pPr algn="l">
              <a:spcAft>
                <a:spcPts val="500"/>
              </a:spcAft>
            </a:pPr>
            <a:r>
              <a:rPr sz="1600" b="0">
                <a:solidFill>
                  <a:srgbClr val="CBD5E1"/>
                </a:solidFill>
                <a:latin typeface="Calibri"/>
              </a:rPr>
              <a:t>• Department of Artificial Intelligence and Data Science</a:t>
            </a:r>
          </a:p>
          <a:p>
            <a:pPr algn="l">
              <a:spcAft>
                <a:spcPts val="500"/>
              </a:spcAft>
            </a:pPr>
            <a:r>
              <a:rPr sz="1600" b="0">
                <a:solidFill>
                  <a:srgbClr val="CBD5E1"/>
                </a:solidFill>
                <a:latin typeface="Calibri"/>
              </a:rPr>
              <a:t>• K. K. Wagh Institute of Engineering Education and Research, Nashik</a:t>
            </a:r>
          </a:p>
          <a:p>
            <a:pPr algn="l">
              <a:spcAft>
                <a:spcPts val="500"/>
              </a:spcAft>
            </a:pPr>
            <a:r>
              <a:rPr sz="1600" b="0">
                <a:solidFill>
                  <a:srgbClr val="CBD5E1"/>
                </a:solidFill>
                <a:latin typeface="Calibri"/>
              </a:rPr>
              <a:t>• Group 01  |  30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nchor="ctr">
            <a:spAutoFit/>
          </a:bodyPr>
          <a:lstStyle/>
          <a:p>
            <a:pPr algn="l">
              <a:spcAft>
                <a:spcPts val="500"/>
              </a:spcAft>
            </a:pPr>
            <a:r>
              <a:rPr sz="3000" b="1">
                <a:solidFill>
                  <a:srgbClr val="FFFFFF"/>
                </a:solidFill>
                <a:latin typeface="Calibri"/>
              </a:rPr>
              <a:t>Abstract</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500"/>
              </a:spcAft>
            </a:pPr>
            <a:r>
              <a:rPr sz="1100" b="0">
                <a:solidFill>
                  <a:srgbClr val="475569"/>
                </a:solidFill>
                <a:latin typeface="Calibri"/>
              </a:rPr>
              <a:t>• RAP twin | Group 01 | Department Research Colloquium 2026</a:t>
            </a:r>
          </a:p>
        </p:txBody>
      </p:sp>
      <p:sp>
        <p:nvSpPr>
          <p:cNvPr id="6" name="TextBox 5"/>
          <p:cNvSpPr txBox="1"/>
          <p:nvPr/>
        </p:nvSpPr>
        <p:spPr>
          <a:xfrm>
            <a:off x="11155680" y="6446520"/>
            <a:ext cx="731520" cy="320040"/>
          </a:xfrm>
          <a:prstGeom prst="rect">
            <a:avLst/>
          </a:prstGeom>
          <a:noFill/>
        </p:spPr>
        <p:txBody>
          <a:bodyPr wrap="square" anchor="t">
            <a:spAutoFit/>
          </a:bodyPr>
          <a:lstStyle/>
          <a:p>
            <a:pPr algn="r">
              <a:spcAft>
                <a:spcPts val="500"/>
              </a:spcAft>
            </a:pPr>
            <a:r>
              <a:rPr sz="1100" b="0">
                <a:solidFill>
                  <a:srgbClr val="475569"/>
                </a:solidFill>
                <a:latin typeface="Calibri"/>
              </a:rPr>
              <a:t>2</a:t>
            </a:r>
          </a:p>
        </p:txBody>
      </p:sp>
      <p:sp>
        <p:nvSpPr>
          <p:cNvPr id="7" name="TextBox 6"/>
          <p:cNvSpPr txBox="1"/>
          <p:nvPr/>
        </p:nvSpPr>
        <p:spPr>
          <a:xfrm>
            <a:off x="457200" y="1234440"/>
            <a:ext cx="11247120" cy="3566160"/>
          </a:xfrm>
          <a:prstGeom prst="rect">
            <a:avLst/>
          </a:prstGeom>
          <a:noFill/>
        </p:spPr>
        <p:txBody>
          <a:bodyPr wrap="square" anchor="t">
            <a:spAutoFit/>
          </a:bodyPr>
          <a:lstStyle/>
          <a:p>
            <a:pPr algn="l">
              <a:spcAft>
                <a:spcPts val="500"/>
              </a:spcAft>
            </a:pPr>
            <a:r>
              <a:rPr sz="1800" b="0">
                <a:solidFill>
                  <a:srgbClr val="475569"/>
                </a:solidFill>
                <a:latin typeface="Calibri"/>
              </a:rPr>
              <a:t>• Evaluating job-scheduling policies for edge, multi-cloud and hybrid fabrics on production hardware is risky and costly. RAP twin is a digital-twin and planning sandbox that mirrors a 100-node heterogeneous fabric from YAML descriptors and live telemetry. It plans multi-stage jobs with seven pluggable strategies, injects deterministic faults, heals itself, and scores every plan for latency, energy, cost and carbon. On the reference fabric, five strategies place identically in dry-run, Resilient predicts 19% higher latency and about 40× the cost in exchange for redundancy, and RL-Markov leaves 3 of 11 jobs infeasible under contention. A chaos-as-CI gate and a 1,000-trial Monte-Carlo sweep make these trade-offs reproducible. The study reports its measured results and known limits openly.</a:t>
            </a:r>
          </a:p>
        </p:txBody>
      </p:sp>
      <p:sp>
        <p:nvSpPr>
          <p:cNvPr id="8" name="Rectangle 7"/>
          <p:cNvSpPr/>
          <p:nvPr/>
        </p:nvSpPr>
        <p:spPr>
          <a:xfrm>
            <a:off x="457200" y="5029200"/>
            <a:ext cx="11247120" cy="8229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120640"/>
            <a:ext cx="10881360" cy="640080"/>
          </a:xfrm>
          <a:prstGeom prst="rect">
            <a:avLst/>
          </a:prstGeom>
          <a:noFill/>
        </p:spPr>
        <p:txBody>
          <a:bodyPr wrap="square" anchor="ctr">
            <a:spAutoFit/>
          </a:bodyPr>
          <a:lstStyle/>
          <a:p>
            <a:pPr algn="l">
              <a:spcAft>
                <a:spcPts val="500"/>
              </a:spcAft>
            </a:pPr>
            <a:r>
              <a:rPr sz="1500" b="1">
                <a:solidFill>
                  <a:srgbClr val="2563EB"/>
                </a:solidFill>
                <a:latin typeface="Calibri"/>
              </a:rPr>
              <a:t>Keywords: digital twin • distributed systems • task scheduling • chaos engineering • Monte-Carlo simulation • edge computing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nchor="ctr">
            <a:spAutoFit/>
          </a:bodyPr>
          <a:lstStyle/>
          <a:p>
            <a:pPr algn="l">
              <a:spcAft>
                <a:spcPts val="500"/>
              </a:spcAft>
            </a:pPr>
            <a:r>
              <a:rPr sz="3000" b="1">
                <a:solidFill>
                  <a:srgbClr val="FFFFFF"/>
                </a:solidFill>
                <a:latin typeface="Calibri"/>
              </a:rPr>
              <a:t>Introduction and Motivation</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500"/>
              </a:spcAft>
            </a:pPr>
            <a:r>
              <a:rPr sz="1100" b="0">
                <a:solidFill>
                  <a:srgbClr val="475569"/>
                </a:solidFill>
                <a:latin typeface="Calibri"/>
              </a:rPr>
              <a:t>• RAP twin | Group 01 | Department Research Colloquium 2026</a:t>
            </a:r>
          </a:p>
        </p:txBody>
      </p:sp>
      <p:sp>
        <p:nvSpPr>
          <p:cNvPr id="6" name="TextBox 5"/>
          <p:cNvSpPr txBox="1"/>
          <p:nvPr/>
        </p:nvSpPr>
        <p:spPr>
          <a:xfrm>
            <a:off x="11155680" y="6446520"/>
            <a:ext cx="731520" cy="320040"/>
          </a:xfrm>
          <a:prstGeom prst="rect">
            <a:avLst/>
          </a:prstGeom>
          <a:noFill/>
        </p:spPr>
        <p:txBody>
          <a:bodyPr wrap="square" anchor="t">
            <a:spAutoFit/>
          </a:bodyPr>
          <a:lstStyle/>
          <a:p>
            <a:pPr algn="r">
              <a:spcAft>
                <a:spcPts val="500"/>
              </a:spcAft>
            </a:pPr>
            <a:r>
              <a:rPr sz="1100" b="0">
                <a:solidFill>
                  <a:srgbClr val="475569"/>
                </a:solidFill>
                <a:latin typeface="Calibri"/>
              </a:rPr>
              <a:t>3</a:t>
            </a:r>
          </a:p>
        </p:txBody>
      </p:sp>
      <p:sp>
        <p:nvSpPr>
          <p:cNvPr id="7" name="Rectangle 6"/>
          <p:cNvSpPr/>
          <p:nvPr/>
        </p:nvSpPr>
        <p:spPr>
          <a:xfrm>
            <a:off x="457200" y="1280160"/>
            <a:ext cx="3611880" cy="23317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73152" cy="2331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353312"/>
            <a:ext cx="3337560" cy="457200"/>
          </a:xfrm>
          <a:prstGeom prst="rect">
            <a:avLst/>
          </a:prstGeom>
          <a:noFill/>
        </p:spPr>
        <p:txBody>
          <a:bodyPr wrap="square" anchor="t">
            <a:spAutoFit/>
          </a:bodyPr>
          <a:lstStyle/>
          <a:p>
            <a:pPr algn="l">
              <a:spcAft>
                <a:spcPts val="500"/>
              </a:spcAft>
            </a:pPr>
            <a:r>
              <a:rPr sz="1800" b="1">
                <a:solidFill>
                  <a:srgbClr val="2563EB"/>
                </a:solidFill>
                <a:latin typeface="Calibri"/>
              </a:rPr>
              <a:t>Mixed fabrics</a:t>
            </a:r>
          </a:p>
        </p:txBody>
      </p:sp>
      <p:sp>
        <p:nvSpPr>
          <p:cNvPr id="10" name="TextBox 9"/>
          <p:cNvSpPr txBox="1"/>
          <p:nvPr/>
        </p:nvSpPr>
        <p:spPr>
          <a:xfrm>
            <a:off x="640080" y="1828800"/>
            <a:ext cx="3291840" cy="1737360"/>
          </a:xfrm>
          <a:prstGeom prst="rect">
            <a:avLst/>
          </a:prstGeom>
          <a:noFill/>
        </p:spPr>
        <p:txBody>
          <a:bodyPr wrap="square" anchor="t">
            <a:spAutoFit/>
          </a:bodyPr>
          <a:lstStyle/>
          <a:p>
            <a:pPr algn="l">
              <a:spcAft>
                <a:spcPts val="500"/>
              </a:spcAft>
            </a:pPr>
            <a:r>
              <a:rPr sz="1500" b="0">
                <a:solidFill>
                  <a:srgbClr val="475569"/>
                </a:solidFill>
                <a:latin typeface="Calibri"/>
              </a:rPr>
              <a:t>• Servers, workstations, single-board computers, phones and HPC nodes with different CPUs, GPUs, links and reliability</a:t>
            </a:r>
          </a:p>
        </p:txBody>
      </p:sp>
      <p:sp>
        <p:nvSpPr>
          <p:cNvPr id="11" name="Rectangle 10"/>
          <p:cNvSpPr/>
          <p:nvPr/>
        </p:nvSpPr>
        <p:spPr>
          <a:xfrm>
            <a:off x="4251960" y="1280160"/>
            <a:ext cx="3611880" cy="23317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1280160"/>
            <a:ext cx="73152" cy="2331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353312"/>
            <a:ext cx="3337560" cy="457200"/>
          </a:xfrm>
          <a:prstGeom prst="rect">
            <a:avLst/>
          </a:prstGeom>
          <a:noFill/>
        </p:spPr>
        <p:txBody>
          <a:bodyPr wrap="square" anchor="t">
            <a:spAutoFit/>
          </a:bodyPr>
          <a:lstStyle/>
          <a:p>
            <a:pPr algn="l">
              <a:spcAft>
                <a:spcPts val="500"/>
              </a:spcAft>
            </a:pPr>
            <a:r>
              <a:rPr sz="1800" b="1">
                <a:solidFill>
                  <a:srgbClr val="2563EB"/>
                </a:solidFill>
                <a:latin typeface="Calibri"/>
              </a:rPr>
              <a:t>Deadline pipelines</a:t>
            </a:r>
          </a:p>
        </p:txBody>
      </p:sp>
      <p:sp>
        <p:nvSpPr>
          <p:cNvPr id="14" name="TextBox 13"/>
          <p:cNvSpPr txBox="1"/>
          <p:nvPr/>
        </p:nvSpPr>
        <p:spPr>
          <a:xfrm>
            <a:off x="4434840" y="1828800"/>
            <a:ext cx="3291840" cy="1737360"/>
          </a:xfrm>
          <a:prstGeom prst="rect">
            <a:avLst/>
          </a:prstGeom>
          <a:noFill/>
        </p:spPr>
        <p:txBody>
          <a:bodyPr wrap="square" anchor="t">
            <a:spAutoFit/>
          </a:bodyPr>
          <a:lstStyle/>
          <a:p>
            <a:pPr algn="l">
              <a:spcAft>
                <a:spcPts val="500"/>
              </a:spcAft>
            </a:pPr>
            <a:r>
              <a:rPr sz="1500" b="0">
                <a:solidFill>
                  <a:srgbClr val="475569"/>
                </a:solidFill>
                <a:latin typeface="Calibri"/>
              </a:rPr>
              <a:t>• Jobs are multi-stage pipelines with SLAs; placement balances latency, energy, cost, carbon and risk</a:t>
            </a:r>
          </a:p>
        </p:txBody>
      </p:sp>
      <p:sp>
        <p:nvSpPr>
          <p:cNvPr id="15" name="Rectangle 14"/>
          <p:cNvSpPr/>
          <p:nvPr/>
        </p:nvSpPr>
        <p:spPr>
          <a:xfrm>
            <a:off x="8046720" y="1280160"/>
            <a:ext cx="3611880" cy="23317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280160"/>
            <a:ext cx="73152" cy="2331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1353312"/>
            <a:ext cx="3337560" cy="457200"/>
          </a:xfrm>
          <a:prstGeom prst="rect">
            <a:avLst/>
          </a:prstGeom>
          <a:noFill/>
        </p:spPr>
        <p:txBody>
          <a:bodyPr wrap="square" anchor="t">
            <a:spAutoFit/>
          </a:bodyPr>
          <a:lstStyle/>
          <a:p>
            <a:pPr algn="l">
              <a:spcAft>
                <a:spcPts val="500"/>
              </a:spcAft>
            </a:pPr>
            <a:r>
              <a:rPr sz="1800" b="1">
                <a:solidFill>
                  <a:srgbClr val="2563EB"/>
                </a:solidFill>
                <a:latin typeface="Calibri"/>
              </a:rPr>
              <a:t>Risk on production</a:t>
            </a:r>
          </a:p>
        </p:txBody>
      </p:sp>
      <p:sp>
        <p:nvSpPr>
          <p:cNvPr id="18" name="TextBox 17"/>
          <p:cNvSpPr txBox="1"/>
          <p:nvPr/>
        </p:nvSpPr>
        <p:spPr>
          <a:xfrm>
            <a:off x="8229600" y="1828800"/>
            <a:ext cx="3291840" cy="1737360"/>
          </a:xfrm>
          <a:prstGeom prst="rect">
            <a:avLst/>
          </a:prstGeom>
          <a:noFill/>
        </p:spPr>
        <p:txBody>
          <a:bodyPr wrap="square" anchor="t">
            <a:spAutoFit/>
          </a:bodyPr>
          <a:lstStyle/>
          <a:p>
            <a:pPr algn="l">
              <a:spcAft>
                <a:spcPts val="500"/>
              </a:spcAft>
            </a:pPr>
            <a:r>
              <a:rPr sz="1500" b="0">
                <a:solidFill>
                  <a:srgbClr val="475569"/>
                </a:solidFill>
                <a:latin typeface="Calibri"/>
              </a:rPr>
              <a:t>• Trying a new scheduler live is dangerous: link outages and thermal throttling cause real failures</a:t>
            </a:r>
          </a:p>
        </p:txBody>
      </p:sp>
      <p:sp>
        <p:nvSpPr>
          <p:cNvPr id="19" name="Rectangle 18"/>
          <p:cNvSpPr/>
          <p:nvPr/>
        </p:nvSpPr>
        <p:spPr>
          <a:xfrm>
            <a:off x="457200" y="3840479"/>
            <a:ext cx="3611880" cy="23317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840479"/>
            <a:ext cx="73152" cy="2331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913631"/>
            <a:ext cx="3337560" cy="457200"/>
          </a:xfrm>
          <a:prstGeom prst="rect">
            <a:avLst/>
          </a:prstGeom>
          <a:noFill/>
        </p:spPr>
        <p:txBody>
          <a:bodyPr wrap="square" anchor="t">
            <a:spAutoFit/>
          </a:bodyPr>
          <a:lstStyle/>
          <a:p>
            <a:pPr algn="l">
              <a:spcAft>
                <a:spcPts val="500"/>
              </a:spcAft>
            </a:pPr>
            <a:r>
              <a:rPr sz="1800" b="1">
                <a:solidFill>
                  <a:srgbClr val="2563EB"/>
                </a:solidFill>
                <a:latin typeface="Calibri"/>
              </a:rPr>
              <a:t>Digital twins</a:t>
            </a:r>
          </a:p>
        </p:txBody>
      </p:sp>
      <p:sp>
        <p:nvSpPr>
          <p:cNvPr id="22" name="TextBox 21"/>
          <p:cNvSpPr txBox="1"/>
          <p:nvPr/>
        </p:nvSpPr>
        <p:spPr>
          <a:xfrm>
            <a:off x="640080" y="4389119"/>
            <a:ext cx="3291840" cy="1737360"/>
          </a:xfrm>
          <a:prstGeom prst="rect">
            <a:avLst/>
          </a:prstGeom>
          <a:noFill/>
        </p:spPr>
        <p:txBody>
          <a:bodyPr wrap="square" anchor="t">
            <a:spAutoFit/>
          </a:bodyPr>
          <a:lstStyle/>
          <a:p>
            <a:pPr algn="l">
              <a:spcAft>
                <a:spcPts val="500"/>
              </a:spcAft>
            </a:pPr>
            <a:r>
              <a:rPr sz="1500" b="0">
                <a:solidFill>
                  <a:srgbClr val="475569"/>
                </a:solidFill>
                <a:latin typeface="Calibri"/>
              </a:rPr>
              <a:t>• A synchronized virtual copy lets policies be tried safely [1]–[3]</a:t>
            </a:r>
          </a:p>
        </p:txBody>
      </p:sp>
      <p:sp>
        <p:nvSpPr>
          <p:cNvPr id="23" name="Rectangle 22"/>
          <p:cNvSpPr/>
          <p:nvPr/>
        </p:nvSpPr>
        <p:spPr>
          <a:xfrm>
            <a:off x="4251960" y="3840479"/>
            <a:ext cx="3611880" cy="23317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51960" y="3840479"/>
            <a:ext cx="73152" cy="2331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4840" y="3913631"/>
            <a:ext cx="3337560" cy="457200"/>
          </a:xfrm>
          <a:prstGeom prst="rect">
            <a:avLst/>
          </a:prstGeom>
          <a:noFill/>
        </p:spPr>
        <p:txBody>
          <a:bodyPr wrap="square" anchor="t">
            <a:spAutoFit/>
          </a:bodyPr>
          <a:lstStyle/>
          <a:p>
            <a:pPr algn="l">
              <a:spcAft>
                <a:spcPts val="500"/>
              </a:spcAft>
            </a:pPr>
            <a:r>
              <a:rPr sz="1800" b="1">
                <a:solidFill>
                  <a:srgbClr val="2563EB"/>
                </a:solidFill>
                <a:latin typeface="Calibri"/>
              </a:rPr>
              <a:t>RAP twin</a:t>
            </a:r>
          </a:p>
        </p:txBody>
      </p:sp>
      <p:sp>
        <p:nvSpPr>
          <p:cNvPr id="26" name="TextBox 25"/>
          <p:cNvSpPr txBox="1"/>
          <p:nvPr/>
        </p:nvSpPr>
        <p:spPr>
          <a:xfrm>
            <a:off x="4434840" y="4389119"/>
            <a:ext cx="3291840" cy="1737360"/>
          </a:xfrm>
          <a:prstGeom prst="rect">
            <a:avLst/>
          </a:prstGeom>
          <a:noFill/>
        </p:spPr>
        <p:txBody>
          <a:bodyPr wrap="square" anchor="t">
            <a:spAutoFit/>
          </a:bodyPr>
          <a:lstStyle/>
          <a:p>
            <a:pPr algn="l">
              <a:spcAft>
                <a:spcPts val="500"/>
              </a:spcAft>
            </a:pPr>
            <a:r>
              <a:rPr sz="1500" b="0">
                <a:solidFill>
                  <a:srgbClr val="475569"/>
                </a:solidFill>
                <a:latin typeface="Calibri"/>
              </a:rPr>
              <a:t>• One sandbox uniting planning, fault injection, self-healing and benchmarking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nchor="ctr">
            <a:spAutoFit/>
          </a:bodyPr>
          <a:lstStyle/>
          <a:p>
            <a:pPr algn="l">
              <a:spcAft>
                <a:spcPts val="500"/>
              </a:spcAft>
            </a:pPr>
            <a:r>
              <a:rPr sz="3000" b="1">
                <a:solidFill>
                  <a:srgbClr val="FFFFFF"/>
                </a:solidFill>
                <a:latin typeface="Calibri"/>
              </a:rPr>
              <a:t>Problem Definition and Research Gap</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500"/>
              </a:spcAft>
            </a:pPr>
            <a:r>
              <a:rPr sz="1100" b="0">
                <a:solidFill>
                  <a:srgbClr val="475569"/>
                </a:solidFill>
                <a:latin typeface="Calibri"/>
              </a:rPr>
              <a:t>• RAP twin | Group 01 | Department Research Colloquium 2026</a:t>
            </a:r>
          </a:p>
        </p:txBody>
      </p:sp>
      <p:sp>
        <p:nvSpPr>
          <p:cNvPr id="6" name="TextBox 5"/>
          <p:cNvSpPr txBox="1"/>
          <p:nvPr/>
        </p:nvSpPr>
        <p:spPr>
          <a:xfrm>
            <a:off x="11155680" y="6446520"/>
            <a:ext cx="731520" cy="320040"/>
          </a:xfrm>
          <a:prstGeom prst="rect">
            <a:avLst/>
          </a:prstGeom>
          <a:noFill/>
        </p:spPr>
        <p:txBody>
          <a:bodyPr wrap="square" anchor="t">
            <a:spAutoFit/>
          </a:bodyPr>
          <a:lstStyle/>
          <a:p>
            <a:pPr algn="r">
              <a:spcAft>
                <a:spcPts val="500"/>
              </a:spcAft>
            </a:pPr>
            <a:r>
              <a:rPr sz="1100" b="0">
                <a:solidFill>
                  <a:srgbClr val="475569"/>
                </a:solidFill>
                <a:latin typeface="Calibri"/>
              </a:rPr>
              <a:t>4</a:t>
            </a:r>
          </a:p>
        </p:txBody>
      </p:sp>
      <p:sp>
        <p:nvSpPr>
          <p:cNvPr id="7" name="Rectangle 6"/>
          <p:cNvSpPr/>
          <p:nvPr/>
        </p:nvSpPr>
        <p:spPr>
          <a:xfrm>
            <a:off x="457200" y="1280160"/>
            <a:ext cx="5394960" cy="48463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73152" cy="48463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353312"/>
            <a:ext cx="5120640" cy="457200"/>
          </a:xfrm>
          <a:prstGeom prst="rect">
            <a:avLst/>
          </a:prstGeom>
          <a:noFill/>
        </p:spPr>
        <p:txBody>
          <a:bodyPr wrap="square" anchor="t">
            <a:spAutoFit/>
          </a:bodyPr>
          <a:lstStyle/>
          <a:p>
            <a:pPr algn="l">
              <a:spcAft>
                <a:spcPts val="500"/>
              </a:spcAft>
            </a:pPr>
            <a:r>
              <a:rPr sz="1800" b="1">
                <a:solidFill>
                  <a:srgbClr val="2563EB"/>
                </a:solidFill>
                <a:latin typeface="Calibri"/>
              </a:rPr>
              <a:t>Problem</a:t>
            </a:r>
          </a:p>
        </p:txBody>
      </p:sp>
      <p:sp>
        <p:nvSpPr>
          <p:cNvPr id="10" name="TextBox 9"/>
          <p:cNvSpPr txBox="1"/>
          <p:nvPr/>
        </p:nvSpPr>
        <p:spPr>
          <a:xfrm>
            <a:off x="640080" y="1828800"/>
            <a:ext cx="5074920" cy="4251959"/>
          </a:xfrm>
          <a:prstGeom prst="rect">
            <a:avLst/>
          </a:prstGeom>
          <a:noFill/>
        </p:spPr>
        <p:txBody>
          <a:bodyPr wrap="square" anchor="t">
            <a:spAutoFit/>
          </a:bodyPr>
          <a:lstStyle/>
          <a:p>
            <a:pPr algn="l">
              <a:spcAft>
                <a:spcPts val="500"/>
              </a:spcAft>
            </a:pPr>
            <a:r>
              <a:rPr sz="1700" b="0">
                <a:solidFill>
                  <a:srgbClr val="475569"/>
                </a:solidFill>
                <a:latin typeface="Calibri"/>
              </a:rPr>
              <a:t>• Choose, for every stage of a job, a node that meets resource and format limits while balancing latency, energy, cost, carbon and risk</a:t>
            </a:r>
          </a:p>
          <a:p>
            <a:pPr algn="l">
              <a:spcAft>
                <a:spcPts val="500"/>
              </a:spcAft>
            </a:pPr>
            <a:r>
              <a:rPr sz="1700" b="0">
                <a:solidFill>
                  <a:srgbClr val="475569"/>
                </a:solidFill>
                <a:latin typeface="Calibri"/>
              </a:rPr>
              <a:t>• Keep the job alive when nodes or links fail</a:t>
            </a:r>
          </a:p>
        </p:txBody>
      </p:sp>
      <p:sp>
        <p:nvSpPr>
          <p:cNvPr id="11" name="Rectangle 10"/>
          <p:cNvSpPr/>
          <p:nvPr/>
        </p:nvSpPr>
        <p:spPr>
          <a:xfrm>
            <a:off x="6126480" y="1280160"/>
            <a:ext cx="5577840" cy="48463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0" y="1280160"/>
            <a:ext cx="73152" cy="48463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1353312"/>
            <a:ext cx="5303520" cy="457200"/>
          </a:xfrm>
          <a:prstGeom prst="rect">
            <a:avLst/>
          </a:prstGeom>
          <a:noFill/>
        </p:spPr>
        <p:txBody>
          <a:bodyPr wrap="square" anchor="t">
            <a:spAutoFit/>
          </a:bodyPr>
          <a:lstStyle/>
          <a:p>
            <a:pPr algn="l">
              <a:spcAft>
                <a:spcPts val="500"/>
              </a:spcAft>
            </a:pPr>
            <a:r>
              <a:rPr sz="1800" b="1">
                <a:solidFill>
                  <a:srgbClr val="B45309"/>
                </a:solidFill>
                <a:latin typeface="Calibri"/>
              </a:rPr>
              <a:t>Research gap</a:t>
            </a:r>
          </a:p>
        </p:txBody>
      </p:sp>
      <p:sp>
        <p:nvSpPr>
          <p:cNvPr id="14" name="TextBox 13"/>
          <p:cNvSpPr txBox="1"/>
          <p:nvPr/>
        </p:nvSpPr>
        <p:spPr>
          <a:xfrm>
            <a:off x="6309360" y="1828800"/>
            <a:ext cx="5257800" cy="4251959"/>
          </a:xfrm>
          <a:prstGeom prst="rect">
            <a:avLst/>
          </a:prstGeom>
          <a:noFill/>
        </p:spPr>
        <p:txBody>
          <a:bodyPr wrap="square" anchor="t">
            <a:spAutoFit/>
          </a:bodyPr>
          <a:lstStyle/>
          <a:p>
            <a:pPr algn="l">
              <a:spcAft>
                <a:spcPts val="500"/>
              </a:spcAft>
            </a:pPr>
            <a:r>
              <a:rPr sz="1500" b="0">
                <a:solidFill>
                  <a:srgbClr val="475569"/>
                </a:solidFill>
                <a:latin typeface="Calibri"/>
              </a:rPr>
              <a:t>• Twin offloading studies focus on learning algorithms (multi-agent / federated deep RL) [4], [5], not a reusable sandbox for comparing planners</a:t>
            </a:r>
          </a:p>
          <a:p>
            <a:pPr algn="l">
              <a:spcAft>
                <a:spcPts val="500"/>
              </a:spcAft>
            </a:pPr>
            <a:r>
              <a:rPr sz="1500" b="0">
                <a:solidFill>
                  <a:srgbClr val="475569"/>
                </a:solidFill>
                <a:latin typeface="Calibri"/>
              </a:rPr>
              <a:t>• Chaos tools target software and containers, largely ignoring physical-layer faults [6], [7]</a:t>
            </a:r>
          </a:p>
          <a:p>
            <a:pPr algn="l">
              <a:spcAft>
                <a:spcPts val="500"/>
              </a:spcAft>
            </a:pPr>
            <a:r>
              <a:rPr sz="1500" b="0">
                <a:solidFill>
                  <a:srgbClr val="475569"/>
                </a:solidFill>
                <a:latin typeface="Calibri"/>
              </a:rPr>
              <a:t>• No single sandbox found combining live twin, several planners, chaos testing, cost/carbon accounting and a regression gate</a:t>
            </a:r>
          </a:p>
          <a:p>
            <a:pPr algn="l">
              <a:spcAft>
                <a:spcPts val="500"/>
              </a:spcAft>
            </a:pPr>
            <a:r>
              <a:rPr sz="1500" b="0">
                <a:solidFill>
                  <a:srgbClr val="475569"/>
                </a:solidFill>
                <a:latin typeface="Calibri"/>
              </a:rPr>
              <a:t>• Aim: report measured trade-offs and defects openly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nchor="ctr">
            <a:spAutoFit/>
          </a:bodyPr>
          <a:lstStyle/>
          <a:p>
            <a:pPr algn="l">
              <a:spcAft>
                <a:spcPts val="500"/>
              </a:spcAft>
            </a:pPr>
            <a:r>
              <a:rPr sz="3000" b="1">
                <a:solidFill>
                  <a:srgbClr val="FFFFFF"/>
                </a:solidFill>
                <a:latin typeface="Calibri"/>
              </a:rPr>
              <a:t>Objectives and Scope</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500"/>
              </a:spcAft>
            </a:pPr>
            <a:r>
              <a:rPr sz="1100" b="0">
                <a:solidFill>
                  <a:srgbClr val="475569"/>
                </a:solidFill>
                <a:latin typeface="Calibri"/>
              </a:rPr>
              <a:t>• RAP twin | Group 01 | Department Research Colloquium 2026</a:t>
            </a:r>
          </a:p>
        </p:txBody>
      </p:sp>
      <p:sp>
        <p:nvSpPr>
          <p:cNvPr id="6" name="TextBox 5"/>
          <p:cNvSpPr txBox="1"/>
          <p:nvPr/>
        </p:nvSpPr>
        <p:spPr>
          <a:xfrm>
            <a:off x="11155680" y="6446520"/>
            <a:ext cx="731520" cy="320040"/>
          </a:xfrm>
          <a:prstGeom prst="rect">
            <a:avLst/>
          </a:prstGeom>
          <a:noFill/>
        </p:spPr>
        <p:txBody>
          <a:bodyPr wrap="square" anchor="t">
            <a:spAutoFit/>
          </a:bodyPr>
          <a:lstStyle/>
          <a:p>
            <a:pPr algn="r">
              <a:spcAft>
                <a:spcPts val="500"/>
              </a:spcAft>
            </a:pPr>
            <a:r>
              <a:rPr sz="1100" b="0">
                <a:solidFill>
                  <a:srgbClr val="475569"/>
                </a:solidFill>
                <a:latin typeface="Calibri"/>
              </a:rPr>
              <a:t>5</a:t>
            </a:r>
          </a:p>
        </p:txBody>
      </p:sp>
      <p:sp>
        <p:nvSpPr>
          <p:cNvPr id="7" name="Rectangle 6"/>
          <p:cNvSpPr/>
          <p:nvPr/>
        </p:nvSpPr>
        <p:spPr>
          <a:xfrm>
            <a:off x="457200" y="1280160"/>
            <a:ext cx="6949440" cy="48463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73152" cy="48463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353312"/>
            <a:ext cx="6675120" cy="457200"/>
          </a:xfrm>
          <a:prstGeom prst="rect">
            <a:avLst/>
          </a:prstGeom>
          <a:noFill/>
        </p:spPr>
        <p:txBody>
          <a:bodyPr wrap="square" anchor="t">
            <a:spAutoFit/>
          </a:bodyPr>
          <a:lstStyle/>
          <a:p>
            <a:pPr algn="l">
              <a:spcAft>
                <a:spcPts val="500"/>
              </a:spcAft>
            </a:pPr>
            <a:r>
              <a:rPr sz="1800" b="1">
                <a:solidFill>
                  <a:srgbClr val="2563EB"/>
                </a:solidFill>
                <a:latin typeface="Calibri"/>
              </a:rPr>
              <a:t>Objectives</a:t>
            </a:r>
          </a:p>
        </p:txBody>
      </p:sp>
      <p:sp>
        <p:nvSpPr>
          <p:cNvPr id="10" name="TextBox 9"/>
          <p:cNvSpPr txBox="1"/>
          <p:nvPr/>
        </p:nvSpPr>
        <p:spPr>
          <a:xfrm>
            <a:off x="640080" y="1828800"/>
            <a:ext cx="6629400" cy="4251959"/>
          </a:xfrm>
          <a:prstGeom prst="rect">
            <a:avLst/>
          </a:prstGeom>
          <a:noFill/>
        </p:spPr>
        <p:txBody>
          <a:bodyPr wrap="square" anchor="t">
            <a:spAutoFit/>
          </a:bodyPr>
          <a:lstStyle/>
          <a:p>
            <a:pPr algn="l">
              <a:spcAft>
                <a:spcPts val="500"/>
              </a:spcAft>
            </a:pPr>
            <a:r>
              <a:rPr sz="1500" b="0">
                <a:solidFill>
                  <a:srgbClr val="475569"/>
                </a:solidFill>
                <a:latin typeface="Calibri"/>
              </a:rPr>
              <a:t>1. Multi-strategy planning: Greedy, Cheapest-Energy, Cheapest-Cost, Greenest, Bandit, Resilient, RL-Markov</a:t>
            </a:r>
          </a:p>
          <a:p>
            <a:pPr algn="l">
              <a:spcAft>
                <a:spcPts val="500"/>
              </a:spcAft>
            </a:pPr>
            <a:r>
              <a:rPr sz="1500" b="0">
                <a:solidFill>
                  <a:srgbClr val="475569"/>
                </a:solidFill>
                <a:latin typeface="Calibri"/>
              </a:rPr>
              <a:t>2. Real-time state sync: YAML + live telemetry (REST / MQTT)</a:t>
            </a:r>
          </a:p>
          <a:p>
            <a:pPr algn="l">
              <a:spcAft>
                <a:spcPts val="500"/>
              </a:spcAft>
            </a:pPr>
            <a:r>
              <a:rPr sz="1500" b="0">
                <a:solidFill>
                  <a:srgbClr val="475569"/>
                </a:solidFill>
                <a:latin typeface="Calibri"/>
              </a:rPr>
              <a:t>3. Predictive analytics and self-healing</a:t>
            </a:r>
          </a:p>
          <a:p>
            <a:pPr algn="l">
              <a:spcAft>
                <a:spcPts val="500"/>
              </a:spcAft>
            </a:pPr>
            <a:r>
              <a:rPr sz="1500" b="0">
                <a:solidFill>
                  <a:srgbClr val="475569"/>
                </a:solidFill>
                <a:latin typeface="Calibri"/>
              </a:rPr>
              <a:t>4. Deterministic chaos engineering and a chaos-as-CI gate</a:t>
            </a:r>
          </a:p>
          <a:p>
            <a:pPr algn="l">
              <a:spcAft>
                <a:spcPts val="500"/>
              </a:spcAft>
            </a:pPr>
            <a:r>
              <a:rPr sz="1500" b="0">
                <a:solidFill>
                  <a:srgbClr val="475569"/>
                </a:solidFill>
                <a:latin typeface="Calibri"/>
              </a:rPr>
              <a:t>5. Large-scale Monte-Carlo benchmarking</a:t>
            </a:r>
          </a:p>
          <a:p>
            <a:pPr algn="l">
              <a:spcAft>
                <a:spcPts val="500"/>
              </a:spcAft>
            </a:pPr>
            <a:r>
              <a:rPr sz="1500" b="0">
                <a:solidFill>
                  <a:srgbClr val="475569"/>
                </a:solidFill>
                <a:latin typeface="Calibri"/>
              </a:rPr>
              <a:t>6. What-if capacity and blast-radius analysis</a:t>
            </a:r>
          </a:p>
          <a:p>
            <a:pPr algn="l">
              <a:spcAft>
                <a:spcPts val="500"/>
              </a:spcAft>
            </a:pPr>
            <a:r>
              <a:rPr sz="1500" b="0">
                <a:solidFill>
                  <a:srgbClr val="475569"/>
                </a:solidFill>
                <a:latin typeface="Calibri"/>
              </a:rPr>
              <a:t>7. Interoperability: Kubernetes import, Azure DTDL / CRD export</a:t>
            </a:r>
          </a:p>
        </p:txBody>
      </p:sp>
      <p:sp>
        <p:nvSpPr>
          <p:cNvPr id="11" name="Rectangle 10"/>
          <p:cNvSpPr/>
          <p:nvPr/>
        </p:nvSpPr>
        <p:spPr>
          <a:xfrm>
            <a:off x="7680960" y="1280160"/>
            <a:ext cx="4023360" cy="2286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1280160"/>
            <a:ext cx="73152" cy="228600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1353312"/>
            <a:ext cx="3749040" cy="457200"/>
          </a:xfrm>
          <a:prstGeom prst="rect">
            <a:avLst/>
          </a:prstGeom>
          <a:noFill/>
        </p:spPr>
        <p:txBody>
          <a:bodyPr wrap="square" anchor="t">
            <a:spAutoFit/>
          </a:bodyPr>
          <a:lstStyle/>
          <a:p>
            <a:pPr algn="l">
              <a:spcAft>
                <a:spcPts val="500"/>
              </a:spcAft>
            </a:pPr>
            <a:r>
              <a:rPr sz="1800" b="1">
                <a:solidFill>
                  <a:srgbClr val="15803D"/>
                </a:solidFill>
                <a:latin typeface="Calibri"/>
              </a:rPr>
              <a:t>In scope</a:t>
            </a:r>
          </a:p>
        </p:txBody>
      </p:sp>
      <p:sp>
        <p:nvSpPr>
          <p:cNvPr id="14" name="TextBox 13"/>
          <p:cNvSpPr txBox="1"/>
          <p:nvPr/>
        </p:nvSpPr>
        <p:spPr>
          <a:xfrm>
            <a:off x="7863840" y="1828800"/>
            <a:ext cx="3703320" cy="1691640"/>
          </a:xfrm>
          <a:prstGeom prst="rect">
            <a:avLst/>
          </a:prstGeom>
          <a:noFill/>
        </p:spPr>
        <p:txBody>
          <a:bodyPr wrap="square" anchor="t">
            <a:spAutoFit/>
          </a:bodyPr>
          <a:lstStyle/>
          <a:p>
            <a:pPr algn="l">
              <a:spcAft>
                <a:spcPts val="500"/>
              </a:spcAft>
            </a:pPr>
            <a:r>
              <a:rPr sz="1500" b="0">
                <a:solidFill>
                  <a:srgbClr val="475569"/>
                </a:solidFill>
                <a:latin typeface="Calibri"/>
              </a:rPr>
              <a:t>• Simulated policy evaluation</a:t>
            </a:r>
          </a:p>
          <a:p>
            <a:pPr algn="l">
              <a:spcAft>
                <a:spcPts val="500"/>
              </a:spcAft>
            </a:pPr>
            <a:r>
              <a:rPr sz="1500" b="0">
                <a:solidFill>
                  <a:srgbClr val="475569"/>
                </a:solidFill>
                <a:latin typeface="Calibri"/>
              </a:rPr>
              <a:t>• Dashboard, REST API, benchmarks</a:t>
            </a:r>
          </a:p>
        </p:txBody>
      </p:sp>
      <p:sp>
        <p:nvSpPr>
          <p:cNvPr id="15" name="Rectangle 14"/>
          <p:cNvSpPr/>
          <p:nvPr/>
        </p:nvSpPr>
        <p:spPr>
          <a:xfrm>
            <a:off x="7680960" y="3794760"/>
            <a:ext cx="4023360" cy="23317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80960" y="3794760"/>
            <a:ext cx="73152" cy="2331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3867912"/>
            <a:ext cx="3749040" cy="457200"/>
          </a:xfrm>
          <a:prstGeom prst="rect">
            <a:avLst/>
          </a:prstGeom>
          <a:noFill/>
        </p:spPr>
        <p:txBody>
          <a:bodyPr wrap="square" anchor="t">
            <a:spAutoFit/>
          </a:bodyPr>
          <a:lstStyle/>
          <a:p>
            <a:pPr algn="l">
              <a:spcAft>
                <a:spcPts val="500"/>
              </a:spcAft>
            </a:pPr>
            <a:r>
              <a:rPr sz="1800" b="1">
                <a:solidFill>
                  <a:srgbClr val="B45309"/>
                </a:solidFill>
                <a:latin typeface="Calibri"/>
              </a:rPr>
              <a:t>Out of scope</a:t>
            </a:r>
          </a:p>
        </p:txBody>
      </p:sp>
      <p:sp>
        <p:nvSpPr>
          <p:cNvPr id="18" name="TextBox 17"/>
          <p:cNvSpPr txBox="1"/>
          <p:nvPr/>
        </p:nvSpPr>
        <p:spPr>
          <a:xfrm>
            <a:off x="7863840" y="4343400"/>
            <a:ext cx="3703320" cy="1737360"/>
          </a:xfrm>
          <a:prstGeom prst="rect">
            <a:avLst/>
          </a:prstGeom>
          <a:noFill/>
        </p:spPr>
        <p:txBody>
          <a:bodyPr wrap="square" anchor="t">
            <a:spAutoFit/>
          </a:bodyPr>
          <a:lstStyle/>
          <a:p>
            <a:pPr algn="l">
              <a:spcAft>
                <a:spcPts val="500"/>
              </a:spcAft>
            </a:pPr>
            <a:r>
              <a:rPr sz="1500" b="0">
                <a:solidFill>
                  <a:srgbClr val="475569"/>
                </a:solidFill>
                <a:latin typeface="Calibri"/>
              </a:rPr>
              <a:t>• Running real workloads</a:t>
            </a:r>
          </a:p>
          <a:p>
            <a:pPr algn="l">
              <a:spcAft>
                <a:spcPts val="500"/>
              </a:spcAft>
            </a:pPr>
            <a:r>
              <a:rPr sz="1500" b="0">
                <a:solidFill>
                  <a:srgbClr val="475569"/>
                </a:solidFill>
                <a:latin typeface="Calibri"/>
              </a:rPr>
              <a:t>• Production scheduler</a:t>
            </a:r>
          </a:p>
          <a:p>
            <a:pPr algn="l">
              <a:spcAft>
                <a:spcPts val="500"/>
              </a:spcAft>
            </a:pPr>
            <a:r>
              <a:rPr sz="1500" b="0">
                <a:solidFill>
                  <a:srgbClr val="475569"/>
                </a:solidFill>
                <a:latin typeface="Calibri"/>
              </a:rPr>
              <a:t>• Training deep RL agents</a:t>
            </a:r>
          </a:p>
          <a:p>
            <a:pPr algn="l">
              <a:spcAft>
                <a:spcPts val="500"/>
              </a:spcAft>
            </a:pPr>
            <a:r>
              <a:rPr sz="1500" b="0">
                <a:solidFill>
                  <a:srgbClr val="475569"/>
                </a:solidFill>
                <a:latin typeface="Calibri"/>
              </a:rPr>
              <a:t>• Live 5G/6G test-bed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nchor="ctr">
            <a:spAutoFit/>
          </a:bodyPr>
          <a:lstStyle/>
          <a:p>
            <a:pPr algn="l">
              <a:spcAft>
                <a:spcPts val="500"/>
              </a:spcAft>
            </a:pPr>
            <a:r>
              <a:rPr sz="3000" b="1">
                <a:solidFill>
                  <a:srgbClr val="FFFFFF"/>
                </a:solidFill>
                <a:latin typeface="Calibri"/>
              </a:rPr>
              <a:t>System Architecture</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500"/>
              </a:spcAft>
            </a:pPr>
            <a:r>
              <a:rPr sz="1100" b="0">
                <a:solidFill>
                  <a:srgbClr val="475569"/>
                </a:solidFill>
                <a:latin typeface="Calibri"/>
              </a:rPr>
              <a:t>• RAP twin | Group 01 | Department Research Colloquium 2026</a:t>
            </a:r>
          </a:p>
        </p:txBody>
      </p:sp>
      <p:sp>
        <p:nvSpPr>
          <p:cNvPr id="6" name="TextBox 5"/>
          <p:cNvSpPr txBox="1"/>
          <p:nvPr/>
        </p:nvSpPr>
        <p:spPr>
          <a:xfrm>
            <a:off x="11155680" y="6446520"/>
            <a:ext cx="731520" cy="320040"/>
          </a:xfrm>
          <a:prstGeom prst="rect">
            <a:avLst/>
          </a:prstGeom>
          <a:noFill/>
        </p:spPr>
        <p:txBody>
          <a:bodyPr wrap="square" anchor="t">
            <a:spAutoFit/>
          </a:bodyPr>
          <a:lstStyle/>
          <a:p>
            <a:pPr algn="r">
              <a:spcAft>
                <a:spcPts val="500"/>
              </a:spcAft>
            </a:pPr>
            <a:r>
              <a:rPr sz="1100" b="0">
                <a:solidFill>
                  <a:srgbClr val="475569"/>
                </a:solidFill>
                <a:latin typeface="Calibri"/>
              </a:rPr>
              <a:t>6</a:t>
            </a:r>
          </a:p>
        </p:txBody>
      </p:sp>
      <p:sp>
        <p:nvSpPr>
          <p:cNvPr id="7" name="Rectangle 6"/>
          <p:cNvSpPr/>
          <p:nvPr/>
        </p:nvSpPr>
        <p:spPr>
          <a:xfrm>
            <a:off x="420624" y="1152144"/>
            <a:ext cx="6719382" cy="5102352"/>
          </a:xfrm>
          <a:prstGeom prst="rect">
            <a:avLst/>
          </a:prstGeom>
          <a:solidFill>
            <a:srgbClr val="FFFFFF"/>
          </a:solidFill>
          <a:ln>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rchitecture_current.png"/>
          <p:cNvPicPr>
            <a:picLocks noChangeAspect="1"/>
          </p:cNvPicPr>
          <p:nvPr/>
        </p:nvPicPr>
        <p:blipFill>
          <a:blip r:embed="rId2"/>
          <a:stretch>
            <a:fillRect/>
          </a:stretch>
        </p:blipFill>
        <p:spPr>
          <a:xfrm>
            <a:off x="457200" y="1188720"/>
            <a:ext cx="6646230" cy="5029200"/>
          </a:xfrm>
          <a:prstGeom prst="rect">
            <a:avLst/>
          </a:prstGeom>
        </p:spPr>
      </p:pic>
      <p:sp>
        <p:nvSpPr>
          <p:cNvPr id="9" name="TextBox 8"/>
          <p:cNvSpPr txBox="1"/>
          <p:nvPr/>
        </p:nvSpPr>
        <p:spPr>
          <a:xfrm>
            <a:off x="274320" y="6281928"/>
            <a:ext cx="7011990" cy="320040"/>
          </a:xfrm>
          <a:prstGeom prst="rect">
            <a:avLst/>
          </a:prstGeom>
          <a:noFill/>
        </p:spPr>
        <p:txBody>
          <a:bodyPr wrap="square" anchor="t">
            <a:spAutoFit/>
          </a:bodyPr>
          <a:lstStyle/>
          <a:p>
            <a:pPr algn="ctr">
              <a:spcAft>
                <a:spcPts val="500"/>
              </a:spcAft>
            </a:pPr>
            <a:r>
              <a:rPr sz="1100" b="0">
                <a:solidFill>
                  <a:srgbClr val="475569"/>
                </a:solidFill>
                <a:latin typeface="Calibri"/>
              </a:rPr>
              <a:t>RAP twin layered architecture</a:t>
            </a:r>
          </a:p>
        </p:txBody>
      </p:sp>
      <p:sp>
        <p:nvSpPr>
          <p:cNvPr id="10" name="Rectangle 9"/>
          <p:cNvSpPr/>
          <p:nvPr/>
        </p:nvSpPr>
        <p:spPr>
          <a:xfrm>
            <a:off x="8138160" y="1188720"/>
            <a:ext cx="3611880" cy="50292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38160" y="1188720"/>
            <a:ext cx="73152" cy="50292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261872"/>
            <a:ext cx="3337560" cy="457200"/>
          </a:xfrm>
          <a:prstGeom prst="rect">
            <a:avLst/>
          </a:prstGeom>
          <a:noFill/>
        </p:spPr>
        <p:txBody>
          <a:bodyPr wrap="square" anchor="t">
            <a:spAutoFit/>
          </a:bodyPr>
          <a:lstStyle/>
          <a:p>
            <a:pPr algn="l">
              <a:spcAft>
                <a:spcPts val="500"/>
              </a:spcAft>
            </a:pPr>
            <a:r>
              <a:rPr sz="1800" b="1">
                <a:solidFill>
                  <a:srgbClr val="2563EB"/>
                </a:solidFill>
                <a:latin typeface="Calibri"/>
              </a:rPr>
              <a:t>Layers</a:t>
            </a:r>
          </a:p>
        </p:txBody>
      </p:sp>
      <p:sp>
        <p:nvSpPr>
          <p:cNvPr id="13" name="TextBox 12"/>
          <p:cNvSpPr txBox="1"/>
          <p:nvPr/>
        </p:nvSpPr>
        <p:spPr>
          <a:xfrm>
            <a:off x="8321040" y="1737360"/>
            <a:ext cx="3291840" cy="4434840"/>
          </a:xfrm>
          <a:prstGeom prst="rect">
            <a:avLst/>
          </a:prstGeom>
          <a:noFill/>
        </p:spPr>
        <p:txBody>
          <a:bodyPr wrap="square" anchor="t">
            <a:spAutoFit/>
          </a:bodyPr>
          <a:lstStyle/>
          <a:p>
            <a:pPr algn="l">
              <a:spcAft>
                <a:spcPts val="500"/>
              </a:spcAft>
            </a:pPr>
            <a:r>
              <a:rPr sz="1300" b="0">
                <a:solidFill>
                  <a:srgbClr val="475569"/>
                </a:solidFill>
                <a:latin typeface="Calibri"/>
              </a:rPr>
              <a:t>• Presentation: REST/SSE API, React dashboard</a:t>
            </a:r>
          </a:p>
          <a:p>
            <a:pPr algn="l">
              <a:spcAft>
                <a:spcPts val="500"/>
              </a:spcAft>
            </a:pPr>
            <a:r>
              <a:rPr sz="1300" b="0">
                <a:solidFill>
                  <a:srgbClr val="475569"/>
                </a:solidFill>
                <a:latin typeface="Calibri"/>
              </a:rPr>
              <a:t>• Orchestration: planner factory, chaos runner, self-heal, guardian</a:t>
            </a:r>
          </a:p>
          <a:p>
            <a:pPr algn="l">
              <a:spcAft>
                <a:spcPts val="500"/>
              </a:spcAft>
            </a:pPr>
            <a:r>
              <a:rPr sz="1300" b="0">
                <a:solidFill>
                  <a:srgbClr val="475569"/>
                </a:solidFill>
                <a:latin typeface="Calibri"/>
              </a:rPr>
              <a:t>• Decision: planners, cost model, economics, predictor</a:t>
            </a:r>
          </a:p>
          <a:p>
            <a:pPr algn="l">
              <a:spcAft>
                <a:spcPts val="500"/>
              </a:spcAft>
            </a:pPr>
            <a:r>
              <a:rPr sz="1300" b="0">
                <a:solidFill>
                  <a:srgbClr val="475569"/>
                </a:solidFill>
                <a:latin typeface="Calibri"/>
              </a:rPr>
              <a:t>• State: DTState, event bus, validators</a:t>
            </a:r>
          </a:p>
          <a:p>
            <a:pPr algn="l">
              <a:spcAft>
                <a:spcPts val="500"/>
              </a:spcAft>
            </a:pPr>
            <a:r>
              <a:rPr sz="1300" b="0">
                <a:solidFill>
                  <a:srgbClr val="475569"/>
                </a:solidFill>
                <a:latin typeface="Calibri"/>
              </a:rPr>
              <a:t>• Data: YAML descriptors, topology, overrides, jobs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nchor="ctr">
            <a:spAutoFit/>
          </a:bodyPr>
          <a:lstStyle/>
          <a:p>
            <a:pPr algn="l">
              <a:spcAft>
                <a:spcPts val="500"/>
              </a:spcAft>
            </a:pPr>
            <a:r>
              <a:rPr sz="3000" b="1">
                <a:solidFill>
                  <a:srgbClr val="FFFFFF"/>
                </a:solidFill>
                <a:latin typeface="Calibri"/>
              </a:rPr>
              <a:t>Proposed Methodology</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500"/>
              </a:spcAft>
            </a:pPr>
            <a:r>
              <a:rPr sz="1100" b="0">
                <a:solidFill>
                  <a:srgbClr val="475569"/>
                </a:solidFill>
                <a:latin typeface="Calibri"/>
              </a:rPr>
              <a:t>• RAP twin | Group 01 | Department Research Colloquium 2026</a:t>
            </a:r>
          </a:p>
        </p:txBody>
      </p:sp>
      <p:sp>
        <p:nvSpPr>
          <p:cNvPr id="6" name="TextBox 5"/>
          <p:cNvSpPr txBox="1"/>
          <p:nvPr/>
        </p:nvSpPr>
        <p:spPr>
          <a:xfrm>
            <a:off x="11155680" y="6446520"/>
            <a:ext cx="731520" cy="320040"/>
          </a:xfrm>
          <a:prstGeom prst="rect">
            <a:avLst/>
          </a:prstGeom>
          <a:noFill/>
        </p:spPr>
        <p:txBody>
          <a:bodyPr wrap="square" anchor="t">
            <a:spAutoFit/>
          </a:bodyPr>
          <a:lstStyle/>
          <a:p>
            <a:pPr algn="r">
              <a:spcAft>
                <a:spcPts val="500"/>
              </a:spcAft>
            </a:pPr>
            <a:r>
              <a:rPr sz="1100" b="0">
                <a:solidFill>
                  <a:srgbClr val="475569"/>
                </a:solidFill>
                <a:latin typeface="Calibri"/>
              </a:rPr>
              <a:t>7</a:t>
            </a:r>
          </a:p>
        </p:txBody>
      </p:sp>
      <p:sp>
        <p:nvSpPr>
          <p:cNvPr id="7" name="Chevron 6"/>
          <p:cNvSpPr/>
          <p:nvPr/>
        </p:nvSpPr>
        <p:spPr>
          <a:xfrm>
            <a:off x="457200" y="1234440"/>
            <a:ext cx="1920240" cy="731520"/>
          </a:xfrm>
          <a:prstGeom prst="chevron">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Ingest state</a:t>
            </a:r>
          </a:p>
        </p:txBody>
      </p:sp>
      <p:sp>
        <p:nvSpPr>
          <p:cNvPr id="8" name="Chevron 7"/>
          <p:cNvSpPr/>
          <p:nvPr/>
        </p:nvSpPr>
        <p:spPr>
          <a:xfrm>
            <a:off x="2359152" y="1234440"/>
            <a:ext cx="1920240" cy="731520"/>
          </a:xfrm>
          <a:prstGeom prst="chevron">
            <a:avLst/>
          </a:prstGeom>
          <a:solidFill>
            <a:srgbClr val="14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Predict</a:t>
            </a:r>
          </a:p>
        </p:txBody>
      </p:sp>
      <p:sp>
        <p:nvSpPr>
          <p:cNvPr id="9" name="Chevron 8"/>
          <p:cNvSpPr/>
          <p:nvPr/>
        </p:nvSpPr>
        <p:spPr>
          <a:xfrm>
            <a:off x="4261104" y="1234440"/>
            <a:ext cx="1920240" cy="731520"/>
          </a:xfrm>
          <a:prstGeom prst="chevron">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Plan</a:t>
            </a:r>
          </a:p>
        </p:txBody>
      </p:sp>
      <p:sp>
        <p:nvSpPr>
          <p:cNvPr id="10" name="Chevron 9"/>
          <p:cNvSpPr/>
          <p:nvPr/>
        </p:nvSpPr>
        <p:spPr>
          <a:xfrm>
            <a:off x="6163056" y="1234440"/>
            <a:ext cx="1920240" cy="731520"/>
          </a:xfrm>
          <a:prstGeom prst="chevron">
            <a:avLst/>
          </a:prstGeom>
          <a:solidFill>
            <a:srgbClr val="14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Inject faults</a:t>
            </a:r>
          </a:p>
        </p:txBody>
      </p:sp>
      <p:sp>
        <p:nvSpPr>
          <p:cNvPr id="11" name="Chevron 10"/>
          <p:cNvSpPr/>
          <p:nvPr/>
        </p:nvSpPr>
        <p:spPr>
          <a:xfrm>
            <a:off x="8065008" y="1234440"/>
            <a:ext cx="1920240" cy="731520"/>
          </a:xfrm>
          <a:prstGeom prst="chevron">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Self-heal</a:t>
            </a:r>
          </a:p>
        </p:txBody>
      </p:sp>
      <p:sp>
        <p:nvSpPr>
          <p:cNvPr id="12" name="Chevron 11"/>
          <p:cNvSpPr/>
          <p:nvPr/>
        </p:nvSpPr>
        <p:spPr>
          <a:xfrm>
            <a:off x="9966960" y="1234440"/>
            <a:ext cx="1920240" cy="731520"/>
          </a:xfrm>
          <a:prstGeom prst="chevron">
            <a:avLst/>
          </a:prstGeom>
          <a:solidFill>
            <a:srgbClr val="142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rPr>
              <a:t>Benchmark</a:t>
            </a:r>
          </a:p>
        </p:txBody>
      </p:sp>
      <p:sp>
        <p:nvSpPr>
          <p:cNvPr id="13" name="Rectangle 12"/>
          <p:cNvSpPr/>
          <p:nvPr/>
        </p:nvSpPr>
        <p:spPr>
          <a:xfrm>
            <a:off x="457200" y="2240280"/>
            <a:ext cx="5577840" cy="1920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240280"/>
            <a:ext cx="73152" cy="192024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313432"/>
            <a:ext cx="5303520" cy="457200"/>
          </a:xfrm>
          <a:prstGeom prst="rect">
            <a:avLst/>
          </a:prstGeom>
          <a:noFill/>
        </p:spPr>
        <p:txBody>
          <a:bodyPr wrap="square" anchor="t">
            <a:spAutoFit/>
          </a:bodyPr>
          <a:lstStyle/>
          <a:p>
            <a:pPr algn="l">
              <a:spcAft>
                <a:spcPts val="500"/>
              </a:spcAft>
            </a:pPr>
            <a:r>
              <a:rPr sz="1800" b="1">
                <a:solidFill>
                  <a:srgbClr val="2563EB"/>
                </a:solidFill>
                <a:latin typeface="Calibri"/>
              </a:rPr>
              <a:t>State and prediction</a:t>
            </a:r>
          </a:p>
        </p:txBody>
      </p:sp>
      <p:sp>
        <p:nvSpPr>
          <p:cNvPr id="16" name="TextBox 15"/>
          <p:cNvSpPr txBox="1"/>
          <p:nvPr/>
        </p:nvSpPr>
        <p:spPr>
          <a:xfrm>
            <a:off x="640080" y="2788920"/>
            <a:ext cx="5257800" cy="1325880"/>
          </a:xfrm>
          <a:prstGeom prst="rect">
            <a:avLst/>
          </a:prstGeom>
          <a:noFill/>
        </p:spPr>
        <p:txBody>
          <a:bodyPr wrap="square" anchor="t">
            <a:spAutoFit/>
          </a:bodyPr>
          <a:lstStyle/>
          <a:p>
            <a:pPr algn="l">
              <a:spcAft>
                <a:spcPts val="500"/>
              </a:spcAft>
            </a:pPr>
            <a:r>
              <a:rPr sz="1400" b="0">
                <a:solidFill>
                  <a:srgbClr val="475569"/>
                </a:solidFill>
                <a:latin typeface="Calibri"/>
              </a:rPr>
              <a:t>• DTState merges YAML + telemetry; hot reload ≈ 0.5 s</a:t>
            </a:r>
          </a:p>
          <a:p>
            <a:pPr algn="l">
              <a:spcAft>
                <a:spcPts val="500"/>
              </a:spcAft>
            </a:pPr>
            <a:r>
              <a:rPr sz="1400" b="0">
                <a:solidFill>
                  <a:srgbClr val="475569"/>
                </a:solidFill>
                <a:latin typeface="Calibri"/>
              </a:rPr>
              <a:t>• Predictor: utilization, thermal derating, link loss</a:t>
            </a:r>
          </a:p>
        </p:txBody>
      </p:sp>
      <p:sp>
        <p:nvSpPr>
          <p:cNvPr id="17" name="Rectangle 16"/>
          <p:cNvSpPr/>
          <p:nvPr/>
        </p:nvSpPr>
        <p:spPr>
          <a:xfrm>
            <a:off x="6217920" y="2240280"/>
            <a:ext cx="5486400" cy="1920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2240280"/>
            <a:ext cx="73152" cy="192024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2313432"/>
            <a:ext cx="5212080" cy="457200"/>
          </a:xfrm>
          <a:prstGeom prst="rect">
            <a:avLst/>
          </a:prstGeom>
          <a:noFill/>
        </p:spPr>
        <p:txBody>
          <a:bodyPr wrap="square" anchor="t">
            <a:spAutoFit/>
          </a:bodyPr>
          <a:lstStyle/>
          <a:p>
            <a:pPr algn="l">
              <a:spcAft>
                <a:spcPts val="500"/>
              </a:spcAft>
            </a:pPr>
            <a:r>
              <a:rPr sz="1800" b="1">
                <a:solidFill>
                  <a:srgbClr val="15803D"/>
                </a:solidFill>
                <a:latin typeface="Calibri"/>
              </a:rPr>
              <a:t>Planning engine</a:t>
            </a:r>
          </a:p>
        </p:txBody>
      </p:sp>
      <p:sp>
        <p:nvSpPr>
          <p:cNvPr id="20" name="TextBox 19"/>
          <p:cNvSpPr txBox="1"/>
          <p:nvPr/>
        </p:nvSpPr>
        <p:spPr>
          <a:xfrm>
            <a:off x="6400800" y="2788920"/>
            <a:ext cx="5166360" cy="1325880"/>
          </a:xfrm>
          <a:prstGeom prst="rect">
            <a:avLst/>
          </a:prstGeom>
          <a:noFill/>
        </p:spPr>
        <p:txBody>
          <a:bodyPr wrap="square" anchor="t">
            <a:spAutoFit/>
          </a:bodyPr>
          <a:lstStyle/>
          <a:p>
            <a:pPr algn="l">
              <a:spcAft>
                <a:spcPts val="500"/>
              </a:spcAft>
            </a:pPr>
            <a:r>
              <a:rPr sz="1400" b="0">
                <a:solidFill>
                  <a:srgbClr val="475569"/>
                </a:solidFill>
                <a:latin typeface="Calibri"/>
              </a:rPr>
              <a:t>• Pluggable DAG planners; dry-run and commit modes</a:t>
            </a:r>
          </a:p>
          <a:p>
            <a:pPr algn="l">
              <a:spcAft>
                <a:spcPts val="500"/>
              </a:spcAft>
            </a:pPr>
            <a:r>
              <a:rPr sz="1400" b="0">
                <a:solidFill>
                  <a:srgbClr val="475569"/>
                </a:solidFill>
                <a:latin typeface="Calibri"/>
              </a:rPr>
              <a:t>• Greedy family, Bandit, Resilient (fallbacks, spread)</a:t>
            </a:r>
          </a:p>
          <a:p>
            <a:pPr algn="l">
              <a:spcAft>
                <a:spcPts val="500"/>
              </a:spcAft>
            </a:pPr>
            <a:r>
              <a:rPr sz="1400" b="0">
                <a:solidFill>
                  <a:srgbClr val="475569"/>
                </a:solidFill>
                <a:latin typeface="Calibri"/>
              </a:rPr>
              <a:t>• RL-Markov: Tchebycheff over nine cost terms</a:t>
            </a:r>
          </a:p>
        </p:txBody>
      </p:sp>
      <p:sp>
        <p:nvSpPr>
          <p:cNvPr id="21" name="Rectangle 20"/>
          <p:cNvSpPr/>
          <p:nvPr/>
        </p:nvSpPr>
        <p:spPr>
          <a:xfrm>
            <a:off x="457200" y="4297680"/>
            <a:ext cx="5577840" cy="1920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297680"/>
            <a:ext cx="73152" cy="19202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370832"/>
            <a:ext cx="5303520" cy="457200"/>
          </a:xfrm>
          <a:prstGeom prst="rect">
            <a:avLst/>
          </a:prstGeom>
          <a:noFill/>
        </p:spPr>
        <p:txBody>
          <a:bodyPr wrap="square" anchor="t">
            <a:spAutoFit/>
          </a:bodyPr>
          <a:lstStyle/>
          <a:p>
            <a:pPr algn="l">
              <a:spcAft>
                <a:spcPts val="500"/>
              </a:spcAft>
            </a:pPr>
            <a:r>
              <a:rPr sz="1800" b="1">
                <a:solidFill>
                  <a:srgbClr val="B45309"/>
                </a:solidFill>
                <a:latin typeface="Calibri"/>
              </a:rPr>
              <a:t>Chaos and healing</a:t>
            </a:r>
          </a:p>
        </p:txBody>
      </p:sp>
      <p:sp>
        <p:nvSpPr>
          <p:cNvPr id="24" name="TextBox 23"/>
          <p:cNvSpPr txBox="1"/>
          <p:nvPr/>
        </p:nvSpPr>
        <p:spPr>
          <a:xfrm>
            <a:off x="640080" y="4846320"/>
            <a:ext cx="5257800" cy="1325880"/>
          </a:xfrm>
          <a:prstGeom prst="rect">
            <a:avLst/>
          </a:prstGeom>
          <a:noFill/>
        </p:spPr>
        <p:txBody>
          <a:bodyPr wrap="square" anchor="t">
            <a:spAutoFit/>
          </a:bodyPr>
          <a:lstStyle/>
          <a:p>
            <a:pPr algn="l">
              <a:spcAft>
                <a:spcPts val="500"/>
              </a:spcAft>
            </a:pPr>
            <a:r>
              <a:rPr sz="1400" b="0">
                <a:solidFill>
                  <a:srgbClr val="475569"/>
                </a:solidFill>
                <a:latin typeface="Calibri"/>
              </a:rPr>
              <a:t>14 fault kinds: link cut, noise, thermal derate, zone blackout</a:t>
            </a:r>
          </a:p>
          <a:p>
            <a:pPr algn="l">
              <a:spcAft>
                <a:spcPts val="500"/>
              </a:spcAft>
            </a:pPr>
            <a:r>
              <a:rPr sz="1400" b="0">
                <a:solidFill>
                  <a:srgbClr val="475569"/>
                </a:solidFill>
                <a:latin typeface="Calibri"/>
              </a:rPr>
              <a:t>• SelfHealingController and ResourceGuardian</a:t>
            </a:r>
          </a:p>
        </p:txBody>
      </p:sp>
      <p:sp>
        <p:nvSpPr>
          <p:cNvPr id="25" name="Rectangle 24"/>
          <p:cNvSpPr/>
          <p:nvPr/>
        </p:nvSpPr>
        <p:spPr>
          <a:xfrm>
            <a:off x="6217920" y="4297680"/>
            <a:ext cx="5486400" cy="19202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4297680"/>
            <a:ext cx="73152" cy="192024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4370832"/>
            <a:ext cx="5212080" cy="457200"/>
          </a:xfrm>
          <a:prstGeom prst="rect">
            <a:avLst/>
          </a:prstGeom>
          <a:noFill/>
        </p:spPr>
        <p:txBody>
          <a:bodyPr wrap="square" anchor="t">
            <a:spAutoFit/>
          </a:bodyPr>
          <a:lstStyle/>
          <a:p>
            <a:pPr algn="l">
              <a:spcAft>
                <a:spcPts val="500"/>
              </a:spcAft>
            </a:pPr>
            <a:r>
              <a:rPr sz="1800" b="1">
                <a:solidFill>
                  <a:srgbClr val="142A4D"/>
                </a:solidFill>
                <a:latin typeface="Calibri"/>
              </a:rPr>
              <a:t>Tools and stack</a:t>
            </a:r>
          </a:p>
        </p:txBody>
      </p:sp>
      <p:sp>
        <p:nvSpPr>
          <p:cNvPr id="28" name="TextBox 27"/>
          <p:cNvSpPr txBox="1"/>
          <p:nvPr/>
        </p:nvSpPr>
        <p:spPr>
          <a:xfrm>
            <a:off x="6400800" y="4846320"/>
            <a:ext cx="5166360" cy="1325880"/>
          </a:xfrm>
          <a:prstGeom prst="rect">
            <a:avLst/>
          </a:prstGeom>
          <a:noFill/>
        </p:spPr>
        <p:txBody>
          <a:bodyPr wrap="square" anchor="t">
            <a:spAutoFit/>
          </a:bodyPr>
          <a:lstStyle/>
          <a:p>
            <a:pPr algn="l">
              <a:spcAft>
                <a:spcPts val="500"/>
              </a:spcAft>
            </a:pPr>
            <a:r>
              <a:rPr sz="1400" b="0">
                <a:solidFill>
                  <a:srgbClr val="475569"/>
                </a:solidFill>
                <a:latin typeface="Calibri"/>
              </a:rPr>
              <a:t>• Monte-Carlo, CI gate, blast radius, what-if, bundles</a:t>
            </a:r>
          </a:p>
          <a:p>
            <a:pPr algn="l">
              <a:spcAft>
                <a:spcPts val="500"/>
              </a:spcAft>
            </a:pPr>
            <a:r>
              <a:rPr sz="1400" b="0">
                <a:solidFill>
                  <a:srgbClr val="475569"/>
                </a:solidFill>
                <a:latin typeface="Calibri"/>
              </a:rPr>
              <a:t>• Flask API + React/TypeScript dashboard (SSE)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nchor="ctr">
            <a:spAutoFit/>
          </a:bodyPr>
          <a:lstStyle/>
          <a:p>
            <a:pPr algn="l">
              <a:spcAft>
                <a:spcPts val="500"/>
              </a:spcAft>
            </a:pPr>
            <a:r>
              <a:rPr sz="3000" b="1">
                <a:solidFill>
                  <a:srgbClr val="FFFFFF"/>
                </a:solidFill>
                <a:latin typeface="Calibri"/>
              </a:rPr>
              <a:t>Pipeline and Data Model</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500"/>
              </a:spcAft>
            </a:pPr>
            <a:r>
              <a:rPr sz="1100" b="0">
                <a:solidFill>
                  <a:srgbClr val="475569"/>
                </a:solidFill>
                <a:latin typeface="Calibri"/>
              </a:rPr>
              <a:t>• RAP twin | Group 01 | Department Research Colloquium 2026</a:t>
            </a:r>
          </a:p>
        </p:txBody>
      </p:sp>
      <p:sp>
        <p:nvSpPr>
          <p:cNvPr id="6" name="TextBox 5"/>
          <p:cNvSpPr txBox="1"/>
          <p:nvPr/>
        </p:nvSpPr>
        <p:spPr>
          <a:xfrm>
            <a:off x="11155680" y="6446520"/>
            <a:ext cx="731520" cy="320040"/>
          </a:xfrm>
          <a:prstGeom prst="rect">
            <a:avLst/>
          </a:prstGeom>
          <a:noFill/>
        </p:spPr>
        <p:txBody>
          <a:bodyPr wrap="square" anchor="t">
            <a:spAutoFit/>
          </a:bodyPr>
          <a:lstStyle/>
          <a:p>
            <a:pPr algn="r">
              <a:spcAft>
                <a:spcPts val="500"/>
              </a:spcAft>
            </a:pPr>
            <a:r>
              <a:rPr sz="1100" b="0">
                <a:solidFill>
                  <a:srgbClr val="475569"/>
                </a:solidFill>
                <a:latin typeface="Calibri"/>
              </a:rPr>
              <a:t>8</a:t>
            </a:r>
          </a:p>
        </p:txBody>
      </p:sp>
      <p:sp>
        <p:nvSpPr>
          <p:cNvPr id="7" name="Rectangle 6"/>
          <p:cNvSpPr/>
          <p:nvPr/>
        </p:nvSpPr>
        <p:spPr>
          <a:xfrm>
            <a:off x="329184" y="1152144"/>
            <a:ext cx="5833872" cy="2773657"/>
          </a:xfrm>
          <a:prstGeom prst="rect">
            <a:avLst/>
          </a:prstGeom>
          <a:solidFill>
            <a:srgbClr val="FFFFFF"/>
          </a:solidFill>
          <a:ln>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ipeline_overview.png"/>
          <p:cNvPicPr>
            <a:picLocks noChangeAspect="1"/>
          </p:cNvPicPr>
          <p:nvPr/>
        </p:nvPicPr>
        <p:blipFill>
          <a:blip r:embed="rId2"/>
          <a:stretch>
            <a:fillRect/>
          </a:stretch>
        </p:blipFill>
        <p:spPr>
          <a:xfrm>
            <a:off x="365760" y="1188720"/>
            <a:ext cx="5760720" cy="2700505"/>
          </a:xfrm>
          <a:prstGeom prst="rect">
            <a:avLst/>
          </a:prstGeom>
        </p:spPr>
      </p:pic>
      <p:sp>
        <p:nvSpPr>
          <p:cNvPr id="9" name="TextBox 8"/>
          <p:cNvSpPr txBox="1"/>
          <p:nvPr/>
        </p:nvSpPr>
        <p:spPr>
          <a:xfrm>
            <a:off x="182880" y="3953233"/>
            <a:ext cx="6126480" cy="320040"/>
          </a:xfrm>
          <a:prstGeom prst="rect">
            <a:avLst/>
          </a:prstGeom>
          <a:noFill/>
        </p:spPr>
        <p:txBody>
          <a:bodyPr wrap="square" anchor="t">
            <a:spAutoFit/>
          </a:bodyPr>
          <a:lstStyle/>
          <a:p>
            <a:pPr algn="ctr">
              <a:spcAft>
                <a:spcPts val="500"/>
              </a:spcAft>
            </a:pPr>
            <a:r>
              <a:rPr sz="1100" b="0">
                <a:solidFill>
                  <a:srgbClr val="475569"/>
                </a:solidFill>
                <a:latin typeface="Calibri"/>
              </a:rPr>
              <a:t>Closed-loop pipeline</a:t>
            </a:r>
          </a:p>
        </p:txBody>
      </p:sp>
      <p:sp>
        <p:nvSpPr>
          <p:cNvPr id="10" name="Rectangle 9"/>
          <p:cNvSpPr/>
          <p:nvPr/>
        </p:nvSpPr>
        <p:spPr>
          <a:xfrm>
            <a:off x="6272784" y="1152144"/>
            <a:ext cx="5199390" cy="3822191"/>
          </a:xfrm>
          <a:prstGeom prst="rect">
            <a:avLst/>
          </a:prstGeom>
          <a:solidFill>
            <a:srgbClr val="FFFFFF"/>
          </a:solidFill>
          <a:ln>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_er_diagram.png"/>
          <p:cNvPicPr>
            <a:picLocks noChangeAspect="1"/>
          </p:cNvPicPr>
          <p:nvPr/>
        </p:nvPicPr>
        <p:blipFill>
          <a:blip r:embed="rId3"/>
          <a:stretch>
            <a:fillRect/>
          </a:stretch>
        </p:blipFill>
        <p:spPr>
          <a:xfrm>
            <a:off x="6309360" y="1188720"/>
            <a:ext cx="5126238" cy="3749039"/>
          </a:xfrm>
          <a:prstGeom prst="rect">
            <a:avLst/>
          </a:prstGeom>
        </p:spPr>
      </p:pic>
      <p:sp>
        <p:nvSpPr>
          <p:cNvPr id="12" name="TextBox 11"/>
          <p:cNvSpPr txBox="1"/>
          <p:nvPr/>
        </p:nvSpPr>
        <p:spPr>
          <a:xfrm>
            <a:off x="6126480" y="5001768"/>
            <a:ext cx="5491998" cy="320040"/>
          </a:xfrm>
          <a:prstGeom prst="rect">
            <a:avLst/>
          </a:prstGeom>
          <a:noFill/>
        </p:spPr>
        <p:txBody>
          <a:bodyPr wrap="square" anchor="t">
            <a:spAutoFit/>
          </a:bodyPr>
          <a:lstStyle/>
          <a:p>
            <a:pPr algn="ctr">
              <a:spcAft>
                <a:spcPts val="500"/>
              </a:spcAft>
            </a:pPr>
            <a:r>
              <a:rPr sz="1100" b="0">
                <a:solidFill>
                  <a:srgbClr val="475569"/>
                </a:solidFill>
                <a:latin typeface="Calibri"/>
              </a:rPr>
              <a:t>Entity-relationship diagram</a:t>
            </a:r>
          </a:p>
        </p:txBody>
      </p:sp>
      <p:sp>
        <p:nvSpPr>
          <p:cNvPr id="13" name="Rectangle 12"/>
          <p:cNvSpPr/>
          <p:nvPr/>
        </p:nvSpPr>
        <p:spPr>
          <a:xfrm>
            <a:off x="365760" y="4297680"/>
            <a:ext cx="5760720" cy="2011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4297680"/>
            <a:ext cx="73152" cy="201168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370832"/>
            <a:ext cx="5486400" cy="457200"/>
          </a:xfrm>
          <a:prstGeom prst="rect">
            <a:avLst/>
          </a:prstGeom>
          <a:noFill/>
        </p:spPr>
        <p:txBody>
          <a:bodyPr wrap="square" anchor="t">
            <a:spAutoFit/>
          </a:bodyPr>
          <a:lstStyle/>
          <a:p>
            <a:pPr algn="l">
              <a:spcAft>
                <a:spcPts val="500"/>
              </a:spcAft>
            </a:pPr>
            <a:r>
              <a:rPr sz="1800" b="1">
                <a:solidFill>
                  <a:srgbClr val="15803D"/>
                </a:solidFill>
                <a:latin typeface="Calibri"/>
              </a:rPr>
              <a:t>Three-layer node state</a:t>
            </a:r>
          </a:p>
        </p:txBody>
      </p:sp>
      <p:sp>
        <p:nvSpPr>
          <p:cNvPr id="16" name="TextBox 15"/>
          <p:cNvSpPr txBox="1"/>
          <p:nvPr/>
        </p:nvSpPr>
        <p:spPr>
          <a:xfrm>
            <a:off x="548640" y="4846320"/>
            <a:ext cx="5440680" cy="1417320"/>
          </a:xfrm>
          <a:prstGeom prst="rect">
            <a:avLst/>
          </a:prstGeom>
          <a:noFill/>
        </p:spPr>
        <p:txBody>
          <a:bodyPr wrap="square" anchor="t">
            <a:spAutoFit/>
          </a:bodyPr>
          <a:lstStyle/>
          <a:p>
            <a:pPr algn="l">
              <a:spcAft>
                <a:spcPts val="500"/>
              </a:spcAft>
            </a:pPr>
            <a:r>
              <a:rPr sz="1300" b="0">
                <a:solidFill>
                  <a:srgbClr val="475569"/>
                </a:solidFill>
                <a:latin typeface="Calibri"/>
              </a:rPr>
              <a:t>• base: static YAML descriptor + derived caps</a:t>
            </a:r>
          </a:p>
          <a:p>
            <a:pPr algn="l">
              <a:spcAft>
                <a:spcPts val="500"/>
              </a:spcAft>
            </a:pPr>
            <a:r>
              <a:rPr sz="1300" b="0">
                <a:solidFill>
                  <a:srgbClr val="475569"/>
                </a:solidFill>
                <a:latin typeface="Calibri"/>
              </a:rPr>
              <a:t>• dyn: down, derate, used CPU/mem/VRAM, reliability, reservations</a:t>
            </a:r>
          </a:p>
          <a:p>
            <a:pPr algn="l">
              <a:spcAft>
                <a:spcPts val="500"/>
              </a:spcAft>
            </a:pPr>
            <a:r>
              <a:rPr sz="1300" b="0">
                <a:solidFill>
                  <a:srgbClr val="475569"/>
                </a:solidFill>
                <a:latin typeface="Calibri"/>
              </a:rPr>
              <a:t>• effective: free capacity = cores x (1 - derate) - used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nchor="ctr">
            <a:spAutoFit/>
          </a:bodyPr>
          <a:lstStyle/>
          <a:p>
            <a:pPr algn="l">
              <a:spcAft>
                <a:spcPts val="500"/>
              </a:spcAft>
            </a:pPr>
            <a:r>
              <a:rPr sz="3000" b="1">
                <a:solidFill>
                  <a:srgbClr val="FFFFFF"/>
                </a:solidFill>
                <a:latin typeface="Calibri"/>
              </a:rPr>
              <a:t>Class and Sequence Design (UML)</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500"/>
              </a:spcAft>
            </a:pPr>
            <a:r>
              <a:rPr sz="1100" b="0">
                <a:solidFill>
                  <a:srgbClr val="475569"/>
                </a:solidFill>
                <a:latin typeface="Calibri"/>
              </a:rPr>
              <a:t>• RAP twin | Group 01 | Department Research Colloquium 2026</a:t>
            </a:r>
          </a:p>
        </p:txBody>
      </p:sp>
      <p:sp>
        <p:nvSpPr>
          <p:cNvPr id="6" name="TextBox 5"/>
          <p:cNvSpPr txBox="1"/>
          <p:nvPr/>
        </p:nvSpPr>
        <p:spPr>
          <a:xfrm>
            <a:off x="11155680" y="6446520"/>
            <a:ext cx="731520" cy="320040"/>
          </a:xfrm>
          <a:prstGeom prst="rect">
            <a:avLst/>
          </a:prstGeom>
          <a:noFill/>
        </p:spPr>
        <p:txBody>
          <a:bodyPr wrap="square" anchor="t">
            <a:spAutoFit/>
          </a:bodyPr>
          <a:lstStyle/>
          <a:p>
            <a:pPr algn="r">
              <a:spcAft>
                <a:spcPts val="500"/>
              </a:spcAft>
            </a:pPr>
            <a:r>
              <a:rPr sz="1100" b="0">
                <a:solidFill>
                  <a:srgbClr val="475569"/>
                </a:solidFill>
                <a:latin typeface="Calibri"/>
              </a:rPr>
              <a:t>9</a:t>
            </a:r>
          </a:p>
        </p:txBody>
      </p:sp>
      <p:sp>
        <p:nvSpPr>
          <p:cNvPr id="7" name="Rectangle 6"/>
          <p:cNvSpPr/>
          <p:nvPr/>
        </p:nvSpPr>
        <p:spPr>
          <a:xfrm>
            <a:off x="329184" y="1106424"/>
            <a:ext cx="4187952" cy="5081539"/>
          </a:xfrm>
          <a:prstGeom prst="rect">
            <a:avLst/>
          </a:prstGeom>
          <a:solidFill>
            <a:srgbClr val="FFFFFF"/>
          </a:solidFill>
          <a:ln>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_class_diagram.png"/>
          <p:cNvPicPr>
            <a:picLocks noChangeAspect="1"/>
          </p:cNvPicPr>
          <p:nvPr/>
        </p:nvPicPr>
        <p:blipFill>
          <a:blip r:embed="rId2"/>
          <a:stretch>
            <a:fillRect/>
          </a:stretch>
        </p:blipFill>
        <p:spPr>
          <a:xfrm>
            <a:off x="365760" y="1143000"/>
            <a:ext cx="4114800" cy="5008387"/>
          </a:xfrm>
          <a:prstGeom prst="rect">
            <a:avLst/>
          </a:prstGeom>
        </p:spPr>
      </p:pic>
      <p:sp>
        <p:nvSpPr>
          <p:cNvPr id="9" name="TextBox 8"/>
          <p:cNvSpPr txBox="1"/>
          <p:nvPr/>
        </p:nvSpPr>
        <p:spPr>
          <a:xfrm>
            <a:off x="182880" y="6215395"/>
            <a:ext cx="4480560" cy="320040"/>
          </a:xfrm>
          <a:prstGeom prst="rect">
            <a:avLst/>
          </a:prstGeom>
          <a:noFill/>
        </p:spPr>
        <p:txBody>
          <a:bodyPr wrap="square" anchor="t">
            <a:spAutoFit/>
          </a:bodyPr>
          <a:lstStyle/>
          <a:p>
            <a:pPr algn="ctr">
              <a:spcAft>
                <a:spcPts val="500"/>
              </a:spcAft>
            </a:pPr>
            <a:r>
              <a:rPr sz="1100" b="0">
                <a:solidFill>
                  <a:srgbClr val="475569"/>
                </a:solidFill>
                <a:latin typeface="Calibri"/>
              </a:rPr>
              <a:t>Class diagram (dt/ core)</a:t>
            </a:r>
          </a:p>
        </p:txBody>
      </p:sp>
      <p:sp>
        <p:nvSpPr>
          <p:cNvPr id="10" name="Rectangle 9"/>
          <p:cNvSpPr/>
          <p:nvPr/>
        </p:nvSpPr>
        <p:spPr>
          <a:xfrm>
            <a:off x="4626864" y="1106424"/>
            <a:ext cx="3730752" cy="3239432"/>
          </a:xfrm>
          <a:prstGeom prst="rect">
            <a:avLst/>
          </a:prstGeom>
          <a:solidFill>
            <a:srgbClr val="FFFFFF"/>
          </a:solidFill>
          <a:ln>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_seq_plan.png"/>
          <p:cNvPicPr>
            <a:picLocks noChangeAspect="1"/>
          </p:cNvPicPr>
          <p:nvPr/>
        </p:nvPicPr>
        <p:blipFill>
          <a:blip r:embed="rId3"/>
          <a:stretch>
            <a:fillRect/>
          </a:stretch>
        </p:blipFill>
        <p:spPr>
          <a:xfrm>
            <a:off x="4663440" y="1143000"/>
            <a:ext cx="3657600" cy="3166280"/>
          </a:xfrm>
          <a:prstGeom prst="rect">
            <a:avLst/>
          </a:prstGeom>
        </p:spPr>
      </p:pic>
      <p:sp>
        <p:nvSpPr>
          <p:cNvPr id="12" name="TextBox 11"/>
          <p:cNvSpPr txBox="1"/>
          <p:nvPr/>
        </p:nvSpPr>
        <p:spPr>
          <a:xfrm>
            <a:off x="4480559" y="4373288"/>
            <a:ext cx="4023360" cy="320040"/>
          </a:xfrm>
          <a:prstGeom prst="rect">
            <a:avLst/>
          </a:prstGeom>
          <a:noFill/>
        </p:spPr>
        <p:txBody>
          <a:bodyPr wrap="square" anchor="t">
            <a:spAutoFit/>
          </a:bodyPr>
          <a:lstStyle/>
          <a:p>
            <a:pPr algn="ctr">
              <a:spcAft>
                <a:spcPts val="500"/>
              </a:spcAft>
            </a:pPr>
            <a:r>
              <a:rPr sz="1100" b="0">
                <a:solidFill>
                  <a:srgbClr val="475569"/>
                </a:solidFill>
                <a:latin typeface="Calibri"/>
              </a:rPr>
              <a:t>Planning a job</a:t>
            </a:r>
          </a:p>
        </p:txBody>
      </p:sp>
      <p:sp>
        <p:nvSpPr>
          <p:cNvPr id="13" name="Rectangle 12"/>
          <p:cNvSpPr/>
          <p:nvPr/>
        </p:nvSpPr>
        <p:spPr>
          <a:xfrm>
            <a:off x="8375904" y="1106424"/>
            <a:ext cx="3547872" cy="2666226"/>
          </a:xfrm>
          <a:prstGeom prst="rect">
            <a:avLst/>
          </a:prstGeom>
          <a:solidFill>
            <a:srgbClr val="FFFFFF"/>
          </a:solidFill>
          <a:ln>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_seq_selfheal.png"/>
          <p:cNvPicPr>
            <a:picLocks noChangeAspect="1"/>
          </p:cNvPicPr>
          <p:nvPr/>
        </p:nvPicPr>
        <p:blipFill>
          <a:blip r:embed="rId4"/>
          <a:stretch>
            <a:fillRect/>
          </a:stretch>
        </p:blipFill>
        <p:spPr>
          <a:xfrm>
            <a:off x="8412480" y="1143000"/>
            <a:ext cx="3474720" cy="2593074"/>
          </a:xfrm>
          <a:prstGeom prst="rect">
            <a:avLst/>
          </a:prstGeom>
        </p:spPr>
      </p:pic>
      <p:sp>
        <p:nvSpPr>
          <p:cNvPr id="15" name="TextBox 14"/>
          <p:cNvSpPr txBox="1"/>
          <p:nvPr/>
        </p:nvSpPr>
        <p:spPr>
          <a:xfrm>
            <a:off x="8229600" y="3800082"/>
            <a:ext cx="3840480" cy="320040"/>
          </a:xfrm>
          <a:prstGeom prst="rect">
            <a:avLst/>
          </a:prstGeom>
          <a:noFill/>
        </p:spPr>
        <p:txBody>
          <a:bodyPr wrap="square" anchor="t">
            <a:spAutoFit/>
          </a:bodyPr>
          <a:lstStyle/>
          <a:p>
            <a:pPr algn="ctr">
              <a:spcAft>
                <a:spcPts val="500"/>
              </a:spcAft>
            </a:pPr>
            <a:r>
              <a:rPr sz="1100" b="0">
                <a:solidFill>
                  <a:srgbClr val="475569"/>
                </a:solidFill>
                <a:latin typeface="Calibri"/>
              </a:rPr>
              <a:t>Fault and self-healing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nchor="ctr">
            <a:spAutoFit/>
          </a:bodyPr>
          <a:lstStyle/>
          <a:p>
            <a:pPr algn="l">
              <a:spcAft>
                <a:spcPts val="500"/>
              </a:spcAft>
            </a:pPr>
            <a:r>
              <a:rPr sz="3000" b="1">
                <a:solidFill>
                  <a:srgbClr val="FFFFFF"/>
                </a:solidFill>
                <a:latin typeface="Calibri"/>
              </a:rPr>
              <a:t>Strategies and Cost Model</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500"/>
              </a:spcAft>
            </a:pPr>
            <a:r>
              <a:rPr sz="1100" b="0">
                <a:solidFill>
                  <a:srgbClr val="475569"/>
                </a:solidFill>
                <a:latin typeface="Calibri"/>
              </a:rPr>
              <a:t>• RAP twin | Group 01 | Department Research Colloquium 2026</a:t>
            </a:r>
          </a:p>
        </p:txBody>
      </p:sp>
      <p:sp>
        <p:nvSpPr>
          <p:cNvPr id="6" name="TextBox 5"/>
          <p:cNvSpPr txBox="1"/>
          <p:nvPr/>
        </p:nvSpPr>
        <p:spPr>
          <a:xfrm>
            <a:off x="11155680" y="6446520"/>
            <a:ext cx="731520" cy="320040"/>
          </a:xfrm>
          <a:prstGeom prst="rect">
            <a:avLst/>
          </a:prstGeom>
          <a:noFill/>
        </p:spPr>
        <p:txBody>
          <a:bodyPr wrap="square" anchor="t">
            <a:spAutoFit/>
          </a:bodyPr>
          <a:lstStyle/>
          <a:p>
            <a:pPr algn="r">
              <a:spcAft>
                <a:spcPts val="500"/>
              </a:spcAft>
            </a:pPr>
            <a:r>
              <a:rPr sz="1100" b="0">
                <a:solidFill>
                  <a:srgbClr val="475569"/>
                </a:solidFill>
                <a:latin typeface="Calibri"/>
              </a:rPr>
              <a:t>10</a:t>
            </a:r>
          </a:p>
        </p:txBody>
      </p:sp>
      <p:graphicFrame>
        <p:nvGraphicFramePr>
          <p:cNvPr id="7" name="Table 6"/>
          <p:cNvGraphicFramePr>
            <a:graphicFrameLocks noGrp="1"/>
          </p:cNvGraphicFramePr>
          <p:nvPr/>
        </p:nvGraphicFramePr>
        <p:xfrm>
          <a:off x="365760" y="1188720"/>
          <a:ext cx="6766560" cy="3072384"/>
        </p:xfrm>
        <a:graphic>
          <a:graphicData uri="http://schemas.openxmlformats.org/drawingml/2006/table">
            <a:tbl>
              <a:tblPr firstRow="1" bandRow="1">
                <a:tableStyleId>{5C22544A-7EE6-4342-B048-85BDC9FD1C3A}</a:tableStyleId>
              </a:tblPr>
              <a:tblGrid>
                <a:gridCol w="1554480"/>
                <a:gridCol w="1737360"/>
                <a:gridCol w="3474720"/>
              </a:tblGrid>
              <a:tr h="384048">
                <a:tc>
                  <a:txBody>
                    <a:bodyPr/>
                    <a:lstStyle/>
                    <a:p>
                      <a:r>
                        <a:rPr sz="1200" b="1">
                          <a:solidFill>
                            <a:srgbClr val="FFFFFF"/>
                          </a:solidFill>
                          <a:latin typeface="Calibri"/>
                        </a:rPr>
                        <a:t>Strategy</a:t>
                      </a:r>
                    </a:p>
                  </a:txBody>
                  <a:tcPr marT="27432" marB="27432">
                    <a:solidFill>
                      <a:srgbClr val="142A4D"/>
                    </a:solidFill>
                  </a:tcPr>
                </a:tc>
                <a:tc>
                  <a:txBody>
                    <a:bodyPr/>
                    <a:lstStyle/>
                    <a:p>
                      <a:r>
                        <a:rPr sz="1200" b="1">
                          <a:solidFill>
                            <a:srgbClr val="FFFFFF"/>
                          </a:solidFill>
                          <a:latin typeface="Calibri"/>
                        </a:rPr>
                        <a:t>Class</a:t>
                      </a:r>
                    </a:p>
                  </a:txBody>
                  <a:tcPr marT="27432" marB="27432">
                    <a:solidFill>
                      <a:srgbClr val="142A4D"/>
                    </a:solidFill>
                  </a:tcPr>
                </a:tc>
                <a:tc>
                  <a:txBody>
                    <a:bodyPr/>
                    <a:lstStyle/>
                    <a:p>
                      <a:r>
                        <a:rPr sz="1200" b="1">
                          <a:solidFill>
                            <a:srgbClr val="FFFFFF"/>
                          </a:solidFill>
                          <a:latin typeface="Calibri"/>
                        </a:rPr>
                        <a:t>Objective</a:t>
                      </a:r>
                    </a:p>
                  </a:txBody>
                  <a:tcPr marT="27432" marB="27432">
                    <a:solidFill>
                      <a:srgbClr val="142A4D"/>
                    </a:solidFill>
                  </a:tcPr>
                </a:tc>
              </a:tr>
              <a:tr h="384048">
                <a:tc>
                  <a:txBody>
                    <a:bodyPr/>
                    <a:lstStyle/>
                    <a:p>
                      <a:r>
                        <a:rPr sz="1200">
                          <a:solidFill>
                            <a:srgbClr val="475569"/>
                          </a:solidFill>
                          <a:latin typeface="Calibri"/>
                        </a:rPr>
                        <a:t>greedy</a:t>
                      </a:r>
                    </a:p>
                  </a:txBody>
                  <a:tcPr marT="27432" marB="27432">
                    <a:solidFill>
                      <a:srgbClr val="F1F5F9"/>
                    </a:solidFill>
                  </a:tcPr>
                </a:tc>
                <a:tc>
                  <a:txBody>
                    <a:bodyPr/>
                    <a:lstStyle/>
                    <a:p>
                      <a:r>
                        <a:rPr sz="1200">
                          <a:solidFill>
                            <a:srgbClr val="475569"/>
                          </a:solidFill>
                          <a:latin typeface="Calibri"/>
                        </a:rPr>
                        <a:t>GreedyPlanner</a:t>
                      </a:r>
                    </a:p>
                  </a:txBody>
                  <a:tcPr marT="27432" marB="27432">
                    <a:solidFill>
                      <a:srgbClr val="F1F5F9"/>
                    </a:solidFill>
                  </a:tcPr>
                </a:tc>
                <a:tc>
                  <a:txBody>
                    <a:bodyPr/>
                    <a:lstStyle/>
                    <a:p>
                      <a:r>
                        <a:rPr sz="1200">
                          <a:solidFill>
                            <a:srgbClr val="475569"/>
                          </a:solidFill>
                          <a:latin typeface="Calibri"/>
                        </a:rPr>
                        <a:t>compute + transfer + 10*risk</a:t>
                      </a:r>
                    </a:p>
                  </a:txBody>
                  <a:tcPr marT="27432" marB="27432">
                    <a:solidFill>
                      <a:srgbClr val="F1F5F9"/>
                    </a:solidFill>
                  </a:tcPr>
                </a:tc>
              </a:tr>
              <a:tr h="384048">
                <a:tc>
                  <a:txBody>
                    <a:bodyPr/>
                    <a:lstStyle/>
                    <a:p>
                      <a:r>
                        <a:rPr sz="1200">
                          <a:solidFill>
                            <a:srgbClr val="475569"/>
                          </a:solidFill>
                          <a:latin typeface="Calibri"/>
                        </a:rPr>
                        <a:t>cheapest-energy</a:t>
                      </a:r>
                    </a:p>
                  </a:txBody>
                  <a:tcPr marT="27432" marB="27432">
                    <a:solidFill>
                      <a:srgbClr val="FFFFFF"/>
                    </a:solidFill>
                  </a:tcPr>
                </a:tc>
                <a:tc>
                  <a:txBody>
                    <a:bodyPr/>
                    <a:lstStyle/>
                    <a:p>
                      <a:r>
                        <a:rPr sz="1200">
                          <a:solidFill>
                            <a:srgbClr val="475569"/>
                          </a:solidFill>
                          <a:latin typeface="Calibri"/>
                        </a:rPr>
                        <a:t>GreedyPlanner</a:t>
                      </a:r>
                    </a:p>
                  </a:txBody>
                  <a:tcPr marT="27432" marB="27432">
                    <a:solidFill>
                      <a:srgbClr val="FFFFFF"/>
                    </a:solidFill>
                  </a:tcPr>
                </a:tc>
                <a:tc>
                  <a:txBody>
                    <a:bodyPr/>
                    <a:lstStyle/>
                    <a:p>
                      <a:r>
                        <a:rPr sz="1200">
                          <a:solidFill>
                            <a:srgbClr val="475569"/>
                          </a:solidFill>
                          <a:latin typeface="Calibri"/>
                        </a:rPr>
                        <a:t>+ 0.1 ms per kJ</a:t>
                      </a:r>
                    </a:p>
                  </a:txBody>
                  <a:tcPr marT="27432" marB="27432">
                    <a:solidFill>
                      <a:srgbClr val="FFFFFF"/>
                    </a:solidFill>
                  </a:tcPr>
                </a:tc>
              </a:tr>
              <a:tr h="384048">
                <a:tc>
                  <a:txBody>
                    <a:bodyPr/>
                    <a:lstStyle/>
                    <a:p>
                      <a:r>
                        <a:rPr sz="1200">
                          <a:solidFill>
                            <a:srgbClr val="475569"/>
                          </a:solidFill>
                          <a:latin typeface="Calibri"/>
                        </a:rPr>
                        <a:t>cheapest-cost</a:t>
                      </a:r>
                    </a:p>
                  </a:txBody>
                  <a:tcPr marT="27432" marB="27432">
                    <a:solidFill>
                      <a:srgbClr val="F1F5F9"/>
                    </a:solidFill>
                  </a:tcPr>
                </a:tc>
                <a:tc>
                  <a:txBody>
                    <a:bodyPr/>
                    <a:lstStyle/>
                    <a:p>
                      <a:r>
                        <a:rPr sz="1200">
                          <a:solidFill>
                            <a:srgbClr val="475569"/>
                          </a:solidFill>
                          <a:latin typeface="Calibri"/>
                        </a:rPr>
                        <a:t>GreedyPlanner</a:t>
                      </a:r>
                    </a:p>
                  </a:txBody>
                  <a:tcPr marT="27432" marB="27432">
                    <a:solidFill>
                      <a:srgbClr val="F1F5F9"/>
                    </a:solidFill>
                  </a:tcPr>
                </a:tc>
                <a:tc>
                  <a:txBody>
                    <a:bodyPr/>
                    <a:lstStyle/>
                    <a:p>
                      <a:r>
                        <a:rPr sz="1200">
                          <a:solidFill>
                            <a:srgbClr val="475569"/>
                          </a:solidFill>
                          <a:latin typeface="Calibri"/>
                        </a:rPr>
                        <a:t>+ 25 ms per Rs/hour</a:t>
                      </a:r>
                    </a:p>
                  </a:txBody>
                  <a:tcPr marT="27432" marB="27432">
                    <a:solidFill>
                      <a:srgbClr val="F1F5F9"/>
                    </a:solidFill>
                  </a:tcPr>
                </a:tc>
              </a:tr>
              <a:tr h="384048">
                <a:tc>
                  <a:txBody>
                    <a:bodyPr/>
                    <a:lstStyle/>
                    <a:p>
                      <a:r>
                        <a:rPr sz="1200">
                          <a:solidFill>
                            <a:srgbClr val="475569"/>
                          </a:solidFill>
                          <a:latin typeface="Calibri"/>
                        </a:rPr>
                        <a:t>greenest</a:t>
                      </a:r>
                    </a:p>
                  </a:txBody>
                  <a:tcPr marT="27432" marB="27432">
                    <a:solidFill>
                      <a:srgbClr val="FFFFFF"/>
                    </a:solidFill>
                  </a:tcPr>
                </a:tc>
                <a:tc>
                  <a:txBody>
                    <a:bodyPr/>
                    <a:lstStyle/>
                    <a:p>
                      <a:r>
                        <a:rPr sz="1200">
                          <a:solidFill>
                            <a:srgbClr val="475569"/>
                          </a:solidFill>
                          <a:latin typeface="Calibri"/>
                        </a:rPr>
                        <a:t>GreedyPlanner</a:t>
                      </a:r>
                    </a:p>
                  </a:txBody>
                  <a:tcPr marT="27432" marB="27432">
                    <a:solidFill>
                      <a:srgbClr val="FFFFFF"/>
                    </a:solidFill>
                  </a:tcPr>
                </a:tc>
                <a:tc>
                  <a:txBody>
                    <a:bodyPr/>
                    <a:lstStyle/>
                    <a:p>
                      <a:r>
                        <a:rPr sz="1200">
                          <a:solidFill>
                            <a:srgbClr val="475569"/>
                          </a:solidFill>
                          <a:latin typeface="Calibri"/>
                        </a:rPr>
                        <a:t>+ 25 ms per gCO2/hour</a:t>
                      </a:r>
                    </a:p>
                  </a:txBody>
                  <a:tcPr marT="27432" marB="27432">
                    <a:solidFill>
                      <a:srgbClr val="FFFFFF"/>
                    </a:solidFill>
                  </a:tcPr>
                </a:tc>
              </a:tr>
              <a:tr h="384048">
                <a:tc>
                  <a:txBody>
                    <a:bodyPr/>
                    <a:lstStyle/>
                    <a:p>
                      <a:r>
                        <a:rPr sz="1200">
                          <a:solidFill>
                            <a:srgbClr val="475569"/>
                          </a:solidFill>
                          <a:latin typeface="Calibri"/>
                        </a:rPr>
                        <a:t>bandit</a:t>
                      </a:r>
                    </a:p>
                  </a:txBody>
                  <a:tcPr marT="27432" marB="27432">
                    <a:solidFill>
                      <a:srgbClr val="F1F5F9"/>
                    </a:solidFill>
                  </a:tcPr>
                </a:tc>
                <a:tc>
                  <a:txBody>
                    <a:bodyPr/>
                    <a:lstStyle/>
                    <a:p>
                      <a:r>
                        <a:rPr sz="1200">
                          <a:solidFill>
                            <a:srgbClr val="475569"/>
                          </a:solidFill>
                          <a:latin typeface="Calibri"/>
                        </a:rPr>
                        <a:t>Greedy + UCB1</a:t>
                      </a:r>
                    </a:p>
                  </a:txBody>
                  <a:tcPr marT="27432" marB="27432">
                    <a:solidFill>
                      <a:srgbClr val="F1F5F9"/>
                    </a:solidFill>
                  </a:tcPr>
                </a:tc>
                <a:tc>
                  <a:txBody>
                    <a:bodyPr/>
                    <a:lstStyle/>
                    <a:p>
                      <a:r>
                        <a:rPr sz="1200">
                          <a:solidFill>
                            <a:srgbClr val="475569"/>
                          </a:solidFill>
                          <a:latin typeface="Calibri"/>
                        </a:rPr>
                        <a:t>learns execution format</a:t>
                      </a:r>
                    </a:p>
                  </a:txBody>
                  <a:tcPr marT="27432" marB="27432">
                    <a:solidFill>
                      <a:srgbClr val="F1F5F9"/>
                    </a:solidFill>
                  </a:tcPr>
                </a:tc>
              </a:tr>
              <a:tr h="384048">
                <a:tc>
                  <a:txBody>
                    <a:bodyPr/>
                    <a:lstStyle/>
                    <a:p>
                      <a:r>
                        <a:rPr sz="1200">
                          <a:solidFill>
                            <a:srgbClr val="475569"/>
                          </a:solidFill>
                          <a:latin typeface="Calibri"/>
                        </a:rPr>
                        <a:t>resilient</a:t>
                      </a:r>
                    </a:p>
                  </a:txBody>
                  <a:tcPr marT="27432" marB="27432">
                    <a:solidFill>
                      <a:srgbClr val="FFFFFF"/>
                    </a:solidFill>
                  </a:tcPr>
                </a:tc>
                <a:tc>
                  <a:txBody>
                    <a:bodyPr/>
                    <a:lstStyle/>
                    <a:p>
                      <a:r>
                        <a:rPr sz="1200">
                          <a:solidFill>
                            <a:srgbClr val="475569"/>
                          </a:solidFill>
                          <a:latin typeface="Calibri"/>
                        </a:rPr>
                        <a:t>FederatedPlanner</a:t>
                      </a:r>
                    </a:p>
                  </a:txBody>
                  <a:tcPr marT="27432" marB="27432">
                    <a:solidFill>
                      <a:srgbClr val="FFFFFF"/>
                    </a:solidFill>
                  </a:tcPr>
                </a:tc>
                <a:tc>
                  <a:txBody>
                    <a:bodyPr/>
                    <a:lstStyle/>
                    <a:p>
                      <a:r>
                        <a:rPr sz="1200">
                          <a:solidFill>
                            <a:srgbClr val="475569"/>
                          </a:solidFill>
                          <a:latin typeface="Calibri"/>
                        </a:rPr>
                        <a:t>additive ms score, fallbacks</a:t>
                      </a:r>
                    </a:p>
                  </a:txBody>
                  <a:tcPr marT="27432" marB="27432">
                    <a:solidFill>
                      <a:srgbClr val="FFFFFF"/>
                    </a:solidFill>
                  </a:tcPr>
                </a:tc>
              </a:tr>
              <a:tr h="384048">
                <a:tc>
                  <a:txBody>
                    <a:bodyPr/>
                    <a:lstStyle/>
                    <a:p>
                      <a:r>
                        <a:rPr sz="1200">
                          <a:solidFill>
                            <a:srgbClr val="475569"/>
                          </a:solidFill>
                          <a:latin typeface="Calibri"/>
                        </a:rPr>
                        <a:t>rl-markov</a:t>
                      </a:r>
                    </a:p>
                  </a:txBody>
                  <a:tcPr marT="27432" marB="27432">
                    <a:solidFill>
                      <a:srgbClr val="F1F5F9"/>
                    </a:solidFill>
                  </a:tcPr>
                </a:tc>
                <a:tc>
                  <a:txBody>
                    <a:bodyPr/>
                    <a:lstStyle/>
                    <a:p>
                      <a:r>
                        <a:rPr sz="1200">
                          <a:solidFill>
                            <a:srgbClr val="475569"/>
                          </a:solidFill>
                          <a:latin typeface="Calibri"/>
                        </a:rPr>
                        <a:t>MarkovPlanner</a:t>
                      </a:r>
                    </a:p>
                  </a:txBody>
                  <a:tcPr marT="27432" marB="27432">
                    <a:solidFill>
                      <a:srgbClr val="F1F5F9"/>
                    </a:solidFill>
                  </a:tcPr>
                </a:tc>
                <a:tc>
                  <a:txBody>
                    <a:bodyPr/>
                    <a:lstStyle/>
                    <a:p>
                      <a:r>
                        <a:rPr sz="1200">
                          <a:solidFill>
                            <a:srgbClr val="475569"/>
                          </a:solidFill>
                          <a:latin typeface="Calibri"/>
                        </a:rPr>
                        <a:t>MDP + Tchebycheff, gamma 0.92</a:t>
                      </a:r>
                    </a:p>
                  </a:txBody>
                  <a:tcPr marT="27432" marB="27432">
                    <a:solidFill>
                      <a:srgbClr val="F1F5F9"/>
                    </a:solidFill>
                  </a:tcPr>
                </a:tc>
              </a:tr>
            </a:tbl>
          </a:graphicData>
        </a:graphic>
      </p:graphicFrame>
      <p:sp>
        <p:nvSpPr>
          <p:cNvPr id="8" name="Rectangle 7"/>
          <p:cNvSpPr/>
          <p:nvPr/>
        </p:nvSpPr>
        <p:spPr>
          <a:xfrm>
            <a:off x="7315200" y="1188720"/>
            <a:ext cx="4480560" cy="50292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0" y="1188720"/>
            <a:ext cx="73152" cy="50292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79" y="1261872"/>
            <a:ext cx="4206240" cy="457200"/>
          </a:xfrm>
          <a:prstGeom prst="rect">
            <a:avLst/>
          </a:prstGeom>
          <a:noFill/>
        </p:spPr>
        <p:txBody>
          <a:bodyPr wrap="square" anchor="t">
            <a:spAutoFit/>
          </a:bodyPr>
          <a:lstStyle/>
          <a:p>
            <a:pPr algn="l">
              <a:spcAft>
                <a:spcPts val="500"/>
              </a:spcAft>
            </a:pPr>
            <a:r>
              <a:rPr sz="1800" b="1">
                <a:solidFill>
                  <a:srgbClr val="2563EB"/>
                </a:solidFill>
                <a:latin typeface="Calibri"/>
              </a:rPr>
              <a:t>Cost model (per stage)</a:t>
            </a:r>
          </a:p>
        </p:txBody>
      </p:sp>
      <p:sp>
        <p:nvSpPr>
          <p:cNvPr id="11" name="TextBox 10"/>
          <p:cNvSpPr txBox="1"/>
          <p:nvPr/>
        </p:nvSpPr>
        <p:spPr>
          <a:xfrm>
            <a:off x="7498079" y="1737360"/>
            <a:ext cx="4160520" cy="4434840"/>
          </a:xfrm>
          <a:prstGeom prst="rect">
            <a:avLst/>
          </a:prstGeom>
          <a:noFill/>
        </p:spPr>
        <p:txBody>
          <a:bodyPr wrap="square" anchor="t">
            <a:spAutoFit/>
          </a:bodyPr>
          <a:lstStyle/>
          <a:p>
            <a:pPr algn="l">
              <a:spcAft>
                <a:spcPts val="500"/>
              </a:spcAft>
            </a:pPr>
            <a:r>
              <a:rPr sz="1200" b="0">
                <a:solidFill>
                  <a:srgbClr val="475569"/>
                </a:solidFill>
                <a:latin typeface="Calibri"/>
              </a:rPr>
              <a:t>• Compute: W = 2*size + 120*cores; t = W/(units/10*accel)*(1+0.35*util) + 6000*(1-reliability)</a:t>
            </a:r>
          </a:p>
          <a:p>
            <a:pPr algn="l">
              <a:spcAft>
                <a:spcPts val="500"/>
              </a:spcAft>
            </a:pPr>
            <a:r>
              <a:rPr sz="1200" b="0">
                <a:solidFill>
                  <a:srgbClr val="475569"/>
                </a:solidFill>
                <a:latin typeface="Calibri"/>
              </a:rPr>
              <a:t>• Transfer: 8*size/(speed*850*(1-loss)) + RTT + jitter</a:t>
            </a:r>
          </a:p>
          <a:p>
            <a:pPr algn="l">
              <a:spcAft>
                <a:spcPts val="500"/>
              </a:spcAft>
            </a:pPr>
            <a:r>
              <a:rPr sz="1200" b="0">
                <a:solidFill>
                  <a:srgbClr val="475569"/>
                </a:solidFill>
                <a:latin typeface="Calibri"/>
              </a:rPr>
              <a:t>• Energy: P*(0.12 + 0.88*u^0.85)*t</a:t>
            </a:r>
          </a:p>
          <a:p>
            <a:pPr algn="l">
              <a:spcAft>
                <a:spcPts val="500"/>
              </a:spcAft>
            </a:pPr>
            <a:r>
              <a:rPr sz="1200" b="0">
                <a:solidFill>
                  <a:srgbClr val="475569"/>
                </a:solidFill>
                <a:latin typeface="Calibri"/>
              </a:rPr>
              <a:t>• Risk: weighted blend of trust, wear, crashes, derate, loss, reliability, availability</a:t>
            </a:r>
          </a:p>
          <a:p>
            <a:pPr algn="l">
              <a:spcAft>
                <a:spcPts val="500"/>
              </a:spcAft>
            </a:pPr>
            <a:r>
              <a:rPr sz="1200" b="0">
                <a:solidFill>
                  <a:srgbClr val="475569"/>
                </a:solidFill>
                <a:latin typeface="Calibri"/>
              </a:rPr>
              <a:t>• SLO penalty: ((L/D)^1.2 - 1)/0.002</a:t>
            </a:r>
          </a:p>
          <a:p>
            <a:pPr algn="l">
              <a:spcAft>
                <a:spcPts val="500"/>
              </a:spcAft>
            </a:pPr>
            <a:r>
              <a:rPr sz="1200" b="0">
                <a:solidFill>
                  <a:srgbClr val="475569"/>
                </a:solidFill>
                <a:latin typeface="Calibri"/>
              </a:rPr>
              <a:t>• Cost: rental + electricity + egress; CO2 = kWh x 720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nchor="ctr">
            <a:spAutoFit/>
          </a:bodyPr>
          <a:lstStyle/>
          <a:p>
            <a:pPr algn="l">
              <a:spcAft>
                <a:spcPts val="500"/>
              </a:spcAft>
            </a:pPr>
            <a:r>
              <a:rPr sz="3000" b="1">
                <a:solidFill>
                  <a:srgbClr val="FFFFFF"/>
                </a:solidFill>
                <a:latin typeface="Calibri"/>
              </a:rPr>
              <a:t>Resilient Planner: Algorithm</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500"/>
              </a:spcAft>
            </a:pPr>
            <a:r>
              <a:rPr sz="1100" b="0">
                <a:solidFill>
                  <a:srgbClr val="475569"/>
                </a:solidFill>
                <a:latin typeface="Calibri"/>
              </a:rPr>
              <a:t>• RAP twin | Group 01 | Department Research Colloquium 2026</a:t>
            </a:r>
          </a:p>
        </p:txBody>
      </p:sp>
      <p:sp>
        <p:nvSpPr>
          <p:cNvPr id="6" name="TextBox 5"/>
          <p:cNvSpPr txBox="1"/>
          <p:nvPr/>
        </p:nvSpPr>
        <p:spPr>
          <a:xfrm>
            <a:off x="11155680" y="6446520"/>
            <a:ext cx="731520" cy="320040"/>
          </a:xfrm>
          <a:prstGeom prst="rect">
            <a:avLst/>
          </a:prstGeom>
          <a:noFill/>
        </p:spPr>
        <p:txBody>
          <a:bodyPr wrap="square" anchor="t">
            <a:spAutoFit/>
          </a:bodyPr>
          <a:lstStyle/>
          <a:p>
            <a:pPr algn="r">
              <a:spcAft>
                <a:spcPts val="500"/>
              </a:spcAft>
            </a:pPr>
            <a:r>
              <a:rPr sz="1100" b="0">
                <a:solidFill>
                  <a:srgbClr val="475569"/>
                </a:solidFill>
                <a:latin typeface="Calibri"/>
              </a:rPr>
              <a:t>11</a:t>
            </a:r>
          </a:p>
        </p:txBody>
      </p:sp>
      <p:sp>
        <p:nvSpPr>
          <p:cNvPr id="7" name="Rectangle 6"/>
          <p:cNvSpPr/>
          <p:nvPr/>
        </p:nvSpPr>
        <p:spPr>
          <a:xfrm>
            <a:off x="329184" y="1152144"/>
            <a:ext cx="6382512" cy="4566181"/>
          </a:xfrm>
          <a:prstGeom prst="rect">
            <a:avLst/>
          </a:prstGeom>
          <a:solidFill>
            <a:srgbClr val="FFFFFF"/>
          </a:solidFill>
          <a:ln>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_flow_resilient.png"/>
          <p:cNvPicPr>
            <a:picLocks noChangeAspect="1"/>
          </p:cNvPicPr>
          <p:nvPr/>
        </p:nvPicPr>
        <p:blipFill>
          <a:blip r:embed="rId2"/>
          <a:stretch>
            <a:fillRect/>
          </a:stretch>
        </p:blipFill>
        <p:spPr>
          <a:xfrm>
            <a:off x="365760" y="1188720"/>
            <a:ext cx="6309360" cy="4493029"/>
          </a:xfrm>
          <a:prstGeom prst="rect">
            <a:avLst/>
          </a:prstGeom>
        </p:spPr>
      </p:pic>
      <p:sp>
        <p:nvSpPr>
          <p:cNvPr id="9" name="TextBox 8"/>
          <p:cNvSpPr txBox="1"/>
          <p:nvPr/>
        </p:nvSpPr>
        <p:spPr>
          <a:xfrm>
            <a:off x="182880" y="5745757"/>
            <a:ext cx="6675120" cy="320040"/>
          </a:xfrm>
          <a:prstGeom prst="rect">
            <a:avLst/>
          </a:prstGeom>
          <a:noFill/>
        </p:spPr>
        <p:txBody>
          <a:bodyPr wrap="square" anchor="t">
            <a:spAutoFit/>
          </a:bodyPr>
          <a:lstStyle/>
          <a:p>
            <a:pPr algn="ctr">
              <a:spcAft>
                <a:spcPts val="500"/>
              </a:spcAft>
            </a:pPr>
            <a:r>
              <a:rPr sz="1100" b="0">
                <a:solidFill>
                  <a:srgbClr val="475569"/>
                </a:solidFill>
                <a:latin typeface="Calibri"/>
              </a:rPr>
              <a:t>Flowchart of the resilient planner</a:t>
            </a:r>
          </a:p>
        </p:txBody>
      </p:sp>
      <p:sp>
        <p:nvSpPr>
          <p:cNvPr id="10" name="Rectangle 9"/>
          <p:cNvSpPr/>
          <p:nvPr/>
        </p:nvSpPr>
        <p:spPr>
          <a:xfrm>
            <a:off x="6858000" y="1188720"/>
            <a:ext cx="4937760" cy="2286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0" y="1188720"/>
            <a:ext cx="73152" cy="22860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1261872"/>
            <a:ext cx="4663440" cy="457200"/>
          </a:xfrm>
          <a:prstGeom prst="rect">
            <a:avLst/>
          </a:prstGeom>
          <a:noFill/>
        </p:spPr>
        <p:txBody>
          <a:bodyPr wrap="square" anchor="t">
            <a:spAutoFit/>
          </a:bodyPr>
          <a:lstStyle/>
          <a:p>
            <a:pPr algn="l">
              <a:spcAft>
                <a:spcPts val="500"/>
              </a:spcAft>
            </a:pPr>
            <a:r>
              <a:rPr sz="1800" b="1">
                <a:solidFill>
                  <a:srgbClr val="2563EB"/>
                </a:solidFill>
                <a:latin typeface="Calibri"/>
              </a:rPr>
              <a:t>Additive score (ms, lower is better)</a:t>
            </a:r>
          </a:p>
        </p:txBody>
      </p:sp>
      <p:sp>
        <p:nvSpPr>
          <p:cNvPr id="13" name="TextBox 12"/>
          <p:cNvSpPr txBox="1"/>
          <p:nvPr/>
        </p:nvSpPr>
        <p:spPr>
          <a:xfrm>
            <a:off x="7040880" y="1737360"/>
            <a:ext cx="4617720" cy="1691640"/>
          </a:xfrm>
          <a:prstGeom prst="rect">
            <a:avLst/>
          </a:prstGeom>
          <a:noFill/>
        </p:spPr>
        <p:txBody>
          <a:bodyPr wrap="square" anchor="t">
            <a:spAutoFit/>
          </a:bodyPr>
          <a:lstStyle/>
          <a:p>
            <a:pPr algn="l">
              <a:spcAft>
                <a:spcPts val="500"/>
              </a:spcAft>
            </a:pPr>
            <a:r>
              <a:rPr sz="1300" b="0">
                <a:solidFill>
                  <a:srgbClr val="475569"/>
                </a:solidFill>
                <a:latin typeface="Calibri"/>
              </a:rPr>
              <a:t>• compute + xfer + load + spread + network + resilience + risk + reliability + availability - prev-bonus</a:t>
            </a:r>
          </a:p>
        </p:txBody>
      </p:sp>
      <p:graphicFrame>
        <p:nvGraphicFramePr>
          <p:cNvPr id="14" name="Table 13"/>
          <p:cNvGraphicFramePr>
            <a:graphicFrameLocks noGrp="1"/>
          </p:cNvGraphicFramePr>
          <p:nvPr/>
        </p:nvGraphicFramePr>
        <p:xfrm>
          <a:off x="6858000" y="3611880"/>
          <a:ext cx="4937760" cy="1463040"/>
        </p:xfrm>
        <a:graphic>
          <a:graphicData uri="http://schemas.openxmlformats.org/drawingml/2006/table">
            <a:tbl>
              <a:tblPr firstRow="1" bandRow="1">
                <a:tableStyleId>{5C22544A-7EE6-4342-B048-85BDC9FD1C3A}</a:tableStyleId>
              </a:tblPr>
              <a:tblGrid>
                <a:gridCol w="1645920"/>
                <a:gridCol w="822960"/>
                <a:gridCol w="822960"/>
                <a:gridCol w="822960"/>
                <a:gridCol w="822960"/>
              </a:tblGrid>
              <a:tr h="365760">
                <a:tc>
                  <a:txBody>
                    <a:bodyPr/>
                    <a:lstStyle/>
                    <a:p>
                      <a:r>
                        <a:rPr sz="1200" b="1">
                          <a:solidFill>
                            <a:srgbClr val="FFFFFF"/>
                          </a:solidFill>
                          <a:latin typeface="Calibri"/>
                        </a:rPr>
                        <a:t>Preset</a:t>
                      </a:r>
                    </a:p>
                  </a:txBody>
                  <a:tcPr marT="27432" marB="27432">
                    <a:solidFill>
                      <a:srgbClr val="142A4D"/>
                    </a:solidFill>
                  </a:tcPr>
                </a:tc>
                <a:tc>
                  <a:txBody>
                    <a:bodyPr/>
                    <a:lstStyle/>
                    <a:p>
                      <a:r>
                        <a:rPr sz="1200" b="1">
                          <a:solidFill>
                            <a:srgbClr val="FFFFFF"/>
                          </a:solidFill>
                          <a:latin typeface="Calibri"/>
                        </a:rPr>
                        <a:t>Redund.</a:t>
                      </a:r>
                    </a:p>
                  </a:txBody>
                  <a:tcPr marT="27432" marB="27432">
                    <a:solidFill>
                      <a:srgbClr val="142A4D"/>
                    </a:solidFill>
                  </a:tcPr>
                </a:tc>
                <a:tc>
                  <a:txBody>
                    <a:bodyPr/>
                    <a:lstStyle/>
                    <a:p>
                      <a:r>
                        <a:rPr sz="1200" b="1">
                          <a:solidFill>
                            <a:srgbClr val="FFFFFF"/>
                          </a:solidFill>
                          <a:latin typeface="Calibri"/>
                        </a:rPr>
                        <a:t>Load</a:t>
                      </a:r>
                    </a:p>
                  </a:txBody>
                  <a:tcPr marT="27432" marB="27432">
                    <a:solidFill>
                      <a:srgbClr val="142A4D"/>
                    </a:solidFill>
                  </a:tcPr>
                </a:tc>
                <a:tc>
                  <a:txBody>
                    <a:bodyPr/>
                    <a:lstStyle/>
                    <a:p>
                      <a:r>
                        <a:rPr sz="1200" b="1">
                          <a:solidFill>
                            <a:srgbClr val="FFFFFF"/>
                          </a:solidFill>
                          <a:latin typeface="Calibri"/>
                        </a:rPr>
                        <a:t>Spread</a:t>
                      </a:r>
                    </a:p>
                  </a:txBody>
                  <a:tcPr marT="27432" marB="27432">
                    <a:solidFill>
                      <a:srgbClr val="142A4D"/>
                    </a:solidFill>
                  </a:tcPr>
                </a:tc>
                <a:tc>
                  <a:txBody>
                    <a:bodyPr/>
                    <a:lstStyle/>
                    <a:p>
                      <a:r>
                        <a:rPr sz="1200" b="1">
                          <a:solidFill>
                            <a:srgbClr val="FFFFFF"/>
                          </a:solidFill>
                          <a:latin typeface="Calibri"/>
                        </a:rPr>
                        <a:t>Net</a:t>
                      </a:r>
                    </a:p>
                  </a:txBody>
                  <a:tcPr marT="27432" marB="27432">
                    <a:solidFill>
                      <a:srgbClr val="142A4D"/>
                    </a:solidFill>
                  </a:tcPr>
                </a:tc>
              </a:tr>
              <a:tr h="365760">
                <a:tc>
                  <a:txBody>
                    <a:bodyPr/>
                    <a:lstStyle/>
                    <a:p>
                      <a:r>
                        <a:rPr sz="1200">
                          <a:solidFill>
                            <a:srgbClr val="475569"/>
                          </a:solidFill>
                          <a:latin typeface="Calibri"/>
                        </a:rPr>
                        <a:t>resilient</a:t>
                      </a:r>
                    </a:p>
                  </a:txBody>
                  <a:tcPr marT="27432" marB="27432">
                    <a:solidFill>
                      <a:srgbClr val="F1F5F9"/>
                    </a:solidFill>
                  </a:tcPr>
                </a:tc>
                <a:tc>
                  <a:txBody>
                    <a:bodyPr/>
                    <a:lstStyle/>
                    <a:p>
                      <a:r>
                        <a:rPr sz="1200">
                          <a:solidFill>
                            <a:srgbClr val="475569"/>
                          </a:solidFill>
                          <a:latin typeface="Calibri"/>
                        </a:rPr>
                        <a:t>2</a:t>
                      </a:r>
                    </a:p>
                  </a:txBody>
                  <a:tcPr marT="27432" marB="27432">
                    <a:solidFill>
                      <a:srgbClr val="F1F5F9"/>
                    </a:solidFill>
                  </a:tcPr>
                </a:tc>
                <a:tc>
                  <a:txBody>
                    <a:bodyPr/>
                    <a:lstStyle/>
                    <a:p>
                      <a:r>
                        <a:rPr sz="1200">
                          <a:solidFill>
                            <a:srgbClr val="475569"/>
                          </a:solidFill>
                          <a:latin typeface="Calibri"/>
                        </a:rPr>
                        <a:t>380</a:t>
                      </a:r>
                    </a:p>
                  </a:txBody>
                  <a:tcPr marT="27432" marB="27432">
                    <a:solidFill>
                      <a:srgbClr val="F1F5F9"/>
                    </a:solidFill>
                  </a:tcPr>
                </a:tc>
                <a:tc>
                  <a:txBody>
                    <a:bodyPr/>
                    <a:lstStyle/>
                    <a:p>
                      <a:r>
                        <a:rPr sz="1200">
                          <a:solidFill>
                            <a:srgbClr val="475569"/>
                          </a:solidFill>
                          <a:latin typeface="Calibri"/>
                        </a:rPr>
                        <a:t>210</a:t>
                      </a:r>
                    </a:p>
                  </a:txBody>
                  <a:tcPr marT="27432" marB="27432">
                    <a:solidFill>
                      <a:srgbClr val="F1F5F9"/>
                    </a:solidFill>
                  </a:tcPr>
                </a:tc>
                <a:tc>
                  <a:txBody>
                    <a:bodyPr/>
                    <a:lstStyle/>
                    <a:p>
                      <a:r>
                        <a:rPr sz="1200">
                          <a:solidFill>
                            <a:srgbClr val="475569"/>
                          </a:solidFill>
                          <a:latin typeface="Calibri"/>
                        </a:rPr>
                        <a:t>240</a:t>
                      </a:r>
                    </a:p>
                  </a:txBody>
                  <a:tcPr marT="27432" marB="27432">
                    <a:solidFill>
                      <a:srgbClr val="F1F5F9"/>
                    </a:solidFill>
                  </a:tcPr>
                </a:tc>
              </a:tr>
              <a:tr h="365760">
                <a:tc>
                  <a:txBody>
                    <a:bodyPr/>
                    <a:lstStyle/>
                    <a:p>
                      <a:r>
                        <a:rPr sz="1200">
                          <a:solidFill>
                            <a:srgbClr val="475569"/>
                          </a:solidFill>
                          <a:latin typeface="Calibri"/>
                        </a:rPr>
                        <a:t>network-aware</a:t>
                      </a:r>
                    </a:p>
                  </a:txBody>
                  <a:tcPr marT="27432" marB="27432">
                    <a:solidFill>
                      <a:srgbClr val="FFFFFF"/>
                    </a:solidFill>
                  </a:tcPr>
                </a:tc>
                <a:tc>
                  <a:txBody>
                    <a:bodyPr/>
                    <a:lstStyle/>
                    <a:p>
                      <a:r>
                        <a:rPr sz="1200">
                          <a:solidFill>
                            <a:srgbClr val="475569"/>
                          </a:solidFill>
                          <a:latin typeface="Calibri"/>
                        </a:rPr>
                        <a:t>1</a:t>
                      </a:r>
                    </a:p>
                  </a:txBody>
                  <a:tcPr marT="27432" marB="27432">
                    <a:solidFill>
                      <a:srgbClr val="FFFFFF"/>
                    </a:solidFill>
                  </a:tcPr>
                </a:tc>
                <a:tc>
                  <a:txBody>
                    <a:bodyPr/>
                    <a:lstStyle/>
                    <a:p>
                      <a:r>
                        <a:rPr sz="1200">
                          <a:solidFill>
                            <a:srgbClr val="475569"/>
                          </a:solidFill>
                          <a:latin typeface="Calibri"/>
                        </a:rPr>
                        <a:t>260</a:t>
                      </a:r>
                    </a:p>
                  </a:txBody>
                  <a:tcPr marT="27432" marB="27432">
                    <a:solidFill>
                      <a:srgbClr val="FFFFFF"/>
                    </a:solidFill>
                  </a:tcPr>
                </a:tc>
                <a:tc>
                  <a:txBody>
                    <a:bodyPr/>
                    <a:lstStyle/>
                    <a:p>
                      <a:r>
                        <a:rPr sz="1200">
                          <a:solidFill>
                            <a:srgbClr val="475569"/>
                          </a:solidFill>
                          <a:latin typeface="Calibri"/>
                        </a:rPr>
                        <a:t>140</a:t>
                      </a:r>
                    </a:p>
                  </a:txBody>
                  <a:tcPr marT="27432" marB="27432">
                    <a:solidFill>
                      <a:srgbClr val="FFFFFF"/>
                    </a:solidFill>
                  </a:tcPr>
                </a:tc>
                <a:tc>
                  <a:txBody>
                    <a:bodyPr/>
                    <a:lstStyle/>
                    <a:p>
                      <a:r>
                        <a:rPr sz="1200">
                          <a:solidFill>
                            <a:srgbClr val="475569"/>
                          </a:solidFill>
                          <a:latin typeface="Calibri"/>
                        </a:rPr>
                        <a:t>300</a:t>
                      </a:r>
                    </a:p>
                  </a:txBody>
                  <a:tcPr marT="27432" marB="27432">
                    <a:solidFill>
                      <a:srgbClr val="FFFFFF"/>
                    </a:solidFill>
                  </a:tcPr>
                </a:tc>
              </a:tr>
              <a:tr h="365760">
                <a:tc>
                  <a:txBody>
                    <a:bodyPr/>
                    <a:lstStyle/>
                    <a:p>
                      <a:r>
                        <a:rPr sz="1200">
                          <a:solidFill>
                            <a:srgbClr val="475569"/>
                          </a:solidFill>
                          <a:latin typeface="Calibri"/>
                        </a:rPr>
                        <a:t>federated</a:t>
                      </a:r>
                    </a:p>
                  </a:txBody>
                  <a:tcPr marT="27432" marB="27432">
                    <a:solidFill>
                      <a:srgbClr val="F1F5F9"/>
                    </a:solidFill>
                  </a:tcPr>
                </a:tc>
                <a:tc>
                  <a:txBody>
                    <a:bodyPr/>
                    <a:lstStyle/>
                    <a:p>
                      <a:r>
                        <a:rPr sz="1200">
                          <a:solidFill>
                            <a:srgbClr val="475569"/>
                          </a:solidFill>
                          <a:latin typeface="Calibri"/>
                        </a:rPr>
                        <a:t>3</a:t>
                      </a:r>
                    </a:p>
                  </a:txBody>
                  <a:tcPr marT="27432" marB="27432">
                    <a:solidFill>
                      <a:srgbClr val="F1F5F9"/>
                    </a:solidFill>
                  </a:tcPr>
                </a:tc>
                <a:tc>
                  <a:txBody>
                    <a:bodyPr/>
                    <a:lstStyle/>
                    <a:p>
                      <a:r>
                        <a:rPr sz="1200">
                          <a:solidFill>
                            <a:srgbClr val="475569"/>
                          </a:solidFill>
                          <a:latin typeface="Calibri"/>
                        </a:rPr>
                        <a:t>360</a:t>
                      </a:r>
                    </a:p>
                  </a:txBody>
                  <a:tcPr marT="27432" marB="27432">
                    <a:solidFill>
                      <a:srgbClr val="F1F5F9"/>
                    </a:solidFill>
                  </a:tcPr>
                </a:tc>
                <a:tc>
                  <a:txBody>
                    <a:bodyPr/>
                    <a:lstStyle/>
                    <a:p>
                      <a:r>
                        <a:rPr sz="1200">
                          <a:solidFill>
                            <a:srgbClr val="475569"/>
                          </a:solidFill>
                          <a:latin typeface="Calibri"/>
                        </a:rPr>
                        <a:t>260</a:t>
                      </a:r>
                    </a:p>
                  </a:txBody>
                  <a:tcPr marT="27432" marB="27432">
                    <a:solidFill>
                      <a:srgbClr val="F1F5F9"/>
                    </a:solidFill>
                  </a:tcPr>
                </a:tc>
                <a:tc>
                  <a:txBody>
                    <a:bodyPr/>
                    <a:lstStyle/>
                    <a:p>
                      <a:r>
                        <a:rPr sz="1200">
                          <a:solidFill>
                            <a:srgbClr val="475569"/>
                          </a:solidFill>
                          <a:latin typeface="Calibri"/>
                        </a:rPr>
                        <a:t>230</a:t>
                      </a:r>
                    </a:p>
                  </a:txBody>
                  <a:tcPr marT="27432" marB="27432">
                    <a:solidFill>
                      <a:srgbClr val="F1F5F9"/>
                    </a:solidFill>
                  </a:tcPr>
                </a:tc>
              </a:tr>
            </a:tbl>
          </a:graphicData>
        </a:graphic>
      </p:graphicFrame>
      <p:sp>
        <p:nvSpPr>
          <p:cNvPr id="15" name="TextBox 14"/>
          <p:cNvSpPr txBox="1"/>
          <p:nvPr/>
        </p:nvSpPr>
        <p:spPr>
          <a:xfrm>
            <a:off x="6858000" y="5212080"/>
            <a:ext cx="4937760" cy="1097280"/>
          </a:xfrm>
          <a:prstGeom prst="rect">
            <a:avLst/>
          </a:prstGeom>
          <a:noFill/>
        </p:spPr>
        <p:txBody>
          <a:bodyPr wrap="square" anchor="t">
            <a:spAutoFit/>
          </a:bodyPr>
          <a:lstStyle/>
          <a:p>
            <a:pPr algn="l">
              <a:spcAft>
                <a:spcPts val="500"/>
              </a:spcAft>
            </a:pPr>
            <a:r>
              <a:rPr sz="1300" b="0">
                <a:solidFill>
                  <a:srgbClr val="475569"/>
                </a:solidFill>
                <a:latin typeface="Calibri"/>
              </a:rPr>
              <a:t>• Fallbacks prefer other federations; committed plans reserve shadow nodes that the self-healer can promote instantly.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nchor="ctr">
            <a:spAutoFit/>
          </a:bodyPr>
          <a:lstStyle/>
          <a:p>
            <a:pPr algn="l">
              <a:spcAft>
                <a:spcPts val="500"/>
              </a:spcAft>
            </a:pPr>
            <a:r>
              <a:rPr sz="3000" b="1">
                <a:solidFill>
                  <a:srgbClr val="FFFFFF"/>
                </a:solidFill>
                <a:latin typeface="Calibri"/>
              </a:rPr>
              <a:t>RL-Markov Planner: MDP</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500"/>
              </a:spcAft>
            </a:pPr>
            <a:r>
              <a:rPr sz="1100" b="0">
                <a:solidFill>
                  <a:srgbClr val="475569"/>
                </a:solidFill>
                <a:latin typeface="Calibri"/>
              </a:rPr>
              <a:t>• RAP twin | Group 01 | Department Research Colloquium 2026</a:t>
            </a:r>
          </a:p>
        </p:txBody>
      </p:sp>
      <p:sp>
        <p:nvSpPr>
          <p:cNvPr id="6" name="TextBox 5"/>
          <p:cNvSpPr txBox="1"/>
          <p:nvPr/>
        </p:nvSpPr>
        <p:spPr>
          <a:xfrm>
            <a:off x="11155680" y="6446520"/>
            <a:ext cx="731520" cy="320040"/>
          </a:xfrm>
          <a:prstGeom prst="rect">
            <a:avLst/>
          </a:prstGeom>
          <a:noFill/>
        </p:spPr>
        <p:txBody>
          <a:bodyPr wrap="square" anchor="t">
            <a:spAutoFit/>
          </a:bodyPr>
          <a:lstStyle/>
          <a:p>
            <a:pPr algn="r">
              <a:spcAft>
                <a:spcPts val="500"/>
              </a:spcAft>
            </a:pPr>
            <a:r>
              <a:rPr sz="1100" b="0">
                <a:solidFill>
                  <a:srgbClr val="475569"/>
                </a:solidFill>
                <a:latin typeface="Calibri"/>
              </a:rPr>
              <a:t>12</a:t>
            </a:r>
          </a:p>
        </p:txBody>
      </p:sp>
      <p:sp>
        <p:nvSpPr>
          <p:cNvPr id="7" name="Rectangle 6"/>
          <p:cNvSpPr/>
          <p:nvPr/>
        </p:nvSpPr>
        <p:spPr>
          <a:xfrm>
            <a:off x="329184" y="1152144"/>
            <a:ext cx="6382512" cy="3992602"/>
          </a:xfrm>
          <a:prstGeom prst="rect">
            <a:avLst/>
          </a:prstGeom>
          <a:solidFill>
            <a:srgbClr val="FFFFFF"/>
          </a:solidFill>
          <a:ln>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_flow_mdp.png"/>
          <p:cNvPicPr>
            <a:picLocks noChangeAspect="1"/>
          </p:cNvPicPr>
          <p:nvPr/>
        </p:nvPicPr>
        <p:blipFill>
          <a:blip r:embed="rId2"/>
          <a:stretch>
            <a:fillRect/>
          </a:stretch>
        </p:blipFill>
        <p:spPr>
          <a:xfrm>
            <a:off x="365760" y="1188720"/>
            <a:ext cx="6309360" cy="3919450"/>
          </a:xfrm>
          <a:prstGeom prst="rect">
            <a:avLst/>
          </a:prstGeom>
        </p:spPr>
      </p:pic>
      <p:sp>
        <p:nvSpPr>
          <p:cNvPr id="9" name="TextBox 8"/>
          <p:cNvSpPr txBox="1"/>
          <p:nvPr/>
        </p:nvSpPr>
        <p:spPr>
          <a:xfrm>
            <a:off x="182880" y="5172178"/>
            <a:ext cx="6675120" cy="320040"/>
          </a:xfrm>
          <a:prstGeom prst="rect">
            <a:avLst/>
          </a:prstGeom>
          <a:noFill/>
        </p:spPr>
        <p:txBody>
          <a:bodyPr wrap="square" anchor="t">
            <a:spAutoFit/>
          </a:bodyPr>
          <a:lstStyle/>
          <a:p>
            <a:pPr algn="ctr">
              <a:spcAft>
                <a:spcPts val="500"/>
              </a:spcAft>
            </a:pPr>
            <a:r>
              <a:rPr sz="1100" b="0">
                <a:solidFill>
                  <a:srgbClr val="475569"/>
                </a:solidFill>
                <a:latin typeface="Calibri"/>
              </a:rPr>
              <a:t>Memoised dynamic-programming recursion</a:t>
            </a:r>
          </a:p>
        </p:txBody>
      </p:sp>
      <p:sp>
        <p:nvSpPr>
          <p:cNvPr id="10" name="Rectangle 9"/>
          <p:cNvSpPr/>
          <p:nvPr/>
        </p:nvSpPr>
        <p:spPr>
          <a:xfrm>
            <a:off x="6858000" y="1188720"/>
            <a:ext cx="4937760" cy="21031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0" y="1188720"/>
            <a:ext cx="73152" cy="21031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1261872"/>
            <a:ext cx="4663440" cy="457200"/>
          </a:xfrm>
          <a:prstGeom prst="rect">
            <a:avLst/>
          </a:prstGeom>
          <a:noFill/>
        </p:spPr>
        <p:txBody>
          <a:bodyPr wrap="square" anchor="t">
            <a:spAutoFit/>
          </a:bodyPr>
          <a:lstStyle/>
          <a:p>
            <a:pPr algn="l">
              <a:spcAft>
                <a:spcPts val="500"/>
              </a:spcAft>
            </a:pPr>
            <a:r>
              <a:rPr sz="1800" b="1">
                <a:solidFill>
                  <a:srgbClr val="2563EB"/>
                </a:solidFill>
                <a:latin typeface="Calibri"/>
              </a:rPr>
              <a:t>Bellman recursion</a:t>
            </a:r>
          </a:p>
        </p:txBody>
      </p:sp>
      <p:sp>
        <p:nvSpPr>
          <p:cNvPr id="13" name="TextBox 12"/>
          <p:cNvSpPr txBox="1"/>
          <p:nvPr/>
        </p:nvSpPr>
        <p:spPr>
          <a:xfrm>
            <a:off x="7040880" y="1737360"/>
            <a:ext cx="4617720" cy="1508760"/>
          </a:xfrm>
          <a:prstGeom prst="rect">
            <a:avLst/>
          </a:prstGeom>
          <a:noFill/>
        </p:spPr>
        <p:txBody>
          <a:bodyPr wrap="square" anchor="t">
            <a:spAutoFit/>
          </a:bodyPr>
          <a:lstStyle/>
          <a:p>
            <a:pPr algn="l">
              <a:spcAft>
                <a:spcPts val="500"/>
              </a:spcAft>
            </a:pPr>
            <a:r>
              <a:rPr sz="1300" b="0">
                <a:solidFill>
                  <a:srgbClr val="475569"/>
                </a:solidFill>
                <a:latin typeface="Calibri"/>
              </a:rPr>
              <a:t>• V(i,p) = min_n [ c_i(n) + gamma((1-rho_n) V(i+1,n) + rho_n F) ]</a:t>
            </a:r>
          </a:p>
          <a:p>
            <a:pPr algn="l">
              <a:spcAft>
                <a:spcPts val="500"/>
              </a:spcAft>
            </a:pPr>
            <a:r>
              <a:rPr sz="1300" b="0">
                <a:solidFill>
                  <a:srgbClr val="475569"/>
                </a:solidFill>
                <a:latin typeface="Calibri"/>
              </a:rPr>
              <a:t>• gamma = 0.92, failure penalty F = 10</a:t>
            </a:r>
          </a:p>
        </p:txBody>
      </p:sp>
      <p:graphicFrame>
        <p:nvGraphicFramePr>
          <p:cNvPr id="14" name="Table 13"/>
          <p:cNvGraphicFramePr>
            <a:graphicFrameLocks noGrp="1"/>
          </p:cNvGraphicFramePr>
          <p:nvPr/>
        </p:nvGraphicFramePr>
        <p:xfrm>
          <a:off x="6858000" y="3474720"/>
          <a:ext cx="4937760" cy="2414016"/>
        </p:xfrm>
        <a:graphic>
          <a:graphicData uri="http://schemas.openxmlformats.org/drawingml/2006/table">
            <a:tbl>
              <a:tblPr firstRow="1" bandRow="1">
                <a:tableStyleId>{5C22544A-7EE6-4342-B048-85BDC9FD1C3A}</a:tableStyleId>
              </a:tblPr>
              <a:tblGrid>
                <a:gridCol w="3291840"/>
                <a:gridCol w="1645920"/>
              </a:tblGrid>
              <a:tr h="301752">
                <a:tc>
                  <a:txBody>
                    <a:bodyPr/>
                    <a:lstStyle/>
                    <a:p>
                      <a:r>
                        <a:rPr sz="1100" b="1">
                          <a:solidFill>
                            <a:srgbClr val="FFFFFF"/>
                          </a:solidFill>
                          <a:latin typeface="Calibri"/>
                        </a:rPr>
                        <a:t>Criterion</a:t>
                      </a:r>
                    </a:p>
                  </a:txBody>
                  <a:tcPr marT="27432" marB="27432">
                    <a:solidFill>
                      <a:srgbClr val="142A4D"/>
                    </a:solidFill>
                  </a:tcPr>
                </a:tc>
                <a:tc>
                  <a:txBody>
                    <a:bodyPr/>
                    <a:lstStyle/>
                    <a:p>
                      <a:r>
                        <a:rPr sz="1100" b="1">
                          <a:solidFill>
                            <a:srgbClr val="FFFFFF"/>
                          </a:solidFill>
                          <a:latin typeface="Calibri"/>
                        </a:rPr>
                        <a:t>Weight</a:t>
                      </a:r>
                    </a:p>
                  </a:txBody>
                  <a:tcPr marT="27432" marB="27432">
                    <a:solidFill>
                      <a:srgbClr val="142A4D"/>
                    </a:solidFill>
                  </a:tcPr>
                </a:tc>
              </a:tr>
              <a:tr h="301752">
                <a:tc>
                  <a:txBody>
                    <a:bodyPr/>
                    <a:lstStyle/>
                    <a:p>
                      <a:r>
                        <a:rPr sz="1100">
                          <a:solidFill>
                            <a:srgbClr val="475569"/>
                          </a:solidFill>
                          <a:latin typeface="Calibri"/>
                        </a:rPr>
                        <a:t>latency</a:t>
                      </a:r>
                    </a:p>
                  </a:txBody>
                  <a:tcPr marT="27432" marB="27432">
                    <a:solidFill>
                      <a:srgbClr val="F1F5F9"/>
                    </a:solidFill>
                  </a:tcPr>
                </a:tc>
                <a:tc>
                  <a:txBody>
                    <a:bodyPr/>
                    <a:lstStyle/>
                    <a:p>
                      <a:r>
                        <a:rPr sz="1100">
                          <a:solidFill>
                            <a:srgbClr val="475569"/>
                          </a:solidFill>
                          <a:latin typeface="Calibri"/>
                        </a:rPr>
                        <a:t>0.34</a:t>
                      </a:r>
                    </a:p>
                  </a:txBody>
                  <a:tcPr marT="27432" marB="27432">
                    <a:solidFill>
                      <a:srgbClr val="F1F5F9"/>
                    </a:solidFill>
                  </a:tcPr>
                </a:tc>
              </a:tr>
              <a:tr h="301752">
                <a:tc>
                  <a:txBody>
                    <a:bodyPr/>
                    <a:lstStyle/>
                    <a:p>
                      <a:r>
                        <a:rPr sz="1100">
                          <a:solidFill>
                            <a:srgbClr val="475569"/>
                          </a:solidFill>
                          <a:latin typeface="Calibri"/>
                        </a:rPr>
                        <a:t>risk</a:t>
                      </a:r>
                    </a:p>
                  </a:txBody>
                  <a:tcPr marT="27432" marB="27432">
                    <a:solidFill>
                      <a:srgbClr val="FFFFFF"/>
                    </a:solidFill>
                  </a:tcPr>
                </a:tc>
                <a:tc>
                  <a:txBody>
                    <a:bodyPr/>
                    <a:lstStyle/>
                    <a:p>
                      <a:r>
                        <a:rPr sz="1100">
                          <a:solidFill>
                            <a:srgbClr val="475569"/>
                          </a:solidFill>
                          <a:latin typeface="Calibri"/>
                        </a:rPr>
                        <a:t>0.16</a:t>
                      </a:r>
                    </a:p>
                  </a:txBody>
                  <a:tcPr marT="27432" marB="27432">
                    <a:solidFill>
                      <a:srgbClr val="FFFFFF"/>
                    </a:solidFill>
                  </a:tcPr>
                </a:tc>
              </a:tr>
              <a:tr h="301752">
                <a:tc>
                  <a:txBody>
                    <a:bodyPr/>
                    <a:lstStyle/>
                    <a:p>
                      <a:r>
                        <a:rPr sz="1100">
                          <a:solidFill>
                            <a:srgbClr val="475569"/>
                          </a:solidFill>
                          <a:latin typeface="Calibri"/>
                        </a:rPr>
                        <a:t>energy</a:t>
                      </a:r>
                    </a:p>
                  </a:txBody>
                  <a:tcPr marT="27432" marB="27432">
                    <a:solidFill>
                      <a:srgbClr val="F1F5F9"/>
                    </a:solidFill>
                  </a:tcPr>
                </a:tc>
                <a:tc>
                  <a:txBody>
                    <a:bodyPr/>
                    <a:lstStyle/>
                    <a:p>
                      <a:r>
                        <a:rPr sz="1100">
                          <a:solidFill>
                            <a:srgbClr val="475569"/>
                          </a:solidFill>
                          <a:latin typeface="Calibri"/>
                        </a:rPr>
                        <a:t>0.14</a:t>
                      </a:r>
                    </a:p>
                  </a:txBody>
                  <a:tcPr marT="27432" marB="27432">
                    <a:solidFill>
                      <a:srgbClr val="F1F5F9"/>
                    </a:solidFill>
                  </a:tcPr>
                </a:tc>
              </a:tr>
              <a:tr h="301752">
                <a:tc>
                  <a:txBody>
                    <a:bodyPr/>
                    <a:lstStyle/>
                    <a:p>
                      <a:r>
                        <a:rPr sz="1100">
                          <a:solidFill>
                            <a:srgbClr val="475569"/>
                          </a:solidFill>
                          <a:latin typeface="Calibri"/>
                        </a:rPr>
                        <a:t>load</a:t>
                      </a:r>
                    </a:p>
                  </a:txBody>
                  <a:tcPr marT="27432" marB="27432">
                    <a:solidFill>
                      <a:srgbClr val="FFFFFF"/>
                    </a:solidFill>
                  </a:tcPr>
                </a:tc>
                <a:tc>
                  <a:txBody>
                    <a:bodyPr/>
                    <a:lstStyle/>
                    <a:p>
                      <a:r>
                        <a:rPr sz="1100">
                          <a:solidFill>
                            <a:srgbClr val="475569"/>
                          </a:solidFill>
                          <a:latin typeface="Calibri"/>
                        </a:rPr>
                        <a:t>0.10</a:t>
                      </a:r>
                    </a:p>
                  </a:txBody>
                  <a:tcPr marT="27432" marB="27432">
                    <a:solidFill>
                      <a:srgbClr val="FFFFFF"/>
                    </a:solidFill>
                  </a:tcPr>
                </a:tc>
              </a:tr>
              <a:tr h="301752">
                <a:tc>
                  <a:txBody>
                    <a:bodyPr/>
                    <a:lstStyle/>
                    <a:p>
                      <a:r>
                        <a:rPr sz="1100">
                          <a:solidFill>
                            <a:srgbClr val="475569"/>
                          </a:solidFill>
                          <a:latin typeface="Calibri"/>
                        </a:rPr>
                        <a:t>network</a:t>
                      </a:r>
                    </a:p>
                  </a:txBody>
                  <a:tcPr marT="27432" marB="27432">
                    <a:solidFill>
                      <a:srgbClr val="F1F5F9"/>
                    </a:solidFill>
                  </a:tcPr>
                </a:tc>
                <a:tc>
                  <a:txBody>
                    <a:bodyPr/>
                    <a:lstStyle/>
                    <a:p>
                      <a:r>
                        <a:rPr sz="1100">
                          <a:solidFill>
                            <a:srgbClr val="475569"/>
                          </a:solidFill>
                          <a:latin typeface="Calibri"/>
                        </a:rPr>
                        <a:t>0.08</a:t>
                      </a:r>
                    </a:p>
                  </a:txBody>
                  <a:tcPr marT="27432" marB="27432">
                    <a:solidFill>
                      <a:srgbClr val="F1F5F9"/>
                    </a:solidFill>
                  </a:tcPr>
                </a:tc>
              </a:tr>
              <a:tr h="301752">
                <a:tc>
                  <a:txBody>
                    <a:bodyPr/>
                    <a:lstStyle/>
                    <a:p>
                      <a:r>
                        <a:rPr sz="1100">
                          <a:solidFill>
                            <a:srgbClr val="475569"/>
                          </a:solidFill>
                          <a:latin typeface="Calibri"/>
                        </a:rPr>
                        <a:t>federation</a:t>
                      </a:r>
                    </a:p>
                  </a:txBody>
                  <a:tcPr marT="27432" marB="27432">
                    <a:solidFill>
                      <a:srgbClr val="FFFFFF"/>
                    </a:solidFill>
                  </a:tcPr>
                </a:tc>
                <a:tc>
                  <a:txBody>
                    <a:bodyPr/>
                    <a:lstStyle/>
                    <a:p>
                      <a:r>
                        <a:rPr sz="1100">
                          <a:solidFill>
                            <a:srgbClr val="475569"/>
                          </a:solidFill>
                          <a:latin typeface="Calibri"/>
                        </a:rPr>
                        <a:t>0.06</a:t>
                      </a:r>
                    </a:p>
                  </a:txBody>
                  <a:tcPr marT="27432" marB="27432">
                    <a:solidFill>
                      <a:srgbClr val="FFFFFF"/>
                    </a:solidFill>
                  </a:tcPr>
                </a:tc>
              </a:tr>
              <a:tr h="301752">
                <a:tc>
                  <a:txBody>
                    <a:bodyPr/>
                    <a:lstStyle/>
                    <a:p>
                      <a:r>
                        <a:rPr sz="1100">
                          <a:solidFill>
                            <a:srgbClr val="475569"/>
                          </a:solidFill>
                          <a:latin typeface="Calibri"/>
                        </a:rPr>
                        <a:t>RL, reliability, availability</a:t>
                      </a:r>
                    </a:p>
                  </a:txBody>
                  <a:tcPr marT="27432" marB="27432">
                    <a:solidFill>
                      <a:srgbClr val="F1F5F9"/>
                    </a:solidFill>
                  </a:tcPr>
                </a:tc>
                <a:tc>
                  <a:txBody>
                    <a:bodyPr/>
                    <a:lstStyle/>
                    <a:p>
                      <a:r>
                        <a:rPr sz="1100">
                          <a:solidFill>
                            <a:srgbClr val="475569"/>
                          </a:solidFill>
                          <a:latin typeface="Calibri"/>
                        </a:rPr>
                        <a:t>0.04 each</a:t>
                      </a:r>
                    </a:p>
                  </a:txBody>
                  <a:tcPr marT="27432" marB="27432">
                    <a:solidFill>
                      <a:srgbClr val="F1F5F9"/>
                    </a:solidFill>
                  </a:tcPr>
                </a:tc>
              </a:tr>
            </a:tbl>
          </a:graphicData>
        </a:graphic>
      </p:graphicFrame>
      <p:sp>
        <p:nvSpPr>
          <p:cNvPr id="15" name="TextBox 14"/>
          <p:cNvSpPr txBox="1"/>
          <p:nvPr/>
        </p:nvSpPr>
        <p:spPr>
          <a:xfrm>
            <a:off x="457200" y="5303520"/>
            <a:ext cx="6217920" cy="1005840"/>
          </a:xfrm>
          <a:prstGeom prst="rect">
            <a:avLst/>
          </a:prstGeom>
          <a:noFill/>
        </p:spPr>
        <p:txBody>
          <a:bodyPr wrap="square" anchor="t">
            <a:spAutoFit/>
          </a:bodyPr>
          <a:lstStyle/>
          <a:p>
            <a:pPr algn="l">
              <a:spcAft>
                <a:spcPts val="500"/>
              </a:spcAft>
            </a:pPr>
            <a:r>
              <a:rPr sz="1300" b="0">
                <a:solidFill>
                  <a:srgbClr val="475569"/>
                </a:solidFill>
                <a:latin typeface="Calibri"/>
              </a:rPr>
              <a:t>• Complexity O(m*|N|^2): about 35,000 cost evaluations per job, hence 1.6 s planning. Caveat: stages are scored against an unmodified snapshot, so they can be stacked on one node.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nchor="ctr">
            <a:spAutoFit/>
          </a:bodyPr>
          <a:lstStyle/>
          <a:p>
            <a:pPr algn="l">
              <a:spcAft>
                <a:spcPts val="500"/>
              </a:spcAft>
            </a:pPr>
            <a:r>
              <a:rPr sz="3000" b="1">
                <a:solidFill>
                  <a:srgbClr val="FFFFFF"/>
                </a:solidFill>
                <a:latin typeface="Calibri"/>
              </a:rPr>
              <a:t>Chaos Engine, Self-Healing and CI Gate</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500"/>
              </a:spcAft>
            </a:pPr>
            <a:r>
              <a:rPr sz="1100" b="0">
                <a:solidFill>
                  <a:srgbClr val="475569"/>
                </a:solidFill>
                <a:latin typeface="Calibri"/>
              </a:rPr>
              <a:t>• RAP twin | Group 01 | Department Research Colloquium 2026</a:t>
            </a:r>
          </a:p>
        </p:txBody>
      </p:sp>
      <p:sp>
        <p:nvSpPr>
          <p:cNvPr id="6" name="TextBox 5"/>
          <p:cNvSpPr txBox="1"/>
          <p:nvPr/>
        </p:nvSpPr>
        <p:spPr>
          <a:xfrm>
            <a:off x="11155680" y="6446520"/>
            <a:ext cx="731520" cy="320040"/>
          </a:xfrm>
          <a:prstGeom prst="rect">
            <a:avLst/>
          </a:prstGeom>
          <a:noFill/>
        </p:spPr>
        <p:txBody>
          <a:bodyPr wrap="square" anchor="t">
            <a:spAutoFit/>
          </a:bodyPr>
          <a:lstStyle/>
          <a:p>
            <a:pPr algn="r">
              <a:spcAft>
                <a:spcPts val="500"/>
              </a:spcAft>
            </a:pPr>
            <a:r>
              <a:rPr sz="1100" b="0">
                <a:solidFill>
                  <a:srgbClr val="475569"/>
                </a:solidFill>
                <a:latin typeface="Calibri"/>
              </a:rPr>
              <a:t>13</a:t>
            </a:r>
          </a:p>
        </p:txBody>
      </p:sp>
      <p:sp>
        <p:nvSpPr>
          <p:cNvPr id="7" name="Rectangle 6"/>
          <p:cNvSpPr/>
          <p:nvPr/>
        </p:nvSpPr>
        <p:spPr>
          <a:xfrm>
            <a:off x="329184" y="1152144"/>
            <a:ext cx="6369812" cy="3456432"/>
          </a:xfrm>
          <a:prstGeom prst="rect">
            <a:avLst/>
          </a:prstGeom>
          <a:solidFill>
            <a:srgbClr val="FFFFFF"/>
          </a:solidFill>
          <a:ln>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_state_diagram.png"/>
          <p:cNvPicPr>
            <a:picLocks noChangeAspect="1"/>
          </p:cNvPicPr>
          <p:nvPr/>
        </p:nvPicPr>
        <p:blipFill>
          <a:blip r:embed="rId2"/>
          <a:stretch>
            <a:fillRect/>
          </a:stretch>
        </p:blipFill>
        <p:spPr>
          <a:xfrm>
            <a:off x="365760" y="1188720"/>
            <a:ext cx="6296660" cy="3383280"/>
          </a:xfrm>
          <a:prstGeom prst="rect">
            <a:avLst/>
          </a:prstGeom>
        </p:spPr>
      </p:pic>
      <p:sp>
        <p:nvSpPr>
          <p:cNvPr id="9" name="TextBox 8"/>
          <p:cNvSpPr txBox="1"/>
          <p:nvPr/>
        </p:nvSpPr>
        <p:spPr>
          <a:xfrm>
            <a:off x="182880" y="4636008"/>
            <a:ext cx="6662420" cy="320040"/>
          </a:xfrm>
          <a:prstGeom prst="rect">
            <a:avLst/>
          </a:prstGeom>
          <a:noFill/>
        </p:spPr>
        <p:txBody>
          <a:bodyPr wrap="square" anchor="t">
            <a:spAutoFit/>
          </a:bodyPr>
          <a:lstStyle/>
          <a:p>
            <a:pPr algn="ctr">
              <a:spcAft>
                <a:spcPts val="500"/>
              </a:spcAft>
            </a:pPr>
            <a:r>
              <a:rPr sz="1100" b="0">
                <a:solidFill>
                  <a:srgbClr val="475569"/>
                </a:solidFill>
                <a:latin typeface="Calibri"/>
              </a:rPr>
              <a:t>Reservation lifecycle and node health</a:t>
            </a:r>
          </a:p>
        </p:txBody>
      </p:sp>
      <p:graphicFrame>
        <p:nvGraphicFramePr>
          <p:cNvPr id="10" name="Table 9"/>
          <p:cNvGraphicFramePr>
            <a:graphicFrameLocks noGrp="1"/>
          </p:cNvGraphicFramePr>
          <p:nvPr/>
        </p:nvGraphicFramePr>
        <p:xfrm>
          <a:off x="6949440" y="1188720"/>
          <a:ext cx="4846320" cy="2011680"/>
        </p:xfrm>
        <a:graphic>
          <a:graphicData uri="http://schemas.openxmlformats.org/drawingml/2006/table">
            <a:tbl>
              <a:tblPr firstRow="1" bandRow="1">
                <a:tableStyleId>{5C22544A-7EE6-4342-B048-85BDC9FD1C3A}</a:tableStyleId>
              </a:tblPr>
              <a:tblGrid>
                <a:gridCol w="1188720"/>
                <a:gridCol w="3657600"/>
              </a:tblGrid>
              <a:tr h="502920">
                <a:tc>
                  <a:txBody>
                    <a:bodyPr/>
                    <a:lstStyle/>
                    <a:p>
                      <a:r>
                        <a:rPr sz="1100" b="1">
                          <a:solidFill>
                            <a:srgbClr val="FFFFFF"/>
                          </a:solidFill>
                          <a:latin typeface="Calibri"/>
                        </a:rPr>
                        <a:t>Family</a:t>
                      </a:r>
                    </a:p>
                  </a:txBody>
                  <a:tcPr marT="27432" marB="27432">
                    <a:solidFill>
                      <a:srgbClr val="142A4D"/>
                    </a:solidFill>
                  </a:tcPr>
                </a:tc>
                <a:tc>
                  <a:txBody>
                    <a:bodyPr/>
                    <a:lstStyle/>
                    <a:p>
                      <a:r>
                        <a:rPr sz="1100" b="1">
                          <a:solidFill>
                            <a:srgbClr val="FFFFFF"/>
                          </a:solidFill>
                          <a:latin typeface="Calibri"/>
                        </a:rPr>
                        <a:t>Event kinds</a:t>
                      </a:r>
                    </a:p>
                  </a:txBody>
                  <a:tcPr marT="27432" marB="27432">
                    <a:solidFill>
                      <a:srgbClr val="142A4D"/>
                    </a:solidFill>
                  </a:tcPr>
                </a:tc>
              </a:tr>
              <a:tr h="502920">
                <a:tc>
                  <a:txBody>
                    <a:bodyPr/>
                    <a:lstStyle/>
                    <a:p>
                      <a:r>
                        <a:rPr sz="1100">
                          <a:solidFill>
                            <a:srgbClr val="475569"/>
                          </a:solidFill>
                          <a:latin typeface="Calibri"/>
                        </a:rPr>
                        <a:t>Link (4)</a:t>
                      </a:r>
                    </a:p>
                  </a:txBody>
                  <a:tcPr marT="27432" marB="27432">
                    <a:solidFill>
                      <a:srgbClr val="F1F5F9"/>
                    </a:solidFill>
                  </a:tcPr>
                </a:tc>
                <a:tc>
                  <a:txBody>
                    <a:bodyPr/>
                    <a:lstStyle/>
                    <a:p>
                      <a:r>
                        <a:rPr sz="1100">
                          <a:solidFill>
                            <a:srgbClr val="475569"/>
                          </a:solidFill>
                          <a:latin typeface="Calibri"/>
                        </a:rPr>
                        <a:t>degrade, loss_spike, down, up</a:t>
                      </a:r>
                    </a:p>
                  </a:txBody>
                  <a:tcPr marT="27432" marB="27432">
                    <a:solidFill>
                      <a:srgbClr val="F1F5F9"/>
                    </a:solidFill>
                  </a:tcPr>
                </a:tc>
              </a:tr>
              <a:tr h="502920">
                <a:tc>
                  <a:txBody>
                    <a:bodyPr/>
                    <a:lstStyle/>
                    <a:p>
                      <a:r>
                        <a:rPr sz="1100">
                          <a:solidFill>
                            <a:srgbClr val="475569"/>
                          </a:solidFill>
                          <a:latin typeface="Calibri"/>
                        </a:rPr>
                        <a:t>Node (7)</a:t>
                      </a:r>
                    </a:p>
                  </a:txBody>
                  <a:tcPr marT="27432" marB="27432">
                    <a:solidFill>
                      <a:srgbClr val="FFFFFF"/>
                    </a:solidFill>
                  </a:tcPr>
                </a:tc>
                <a:tc>
                  <a:txBody>
                    <a:bodyPr/>
                    <a:lstStyle/>
                    <a:p>
                      <a:r>
                        <a:rPr sz="1100">
                          <a:solidFill>
                            <a:srgbClr val="475569"/>
                          </a:solidFill>
                          <a:latin typeface="Calibri"/>
                        </a:rPr>
                        <a:t>kill, recover, power_cap, thermal_derate, clock_skew, packet_dup, packet_reorder</a:t>
                      </a:r>
                    </a:p>
                  </a:txBody>
                  <a:tcPr marT="27432" marB="27432">
                    <a:solidFill>
                      <a:srgbClr val="FFFFFF"/>
                    </a:solidFill>
                  </a:tcPr>
                </a:tc>
              </a:tr>
              <a:tr h="502920">
                <a:tc>
                  <a:txBody>
                    <a:bodyPr/>
                    <a:lstStyle/>
                    <a:p>
                      <a:r>
                        <a:rPr sz="1100">
                          <a:solidFill>
                            <a:srgbClr val="475569"/>
                          </a:solidFill>
                          <a:latin typeface="Calibri"/>
                        </a:rPr>
                        <a:t>Group (3)</a:t>
                      </a:r>
                    </a:p>
                  </a:txBody>
                  <a:tcPr marT="27432" marB="27432">
                    <a:solidFill>
                      <a:srgbClr val="F1F5F9"/>
                    </a:solidFill>
                  </a:tcPr>
                </a:tc>
                <a:tc>
                  <a:txBody>
                    <a:bodyPr/>
                    <a:lstStyle/>
                    <a:p>
                      <a:r>
                        <a:rPr sz="1100">
                          <a:solidFill>
                            <a:srgbClr val="475569"/>
                          </a:solidFill>
                          <a:latin typeface="Calibri"/>
                        </a:rPr>
                        <a:t>zone_blackout, zone_recover, federation_partition</a:t>
                      </a:r>
                    </a:p>
                  </a:txBody>
                  <a:tcPr marT="27432" marB="27432">
                    <a:solidFill>
                      <a:srgbClr val="F1F5F9"/>
                    </a:solidFill>
                  </a:tcPr>
                </a:tc>
              </a:tr>
            </a:tbl>
          </a:graphicData>
        </a:graphic>
      </p:graphicFrame>
      <p:sp>
        <p:nvSpPr>
          <p:cNvPr id="11" name="Rectangle 10"/>
          <p:cNvSpPr/>
          <p:nvPr/>
        </p:nvSpPr>
        <p:spPr>
          <a:xfrm>
            <a:off x="365760" y="4663440"/>
            <a:ext cx="5669280" cy="16459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4663440"/>
            <a:ext cx="73152" cy="16459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736592"/>
            <a:ext cx="5394960" cy="457200"/>
          </a:xfrm>
          <a:prstGeom prst="rect">
            <a:avLst/>
          </a:prstGeom>
          <a:noFill/>
        </p:spPr>
        <p:txBody>
          <a:bodyPr wrap="square" anchor="t">
            <a:spAutoFit/>
          </a:bodyPr>
          <a:lstStyle/>
          <a:p>
            <a:pPr algn="l">
              <a:spcAft>
                <a:spcPts val="500"/>
              </a:spcAft>
            </a:pPr>
            <a:r>
              <a:rPr sz="1800" b="1">
                <a:solidFill>
                  <a:srgbClr val="B45309"/>
                </a:solidFill>
                <a:latin typeface="Calibri"/>
              </a:rPr>
              <a:t>Self-healing</a:t>
            </a:r>
          </a:p>
        </p:txBody>
      </p:sp>
      <p:sp>
        <p:nvSpPr>
          <p:cNvPr id="14" name="TextBox 13"/>
          <p:cNvSpPr txBox="1"/>
          <p:nvPr/>
        </p:nvSpPr>
        <p:spPr>
          <a:xfrm>
            <a:off x="548640" y="5212079"/>
            <a:ext cx="5349240" cy="1051560"/>
          </a:xfrm>
          <a:prstGeom prst="rect">
            <a:avLst/>
          </a:prstGeom>
          <a:noFill/>
        </p:spPr>
        <p:txBody>
          <a:bodyPr wrap="square" anchor="t">
            <a:spAutoFit/>
          </a:bodyPr>
          <a:lstStyle/>
          <a:p>
            <a:pPr algn="l">
              <a:spcAft>
                <a:spcPts val="500"/>
              </a:spcAft>
            </a:pPr>
            <a:r>
              <a:rPr sz="1200" b="0">
                <a:solidFill>
                  <a:srgbClr val="475569"/>
                </a:solidFill>
                <a:latin typeface="Calibri"/>
              </a:rPr>
              <a:t>• Poll 2.5 s; degraded if down, reliability &lt; 0.75 or window &lt; 90 s</a:t>
            </a:r>
          </a:p>
          <a:p>
            <a:pPr algn="l">
              <a:spcAft>
                <a:spcPts val="500"/>
              </a:spcAft>
            </a:pPr>
            <a:r>
              <a:rPr sz="1200" b="0">
                <a:solidFill>
                  <a:srgbClr val="475569"/>
                </a:solidFill>
                <a:latin typeface="Calibri"/>
              </a:rPr>
              <a:t>• Acts after 2 polls: promote shadow, else fail over; Guardian frees stale reservations</a:t>
            </a:r>
          </a:p>
        </p:txBody>
      </p:sp>
      <p:sp>
        <p:nvSpPr>
          <p:cNvPr id="15" name="Rectangle 14"/>
          <p:cNvSpPr/>
          <p:nvPr/>
        </p:nvSpPr>
        <p:spPr>
          <a:xfrm>
            <a:off x="6217920" y="3200400"/>
            <a:ext cx="5577840" cy="12801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200400"/>
            <a:ext cx="73152" cy="128016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273552"/>
            <a:ext cx="5303520" cy="457200"/>
          </a:xfrm>
          <a:prstGeom prst="rect">
            <a:avLst/>
          </a:prstGeom>
          <a:noFill/>
        </p:spPr>
        <p:txBody>
          <a:bodyPr wrap="square" anchor="t">
            <a:spAutoFit/>
          </a:bodyPr>
          <a:lstStyle/>
          <a:p>
            <a:pPr algn="l">
              <a:spcAft>
                <a:spcPts val="500"/>
              </a:spcAft>
            </a:pPr>
            <a:r>
              <a:rPr sz="1800" b="1">
                <a:solidFill>
                  <a:srgbClr val="15803D"/>
                </a:solidFill>
                <a:latin typeface="Calibri"/>
              </a:rPr>
              <a:t>CI gate</a:t>
            </a:r>
          </a:p>
        </p:txBody>
      </p:sp>
      <p:sp>
        <p:nvSpPr>
          <p:cNvPr id="18" name="TextBox 17"/>
          <p:cNvSpPr txBox="1"/>
          <p:nvPr/>
        </p:nvSpPr>
        <p:spPr>
          <a:xfrm>
            <a:off x="6400800" y="3749039"/>
            <a:ext cx="5257800" cy="685799"/>
          </a:xfrm>
          <a:prstGeom prst="rect">
            <a:avLst/>
          </a:prstGeom>
          <a:noFill/>
        </p:spPr>
        <p:txBody>
          <a:bodyPr wrap="square" anchor="t">
            <a:spAutoFit/>
          </a:bodyPr>
          <a:lstStyle/>
          <a:p>
            <a:pPr algn="l">
              <a:spcAft>
                <a:spcPts val="500"/>
              </a:spcAft>
            </a:pPr>
            <a:r>
              <a:rPr sz="1200" b="0">
                <a:solidFill>
                  <a:srgbClr val="475569"/>
                </a:solidFill>
                <a:latin typeface="Calibri"/>
              </a:rPr>
              <a:t>• Replays faults; fails build on SLA/p95/cost regression vs baseline (seed 7, deadline scale 0.28)</a:t>
            </a:r>
          </a:p>
        </p:txBody>
      </p:sp>
      <p:sp>
        <p:nvSpPr>
          <p:cNvPr id="19" name="Rectangle 18"/>
          <p:cNvSpPr/>
          <p:nvPr/>
        </p:nvSpPr>
        <p:spPr>
          <a:xfrm>
            <a:off x="6217920" y="4663440"/>
            <a:ext cx="5577840" cy="164592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4663440"/>
            <a:ext cx="73152" cy="16459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4736592"/>
            <a:ext cx="5303520" cy="457200"/>
          </a:xfrm>
          <a:prstGeom prst="rect">
            <a:avLst/>
          </a:prstGeom>
          <a:noFill/>
        </p:spPr>
        <p:txBody>
          <a:bodyPr wrap="square" anchor="t">
            <a:spAutoFit/>
          </a:bodyPr>
          <a:lstStyle/>
          <a:p>
            <a:pPr algn="l">
              <a:spcAft>
                <a:spcPts val="500"/>
              </a:spcAft>
            </a:pPr>
            <a:r>
              <a:rPr sz="1800" b="1">
                <a:solidFill>
                  <a:srgbClr val="2563EB"/>
                </a:solidFill>
                <a:latin typeface="Calibri"/>
              </a:rPr>
              <a:t>Analysis tools</a:t>
            </a:r>
          </a:p>
        </p:txBody>
      </p:sp>
      <p:sp>
        <p:nvSpPr>
          <p:cNvPr id="22" name="TextBox 21"/>
          <p:cNvSpPr txBox="1"/>
          <p:nvPr/>
        </p:nvSpPr>
        <p:spPr>
          <a:xfrm>
            <a:off x="6400800" y="5212079"/>
            <a:ext cx="5257800" cy="1051560"/>
          </a:xfrm>
          <a:prstGeom prst="rect">
            <a:avLst/>
          </a:prstGeom>
          <a:noFill/>
        </p:spPr>
        <p:txBody>
          <a:bodyPr wrap="square" anchor="t">
            <a:spAutoFit/>
          </a:bodyPr>
          <a:lstStyle/>
          <a:p>
            <a:pPr algn="l">
              <a:spcAft>
                <a:spcPts val="500"/>
              </a:spcAft>
            </a:pPr>
            <a:r>
              <a:rPr sz="1200" b="0">
                <a:solidFill>
                  <a:srgbClr val="475569"/>
                </a:solidFill>
                <a:latin typeface="Calibri"/>
              </a:rPr>
              <a:t>• Blast radius: BFS minimal breaking fault sets</a:t>
            </a:r>
          </a:p>
          <a:p>
            <a:pPr algn="l">
              <a:spcAft>
                <a:spcPts val="500"/>
              </a:spcAft>
            </a:pPr>
            <a:r>
              <a:rPr sz="1200" b="0">
                <a:solidFill>
                  <a:srgbClr val="475569"/>
                </a:solidFill>
                <a:latin typeface="Calibri"/>
              </a:rPr>
              <a:t>• What-if: fork twin, apply change, diff</a:t>
            </a:r>
          </a:p>
          <a:p>
            <a:pPr algn="l">
              <a:spcAft>
                <a:spcPts val="500"/>
              </a:spcAft>
            </a:pPr>
            <a:r>
              <a:rPr sz="1200" b="0">
                <a:solidFill>
                  <a:srgbClr val="475569"/>
                </a:solidFill>
                <a:latin typeface="Calibri"/>
              </a:rPr>
              <a:t>• Monte-Carlo: seeded trials, mean/p95/p99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nchor="ctr">
            <a:spAutoFit/>
          </a:bodyPr>
          <a:lstStyle/>
          <a:p>
            <a:pPr algn="l">
              <a:spcAft>
                <a:spcPts val="500"/>
              </a:spcAft>
            </a:pPr>
            <a:r>
              <a:rPr sz="3000" b="1">
                <a:solidFill>
                  <a:srgbClr val="FFFFFF"/>
                </a:solidFill>
                <a:latin typeface="Calibri"/>
              </a:rPr>
              <a:t>Dashboard (UI)</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500"/>
              </a:spcAft>
            </a:pPr>
            <a:r>
              <a:rPr sz="1100" b="0">
                <a:solidFill>
                  <a:srgbClr val="475569"/>
                </a:solidFill>
                <a:latin typeface="Calibri"/>
              </a:rPr>
              <a:t>• RAP twin | Group 01 | Department Research Colloquium 2026</a:t>
            </a:r>
          </a:p>
        </p:txBody>
      </p:sp>
      <p:sp>
        <p:nvSpPr>
          <p:cNvPr id="6" name="TextBox 5"/>
          <p:cNvSpPr txBox="1"/>
          <p:nvPr/>
        </p:nvSpPr>
        <p:spPr>
          <a:xfrm>
            <a:off x="11155680" y="6446520"/>
            <a:ext cx="731520" cy="320040"/>
          </a:xfrm>
          <a:prstGeom prst="rect">
            <a:avLst/>
          </a:prstGeom>
          <a:noFill/>
        </p:spPr>
        <p:txBody>
          <a:bodyPr wrap="square" anchor="t">
            <a:spAutoFit/>
          </a:bodyPr>
          <a:lstStyle/>
          <a:p>
            <a:pPr algn="r">
              <a:spcAft>
                <a:spcPts val="500"/>
              </a:spcAft>
            </a:pPr>
            <a:r>
              <a:rPr sz="1100" b="0">
                <a:solidFill>
                  <a:srgbClr val="475569"/>
                </a:solidFill>
                <a:latin typeface="Calibri"/>
              </a:rPr>
              <a:t>14</a:t>
            </a:r>
          </a:p>
        </p:txBody>
      </p:sp>
      <p:sp>
        <p:nvSpPr>
          <p:cNvPr id="7" name="Rectangle 6"/>
          <p:cNvSpPr/>
          <p:nvPr/>
        </p:nvSpPr>
        <p:spPr>
          <a:xfrm>
            <a:off x="329184" y="1152144"/>
            <a:ext cx="6912864" cy="3182112"/>
          </a:xfrm>
          <a:prstGeom prst="rect">
            <a:avLst/>
          </a:prstGeom>
          <a:solidFill>
            <a:srgbClr val="FFFFFF"/>
          </a:solidFill>
          <a:ln>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_ui_navigation.png"/>
          <p:cNvPicPr>
            <a:picLocks noChangeAspect="1"/>
          </p:cNvPicPr>
          <p:nvPr/>
        </p:nvPicPr>
        <p:blipFill>
          <a:blip r:embed="rId2"/>
          <a:stretch>
            <a:fillRect/>
          </a:stretch>
        </p:blipFill>
        <p:spPr>
          <a:xfrm>
            <a:off x="365760" y="1188720"/>
            <a:ext cx="6839712" cy="3108960"/>
          </a:xfrm>
          <a:prstGeom prst="rect">
            <a:avLst/>
          </a:prstGeom>
        </p:spPr>
      </p:pic>
      <p:sp>
        <p:nvSpPr>
          <p:cNvPr id="9" name="TextBox 8"/>
          <p:cNvSpPr txBox="1"/>
          <p:nvPr/>
        </p:nvSpPr>
        <p:spPr>
          <a:xfrm>
            <a:off x="182880" y="4361688"/>
            <a:ext cx="7205472" cy="320040"/>
          </a:xfrm>
          <a:prstGeom prst="rect">
            <a:avLst/>
          </a:prstGeom>
          <a:noFill/>
        </p:spPr>
        <p:txBody>
          <a:bodyPr wrap="square" anchor="t">
            <a:spAutoFit/>
          </a:bodyPr>
          <a:lstStyle/>
          <a:p>
            <a:pPr algn="ctr">
              <a:spcAft>
                <a:spcPts val="500"/>
              </a:spcAft>
            </a:pPr>
            <a:r>
              <a:rPr sz="1100" b="0">
                <a:solidFill>
                  <a:srgbClr val="475569"/>
                </a:solidFill>
                <a:latin typeface="Calibri"/>
              </a:rPr>
              <a:t>Eight tabs of the dashboard</a:t>
            </a:r>
          </a:p>
        </p:txBody>
      </p:sp>
      <p:sp>
        <p:nvSpPr>
          <p:cNvPr id="10" name="Rectangle 9"/>
          <p:cNvSpPr/>
          <p:nvPr/>
        </p:nvSpPr>
        <p:spPr>
          <a:xfrm>
            <a:off x="7461504" y="1152144"/>
            <a:ext cx="4370832" cy="3688660"/>
          </a:xfrm>
          <a:prstGeom prst="rect">
            <a:avLst/>
          </a:prstGeom>
          <a:solidFill>
            <a:srgbClr val="FFFFFF"/>
          </a:solidFill>
          <a:ln>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_ui_dashboard_layout.png"/>
          <p:cNvPicPr>
            <a:picLocks noChangeAspect="1"/>
          </p:cNvPicPr>
          <p:nvPr/>
        </p:nvPicPr>
        <p:blipFill>
          <a:blip r:embed="rId3"/>
          <a:stretch>
            <a:fillRect/>
          </a:stretch>
        </p:blipFill>
        <p:spPr>
          <a:xfrm>
            <a:off x="7498079" y="1188720"/>
            <a:ext cx="4297680" cy="3615508"/>
          </a:xfrm>
          <a:prstGeom prst="rect">
            <a:avLst/>
          </a:prstGeom>
        </p:spPr>
      </p:pic>
      <p:sp>
        <p:nvSpPr>
          <p:cNvPr id="12" name="TextBox 11"/>
          <p:cNvSpPr txBox="1"/>
          <p:nvPr/>
        </p:nvSpPr>
        <p:spPr>
          <a:xfrm>
            <a:off x="7315199" y="4868236"/>
            <a:ext cx="4663440" cy="320040"/>
          </a:xfrm>
          <a:prstGeom prst="rect">
            <a:avLst/>
          </a:prstGeom>
          <a:noFill/>
        </p:spPr>
        <p:txBody>
          <a:bodyPr wrap="square" anchor="t">
            <a:spAutoFit/>
          </a:bodyPr>
          <a:lstStyle/>
          <a:p>
            <a:pPr algn="ctr">
              <a:spcAft>
                <a:spcPts val="500"/>
              </a:spcAft>
            </a:pPr>
            <a:r>
              <a:rPr sz="1100" b="0">
                <a:solidFill>
                  <a:srgbClr val="475569"/>
                </a:solidFill>
                <a:latin typeface="Calibri"/>
              </a:rPr>
              <a:t>Dashboard tab composition</a:t>
            </a:r>
          </a:p>
        </p:txBody>
      </p:sp>
      <p:sp>
        <p:nvSpPr>
          <p:cNvPr id="13" name="Rectangle 12"/>
          <p:cNvSpPr/>
          <p:nvPr/>
        </p:nvSpPr>
        <p:spPr>
          <a:xfrm>
            <a:off x="365760" y="4480560"/>
            <a:ext cx="6949440" cy="18288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4480560"/>
            <a:ext cx="73152" cy="1828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553712"/>
            <a:ext cx="6675120" cy="457200"/>
          </a:xfrm>
          <a:prstGeom prst="rect">
            <a:avLst/>
          </a:prstGeom>
          <a:noFill/>
        </p:spPr>
        <p:txBody>
          <a:bodyPr wrap="square" anchor="t">
            <a:spAutoFit/>
          </a:bodyPr>
          <a:lstStyle/>
          <a:p>
            <a:pPr algn="l">
              <a:spcAft>
                <a:spcPts val="500"/>
              </a:spcAft>
            </a:pPr>
            <a:r>
              <a:rPr sz="1800" b="1">
                <a:solidFill>
                  <a:srgbClr val="2563EB"/>
                </a:solidFill>
                <a:latin typeface="Calibri"/>
              </a:rPr>
              <a:t>Features</a:t>
            </a:r>
          </a:p>
        </p:txBody>
      </p:sp>
      <p:sp>
        <p:nvSpPr>
          <p:cNvPr id="16" name="TextBox 15"/>
          <p:cNvSpPr txBox="1"/>
          <p:nvPr/>
        </p:nvSpPr>
        <p:spPr>
          <a:xfrm>
            <a:off x="548640" y="5029200"/>
            <a:ext cx="6629400" cy="1234440"/>
          </a:xfrm>
          <a:prstGeom prst="rect">
            <a:avLst/>
          </a:prstGeom>
          <a:noFill/>
        </p:spPr>
        <p:txBody>
          <a:bodyPr wrap="square" anchor="t">
            <a:spAutoFit/>
          </a:bodyPr>
          <a:lstStyle/>
          <a:p>
            <a:pPr algn="l">
              <a:spcAft>
                <a:spcPts val="500"/>
              </a:spcAft>
            </a:pPr>
            <a:r>
              <a:rPr sz="1200" b="0">
                <a:solidFill>
                  <a:srgbClr val="475569"/>
                </a:solidFill>
                <a:latin typeface="Calibri"/>
              </a:rPr>
              <a:t>• Live updates via SSE; dark/light theme; phone-friendly menu</a:t>
            </a:r>
          </a:p>
          <a:p>
            <a:pPr algn="l">
              <a:spcAft>
                <a:spcPts val="500"/>
              </a:spcAft>
            </a:pPr>
            <a:r>
              <a:rPr sz="1200" b="0">
                <a:solidFill>
                  <a:srgbClr val="475569"/>
                </a:solidFill>
                <a:latin typeface="Calibri"/>
              </a:rPr>
              <a:t>• Plan composer with dry-run, 17-page in-app docs, per-stage plan detail</a:t>
            </a:r>
          </a:p>
          <a:p>
            <a:pPr algn="l">
              <a:spcAft>
                <a:spcPts val="500"/>
              </a:spcAft>
            </a:pPr>
            <a:r>
              <a:rPr sz="1200" b="0">
                <a:solidFill>
                  <a:srgbClr val="475569"/>
                </a:solidFill>
                <a:latin typeface="Calibri"/>
              </a:rPr>
              <a:t>• Chaos, blast radius, what-if, reservations, incident bundle download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nchor="ctr">
            <a:spAutoFit/>
          </a:bodyPr>
          <a:lstStyle/>
          <a:p>
            <a:pPr algn="l">
              <a:spcAft>
                <a:spcPts val="500"/>
              </a:spcAft>
            </a:pPr>
            <a:r>
              <a:rPr sz="3000" b="1">
                <a:solidFill>
                  <a:srgbClr val="FFFFFF"/>
                </a:solidFill>
                <a:latin typeface="Calibri"/>
              </a:rPr>
              <a:t>Experimental Setup</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500"/>
              </a:spcAft>
            </a:pPr>
            <a:r>
              <a:rPr sz="1100" b="0">
                <a:solidFill>
                  <a:srgbClr val="475569"/>
                </a:solidFill>
                <a:latin typeface="Calibri"/>
              </a:rPr>
              <a:t>• RAP twin | Group 01 | Department Research Colloquium 2026</a:t>
            </a:r>
          </a:p>
        </p:txBody>
      </p:sp>
      <p:sp>
        <p:nvSpPr>
          <p:cNvPr id="6" name="TextBox 5"/>
          <p:cNvSpPr txBox="1"/>
          <p:nvPr/>
        </p:nvSpPr>
        <p:spPr>
          <a:xfrm>
            <a:off x="11155680" y="6446520"/>
            <a:ext cx="731520" cy="320040"/>
          </a:xfrm>
          <a:prstGeom prst="rect">
            <a:avLst/>
          </a:prstGeom>
          <a:noFill/>
        </p:spPr>
        <p:txBody>
          <a:bodyPr wrap="square" anchor="t">
            <a:spAutoFit/>
          </a:bodyPr>
          <a:lstStyle/>
          <a:p>
            <a:pPr algn="r">
              <a:spcAft>
                <a:spcPts val="500"/>
              </a:spcAft>
            </a:pPr>
            <a:r>
              <a:rPr sz="1100" b="0">
                <a:solidFill>
                  <a:srgbClr val="475569"/>
                </a:solidFill>
                <a:latin typeface="Calibri"/>
              </a:rPr>
              <a:t>15</a:t>
            </a:r>
          </a:p>
        </p:txBody>
      </p:sp>
      <p:sp>
        <p:nvSpPr>
          <p:cNvPr id="7" name="Rectangle 6"/>
          <p:cNvSpPr/>
          <p:nvPr/>
        </p:nvSpPr>
        <p:spPr>
          <a:xfrm>
            <a:off x="457200" y="1280160"/>
            <a:ext cx="2103120" cy="14630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371600"/>
            <a:ext cx="2103120" cy="731520"/>
          </a:xfrm>
          <a:prstGeom prst="rect">
            <a:avLst/>
          </a:prstGeom>
          <a:noFill/>
        </p:spPr>
        <p:txBody>
          <a:bodyPr wrap="square" anchor="t">
            <a:spAutoFit/>
          </a:bodyPr>
          <a:lstStyle/>
          <a:p>
            <a:pPr algn="ctr">
              <a:spcAft>
                <a:spcPts val="500"/>
              </a:spcAft>
            </a:pPr>
            <a:r>
              <a:rPr sz="3000" b="1">
                <a:solidFill>
                  <a:srgbClr val="2563EB"/>
                </a:solidFill>
                <a:latin typeface="Calibri"/>
              </a:rPr>
              <a:t>100</a:t>
            </a:r>
          </a:p>
        </p:txBody>
      </p:sp>
      <p:sp>
        <p:nvSpPr>
          <p:cNvPr id="9" name="TextBox 8"/>
          <p:cNvSpPr txBox="1"/>
          <p:nvPr/>
        </p:nvSpPr>
        <p:spPr>
          <a:xfrm>
            <a:off x="457200" y="2103120"/>
            <a:ext cx="2103120" cy="548640"/>
          </a:xfrm>
          <a:prstGeom prst="rect">
            <a:avLst/>
          </a:prstGeom>
          <a:noFill/>
        </p:spPr>
        <p:txBody>
          <a:bodyPr wrap="square" anchor="t">
            <a:spAutoFit/>
          </a:bodyPr>
          <a:lstStyle/>
          <a:p>
            <a:pPr algn="ctr">
              <a:spcAft>
                <a:spcPts val="500"/>
              </a:spcAft>
            </a:pPr>
            <a:r>
              <a:rPr sz="1300" b="0">
                <a:solidFill>
                  <a:srgbClr val="475569"/>
                </a:solidFill>
                <a:latin typeface="Calibri"/>
              </a:rPr>
              <a:t>nodes, 7 classes, 7 zones</a:t>
            </a:r>
          </a:p>
        </p:txBody>
      </p:sp>
      <p:sp>
        <p:nvSpPr>
          <p:cNvPr id="10" name="Rectangle 9"/>
          <p:cNvSpPr/>
          <p:nvPr/>
        </p:nvSpPr>
        <p:spPr>
          <a:xfrm>
            <a:off x="2743200" y="1280160"/>
            <a:ext cx="2103120" cy="14630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0" y="1371600"/>
            <a:ext cx="2103120" cy="731520"/>
          </a:xfrm>
          <a:prstGeom prst="rect">
            <a:avLst/>
          </a:prstGeom>
          <a:noFill/>
        </p:spPr>
        <p:txBody>
          <a:bodyPr wrap="square" anchor="t">
            <a:spAutoFit/>
          </a:bodyPr>
          <a:lstStyle/>
          <a:p>
            <a:pPr algn="ctr">
              <a:spcAft>
                <a:spcPts val="500"/>
              </a:spcAft>
            </a:pPr>
            <a:r>
              <a:rPr sz="3000" b="1">
                <a:solidFill>
                  <a:srgbClr val="2563EB"/>
                </a:solidFill>
                <a:latin typeface="Calibri"/>
              </a:rPr>
              <a:t>2,022</a:t>
            </a:r>
          </a:p>
        </p:txBody>
      </p:sp>
      <p:sp>
        <p:nvSpPr>
          <p:cNvPr id="12" name="TextBox 11"/>
          <p:cNvSpPr txBox="1"/>
          <p:nvPr/>
        </p:nvSpPr>
        <p:spPr>
          <a:xfrm>
            <a:off x="2743200" y="2103120"/>
            <a:ext cx="2103120" cy="548640"/>
          </a:xfrm>
          <a:prstGeom prst="rect">
            <a:avLst/>
          </a:prstGeom>
          <a:noFill/>
        </p:spPr>
        <p:txBody>
          <a:bodyPr wrap="square" anchor="t">
            <a:spAutoFit/>
          </a:bodyPr>
          <a:lstStyle/>
          <a:p>
            <a:pPr algn="ctr">
              <a:spcAft>
                <a:spcPts val="500"/>
              </a:spcAft>
            </a:pPr>
            <a:r>
              <a:rPr sz="1300" b="0">
                <a:solidFill>
                  <a:srgbClr val="475569"/>
                </a:solidFill>
                <a:latin typeface="Calibri"/>
              </a:rPr>
              <a:t>CPU cores</a:t>
            </a:r>
          </a:p>
        </p:txBody>
      </p:sp>
      <p:sp>
        <p:nvSpPr>
          <p:cNvPr id="13" name="Rectangle 12"/>
          <p:cNvSpPr/>
          <p:nvPr/>
        </p:nvSpPr>
        <p:spPr>
          <a:xfrm>
            <a:off x="5029200" y="1280160"/>
            <a:ext cx="2103120" cy="14630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0" y="1371600"/>
            <a:ext cx="2103120" cy="731520"/>
          </a:xfrm>
          <a:prstGeom prst="rect">
            <a:avLst/>
          </a:prstGeom>
          <a:noFill/>
        </p:spPr>
        <p:txBody>
          <a:bodyPr wrap="square" anchor="t">
            <a:spAutoFit/>
          </a:bodyPr>
          <a:lstStyle/>
          <a:p>
            <a:pPr algn="ctr">
              <a:spcAft>
                <a:spcPts val="500"/>
              </a:spcAft>
            </a:pPr>
            <a:r>
              <a:rPr sz="3000" b="1">
                <a:solidFill>
                  <a:srgbClr val="2563EB"/>
                </a:solidFill>
                <a:latin typeface="Calibri"/>
              </a:rPr>
              <a:t>10,508 GB</a:t>
            </a:r>
          </a:p>
        </p:txBody>
      </p:sp>
      <p:sp>
        <p:nvSpPr>
          <p:cNvPr id="15" name="TextBox 14"/>
          <p:cNvSpPr txBox="1"/>
          <p:nvPr/>
        </p:nvSpPr>
        <p:spPr>
          <a:xfrm>
            <a:off x="5029200" y="2103120"/>
            <a:ext cx="2103120" cy="548640"/>
          </a:xfrm>
          <a:prstGeom prst="rect">
            <a:avLst/>
          </a:prstGeom>
          <a:noFill/>
        </p:spPr>
        <p:txBody>
          <a:bodyPr wrap="square" anchor="t">
            <a:spAutoFit/>
          </a:bodyPr>
          <a:lstStyle/>
          <a:p>
            <a:pPr algn="ctr">
              <a:spcAft>
                <a:spcPts val="500"/>
              </a:spcAft>
            </a:pPr>
            <a:r>
              <a:rPr sz="1300" b="0">
                <a:solidFill>
                  <a:srgbClr val="475569"/>
                </a:solidFill>
                <a:latin typeface="Calibri"/>
              </a:rPr>
              <a:t>RAM</a:t>
            </a:r>
          </a:p>
        </p:txBody>
      </p:sp>
      <p:sp>
        <p:nvSpPr>
          <p:cNvPr id="16" name="Rectangle 15"/>
          <p:cNvSpPr/>
          <p:nvPr/>
        </p:nvSpPr>
        <p:spPr>
          <a:xfrm>
            <a:off x="7315200" y="1280160"/>
            <a:ext cx="2103120" cy="14630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1371600"/>
            <a:ext cx="2103120" cy="731520"/>
          </a:xfrm>
          <a:prstGeom prst="rect">
            <a:avLst/>
          </a:prstGeom>
          <a:noFill/>
        </p:spPr>
        <p:txBody>
          <a:bodyPr wrap="square" anchor="t">
            <a:spAutoFit/>
          </a:bodyPr>
          <a:lstStyle/>
          <a:p>
            <a:pPr algn="ctr">
              <a:spcAft>
                <a:spcPts val="500"/>
              </a:spcAft>
            </a:pPr>
            <a:r>
              <a:rPr sz="3000" b="1">
                <a:solidFill>
                  <a:srgbClr val="2563EB"/>
                </a:solidFill>
                <a:latin typeface="Calibri"/>
              </a:rPr>
              <a:t>51</a:t>
            </a:r>
          </a:p>
        </p:txBody>
      </p:sp>
      <p:sp>
        <p:nvSpPr>
          <p:cNvPr id="18" name="TextBox 17"/>
          <p:cNvSpPr txBox="1"/>
          <p:nvPr/>
        </p:nvSpPr>
        <p:spPr>
          <a:xfrm>
            <a:off x="7315200" y="2103120"/>
            <a:ext cx="2103120" cy="548640"/>
          </a:xfrm>
          <a:prstGeom prst="rect">
            <a:avLst/>
          </a:prstGeom>
          <a:noFill/>
        </p:spPr>
        <p:txBody>
          <a:bodyPr wrap="square" anchor="t">
            <a:spAutoFit/>
          </a:bodyPr>
          <a:lstStyle/>
          <a:p>
            <a:pPr algn="ctr">
              <a:spcAft>
                <a:spcPts val="500"/>
              </a:spcAft>
            </a:pPr>
            <a:r>
              <a:rPr sz="1300" b="0">
                <a:solidFill>
                  <a:srgbClr val="475569"/>
                </a:solidFill>
                <a:latin typeface="Calibri"/>
              </a:rPr>
              <a:t>GPU nodes</a:t>
            </a:r>
          </a:p>
        </p:txBody>
      </p:sp>
      <p:sp>
        <p:nvSpPr>
          <p:cNvPr id="19" name="Rectangle 18"/>
          <p:cNvSpPr/>
          <p:nvPr/>
        </p:nvSpPr>
        <p:spPr>
          <a:xfrm>
            <a:off x="9601200" y="1280160"/>
            <a:ext cx="2103120" cy="146304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0" y="1371600"/>
            <a:ext cx="2103120" cy="731520"/>
          </a:xfrm>
          <a:prstGeom prst="rect">
            <a:avLst/>
          </a:prstGeom>
          <a:noFill/>
        </p:spPr>
        <p:txBody>
          <a:bodyPr wrap="square" anchor="t">
            <a:spAutoFit/>
          </a:bodyPr>
          <a:lstStyle/>
          <a:p>
            <a:pPr algn="ctr">
              <a:spcAft>
                <a:spcPts val="500"/>
              </a:spcAft>
            </a:pPr>
            <a:r>
              <a:rPr sz="3000" b="1">
                <a:solidFill>
                  <a:srgbClr val="2563EB"/>
                </a:solidFill>
                <a:latin typeface="Calibri"/>
              </a:rPr>
              <a:t>11 / 36</a:t>
            </a:r>
          </a:p>
        </p:txBody>
      </p:sp>
      <p:sp>
        <p:nvSpPr>
          <p:cNvPr id="21" name="TextBox 20"/>
          <p:cNvSpPr txBox="1"/>
          <p:nvPr/>
        </p:nvSpPr>
        <p:spPr>
          <a:xfrm>
            <a:off x="9601200" y="2103120"/>
            <a:ext cx="2103120" cy="548640"/>
          </a:xfrm>
          <a:prstGeom prst="rect">
            <a:avLst/>
          </a:prstGeom>
          <a:noFill/>
        </p:spPr>
        <p:txBody>
          <a:bodyPr wrap="square" anchor="t">
            <a:spAutoFit/>
          </a:bodyPr>
          <a:lstStyle/>
          <a:p>
            <a:pPr algn="ctr">
              <a:spcAft>
                <a:spcPts val="500"/>
              </a:spcAft>
            </a:pPr>
            <a:r>
              <a:rPr sz="1300" b="0">
                <a:solidFill>
                  <a:srgbClr val="475569"/>
                </a:solidFill>
                <a:latin typeface="Calibri"/>
              </a:rPr>
              <a:t>jobs / stages</a:t>
            </a:r>
          </a:p>
        </p:txBody>
      </p:sp>
      <p:sp>
        <p:nvSpPr>
          <p:cNvPr id="22" name="TextBox 21"/>
          <p:cNvSpPr txBox="1"/>
          <p:nvPr/>
        </p:nvSpPr>
        <p:spPr>
          <a:xfrm>
            <a:off x="457200" y="3017520"/>
            <a:ext cx="11247120" cy="3291840"/>
          </a:xfrm>
          <a:prstGeom prst="rect">
            <a:avLst/>
          </a:prstGeom>
          <a:noFill/>
        </p:spPr>
        <p:txBody>
          <a:bodyPr wrap="square" anchor="t">
            <a:spAutoFit/>
          </a:bodyPr>
          <a:lstStyle/>
          <a:p>
            <a:pPr algn="l">
              <a:spcAft>
                <a:spcPts val="500"/>
              </a:spcAft>
            </a:pPr>
            <a:r>
              <a:rPr sz="1700" b="0">
                <a:solidFill>
                  <a:srgbClr val="475569"/>
                </a:solidFill>
                <a:latin typeface="Calibri"/>
              </a:rPr>
              <a:t>• Fabric: links from 1 Gbps WAN to 400 Gbps InfiniBand</a:t>
            </a:r>
          </a:p>
          <a:p>
            <a:pPr algn="l">
              <a:spcAft>
                <a:spcPts val="500"/>
              </a:spcAft>
            </a:pPr>
            <a:r>
              <a:rPr sz="1700" b="0">
                <a:solidFill>
                  <a:srgbClr val="475569"/>
                </a:solidFill>
                <a:latin typeface="Calibri"/>
              </a:rPr>
              <a:t>• Workload: vision, NLP, analytics, audio, tabular, HPC and mixed-accelerator jobs, each with a deadline</a:t>
            </a:r>
          </a:p>
          <a:p>
            <a:pPr algn="l">
              <a:spcAft>
                <a:spcPts val="500"/>
              </a:spcAft>
            </a:pPr>
            <a:r>
              <a:rPr sz="1700" b="0">
                <a:solidFill>
                  <a:srgbClr val="475569"/>
                </a:solidFill>
                <a:latin typeface="Calibri"/>
              </a:rPr>
              <a:t>• Experiments: (a) dry-run comparison  (b) committed planning with contention  (c) chaos gate under zone events  (d) 1,000-trial Monte-Carlo  (e) what-if and blast radius</a:t>
            </a:r>
          </a:p>
          <a:p>
            <a:pPr algn="l">
              <a:spcAft>
                <a:spcPts val="500"/>
              </a:spcAft>
            </a:pPr>
            <a:r>
              <a:rPr sz="1700" b="0">
                <a:solidFill>
                  <a:srgbClr val="475569"/>
                </a:solidFill>
                <a:latin typeface="Calibri"/>
              </a:rPr>
              <a:t>• Benchmark table: commit 2e7962d, seed 7, first 6 jobs, deadline scale 0.28</a:t>
            </a:r>
          </a:p>
          <a:p>
            <a:pPr algn="l">
              <a:spcAft>
                <a:spcPts val="500"/>
              </a:spcAft>
            </a:pPr>
            <a:r>
              <a:rPr sz="1700" b="0">
                <a:solidFill>
                  <a:srgbClr val="475569"/>
                </a:solidFill>
                <a:latin typeface="Calibri"/>
              </a:rPr>
              <a:t>• All results come from the project's own tools and are reproducible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nchor="ctr">
            <a:spAutoFit/>
          </a:bodyPr>
          <a:lstStyle/>
          <a:p>
            <a:pPr algn="l">
              <a:spcAft>
                <a:spcPts val="500"/>
              </a:spcAft>
            </a:pPr>
            <a:r>
              <a:rPr sz="3000" b="1">
                <a:solidFill>
                  <a:srgbClr val="FFFFFF"/>
                </a:solidFill>
                <a:latin typeface="Calibri"/>
              </a:rPr>
              <a:t>Results: Dry-Run Strategy Comparison</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500"/>
              </a:spcAft>
            </a:pPr>
            <a:r>
              <a:rPr sz="1100" b="0">
                <a:solidFill>
                  <a:srgbClr val="475569"/>
                </a:solidFill>
                <a:latin typeface="Calibri"/>
              </a:rPr>
              <a:t>• RAP twin | Group 01 | Department Research Colloquium 2026</a:t>
            </a:r>
          </a:p>
        </p:txBody>
      </p:sp>
      <p:sp>
        <p:nvSpPr>
          <p:cNvPr id="6" name="TextBox 5"/>
          <p:cNvSpPr txBox="1"/>
          <p:nvPr/>
        </p:nvSpPr>
        <p:spPr>
          <a:xfrm>
            <a:off x="11155680" y="6446520"/>
            <a:ext cx="731520" cy="320040"/>
          </a:xfrm>
          <a:prstGeom prst="rect">
            <a:avLst/>
          </a:prstGeom>
          <a:noFill/>
        </p:spPr>
        <p:txBody>
          <a:bodyPr wrap="square" anchor="t">
            <a:spAutoFit/>
          </a:bodyPr>
          <a:lstStyle/>
          <a:p>
            <a:pPr algn="r">
              <a:spcAft>
                <a:spcPts val="500"/>
              </a:spcAft>
            </a:pPr>
            <a:r>
              <a:rPr sz="1100" b="0">
                <a:solidFill>
                  <a:srgbClr val="475569"/>
                </a:solidFill>
                <a:latin typeface="Calibri"/>
              </a:rPr>
              <a:t>16</a:t>
            </a:r>
          </a:p>
        </p:txBody>
      </p:sp>
      <p:graphicFrame>
        <p:nvGraphicFramePr>
          <p:cNvPr id="7" name="Table 6"/>
          <p:cNvGraphicFramePr>
            <a:graphicFrameLocks noGrp="1"/>
          </p:cNvGraphicFramePr>
          <p:nvPr/>
        </p:nvGraphicFramePr>
        <p:xfrm>
          <a:off x="365760" y="1188720"/>
          <a:ext cx="6583680" cy="3072384"/>
        </p:xfrm>
        <a:graphic>
          <a:graphicData uri="http://schemas.openxmlformats.org/drawingml/2006/table">
            <a:tbl>
              <a:tblPr firstRow="1" bandRow="1">
                <a:tableStyleId>{5C22544A-7EE6-4342-B048-85BDC9FD1C3A}</a:tableStyleId>
              </a:tblPr>
              <a:tblGrid>
                <a:gridCol w="1645920"/>
                <a:gridCol w="822960"/>
                <a:gridCol w="1005840"/>
                <a:gridCol w="1005840"/>
                <a:gridCol w="1005840"/>
                <a:gridCol w="1097280"/>
              </a:tblGrid>
              <a:tr h="384048">
                <a:tc>
                  <a:txBody>
                    <a:bodyPr/>
                    <a:lstStyle/>
                    <a:p>
                      <a:r>
                        <a:rPr sz="1200" b="1">
                          <a:solidFill>
                            <a:srgbClr val="FFFFFF"/>
                          </a:solidFill>
                          <a:latin typeface="Calibri"/>
                        </a:rPr>
                        <a:t>Strategy</a:t>
                      </a:r>
                    </a:p>
                  </a:txBody>
                  <a:tcPr marT="27432" marB="27432">
                    <a:solidFill>
                      <a:srgbClr val="142A4D"/>
                    </a:solidFill>
                  </a:tcPr>
                </a:tc>
                <a:tc>
                  <a:txBody>
                    <a:bodyPr/>
                    <a:lstStyle/>
                    <a:p>
                      <a:r>
                        <a:rPr sz="1200" b="1">
                          <a:solidFill>
                            <a:srgbClr val="FFFFFF"/>
                          </a:solidFill>
                          <a:latin typeface="Calibri"/>
                        </a:rPr>
                        <a:t>Plan ms</a:t>
                      </a:r>
                    </a:p>
                  </a:txBody>
                  <a:tcPr marT="27432" marB="27432">
                    <a:solidFill>
                      <a:srgbClr val="142A4D"/>
                    </a:solidFill>
                  </a:tcPr>
                </a:tc>
                <a:tc>
                  <a:txBody>
                    <a:bodyPr/>
                    <a:lstStyle/>
                    <a:p>
                      <a:r>
                        <a:rPr sz="1200" b="1">
                          <a:solidFill>
                            <a:srgbClr val="FFFFFF"/>
                          </a:solidFill>
                          <a:latin typeface="Calibri"/>
                        </a:rPr>
                        <a:t>Latency ms</a:t>
                      </a:r>
                    </a:p>
                  </a:txBody>
                  <a:tcPr marT="27432" marB="27432">
                    <a:solidFill>
                      <a:srgbClr val="142A4D"/>
                    </a:solidFill>
                  </a:tcPr>
                </a:tc>
                <a:tc>
                  <a:txBody>
                    <a:bodyPr/>
                    <a:lstStyle/>
                    <a:p>
                      <a:r>
                        <a:rPr sz="1200" b="1">
                          <a:solidFill>
                            <a:srgbClr val="FFFFFF"/>
                          </a:solidFill>
                          <a:latin typeface="Calibri"/>
                        </a:rPr>
                        <a:t>Energy kJ</a:t>
                      </a:r>
                    </a:p>
                  </a:txBody>
                  <a:tcPr marT="27432" marB="27432">
                    <a:solidFill>
                      <a:srgbClr val="142A4D"/>
                    </a:solidFill>
                  </a:tcPr>
                </a:tc>
                <a:tc>
                  <a:txBody>
                    <a:bodyPr/>
                    <a:lstStyle/>
                    <a:p>
                      <a:r>
                        <a:rPr sz="1200" b="1">
                          <a:solidFill>
                            <a:srgbClr val="FFFFFF"/>
                          </a:solidFill>
                          <a:latin typeface="Calibri"/>
                        </a:rPr>
                        <a:t>Cost Rs</a:t>
                      </a:r>
                    </a:p>
                  </a:txBody>
                  <a:tcPr marT="27432" marB="27432">
                    <a:solidFill>
                      <a:srgbClr val="142A4D"/>
                    </a:solidFill>
                  </a:tcPr>
                </a:tc>
                <a:tc>
                  <a:txBody>
                    <a:bodyPr/>
                    <a:lstStyle/>
                    <a:p>
                      <a:r>
                        <a:rPr sz="1200" b="1">
                          <a:solidFill>
                            <a:srgbClr val="FFFFFF"/>
                          </a:solidFill>
                          <a:latin typeface="Calibri"/>
                        </a:rPr>
                        <a:t>CO2 mg</a:t>
                      </a:r>
                    </a:p>
                  </a:txBody>
                  <a:tcPr marT="27432" marB="27432">
                    <a:solidFill>
                      <a:srgbClr val="142A4D"/>
                    </a:solidFill>
                  </a:tcPr>
                </a:tc>
              </a:tr>
              <a:tr h="384048">
                <a:tc>
                  <a:txBody>
                    <a:bodyPr/>
                    <a:lstStyle/>
                    <a:p>
                      <a:r>
                        <a:rPr sz="1200">
                          <a:solidFill>
                            <a:srgbClr val="475569"/>
                          </a:solidFill>
                          <a:latin typeface="Calibri"/>
                        </a:rPr>
                        <a:t>Greedy</a:t>
                      </a:r>
                    </a:p>
                  </a:txBody>
                  <a:tcPr marT="27432" marB="27432">
                    <a:solidFill>
                      <a:srgbClr val="F1F5F9"/>
                    </a:solidFill>
                  </a:tcPr>
                </a:tc>
                <a:tc>
                  <a:txBody>
                    <a:bodyPr/>
                    <a:lstStyle/>
                    <a:p>
                      <a:r>
                        <a:rPr sz="1200">
                          <a:solidFill>
                            <a:srgbClr val="475569"/>
                          </a:solidFill>
                          <a:latin typeface="Calibri"/>
                        </a:rPr>
                        <a:t>38.7</a:t>
                      </a:r>
                    </a:p>
                  </a:txBody>
                  <a:tcPr marT="27432" marB="27432">
                    <a:solidFill>
                      <a:srgbClr val="F1F5F9"/>
                    </a:solidFill>
                  </a:tcPr>
                </a:tc>
                <a:tc>
                  <a:txBody>
                    <a:bodyPr/>
                    <a:lstStyle/>
                    <a:p>
                      <a:r>
                        <a:rPr sz="1200">
                          <a:solidFill>
                            <a:srgbClr val="475569"/>
                          </a:solidFill>
                          <a:latin typeface="Calibri"/>
                        </a:rPr>
                        <a:t>1,033</a:t>
                      </a:r>
                    </a:p>
                  </a:txBody>
                  <a:tcPr marT="27432" marB="27432">
                    <a:solidFill>
                      <a:srgbClr val="F1F5F9"/>
                    </a:solidFill>
                  </a:tcPr>
                </a:tc>
                <a:tc>
                  <a:txBody>
                    <a:bodyPr/>
                    <a:lstStyle/>
                    <a:p>
                      <a:r>
                        <a:rPr sz="1200">
                          <a:solidFill>
                            <a:srgbClr val="475569"/>
                          </a:solidFill>
                          <a:latin typeface="Calibri"/>
                        </a:rPr>
                        <a:t>0.1406</a:t>
                      </a:r>
                    </a:p>
                  </a:txBody>
                  <a:tcPr marT="27432" marB="27432">
                    <a:solidFill>
                      <a:srgbClr val="F1F5F9"/>
                    </a:solidFill>
                  </a:tcPr>
                </a:tc>
                <a:tc>
                  <a:txBody>
                    <a:bodyPr/>
                    <a:lstStyle/>
                    <a:p>
                      <a:r>
                        <a:rPr sz="1200">
                          <a:solidFill>
                            <a:srgbClr val="475569"/>
                          </a:solidFill>
                          <a:latin typeface="Calibri"/>
                        </a:rPr>
                        <a:t>0.0563</a:t>
                      </a:r>
                    </a:p>
                  </a:txBody>
                  <a:tcPr marT="27432" marB="27432">
                    <a:solidFill>
                      <a:srgbClr val="F1F5F9"/>
                    </a:solidFill>
                  </a:tcPr>
                </a:tc>
                <a:tc>
                  <a:txBody>
                    <a:bodyPr/>
                    <a:lstStyle/>
                    <a:p>
                      <a:r>
                        <a:rPr sz="1200">
                          <a:solidFill>
                            <a:srgbClr val="475569"/>
                          </a:solidFill>
                          <a:latin typeface="Calibri"/>
                        </a:rPr>
                        <a:t>29.0</a:t>
                      </a:r>
                    </a:p>
                  </a:txBody>
                  <a:tcPr marT="27432" marB="27432">
                    <a:solidFill>
                      <a:srgbClr val="F1F5F9"/>
                    </a:solidFill>
                  </a:tcPr>
                </a:tc>
              </a:tr>
              <a:tr h="384048">
                <a:tc>
                  <a:txBody>
                    <a:bodyPr/>
                    <a:lstStyle/>
                    <a:p>
                      <a:r>
                        <a:rPr sz="1200">
                          <a:solidFill>
                            <a:srgbClr val="475569"/>
                          </a:solidFill>
                          <a:latin typeface="Calibri"/>
                        </a:rPr>
                        <a:t>Cheapest-Energy</a:t>
                      </a:r>
                    </a:p>
                  </a:txBody>
                  <a:tcPr marT="27432" marB="27432">
                    <a:solidFill>
                      <a:srgbClr val="FFFFFF"/>
                    </a:solidFill>
                  </a:tcPr>
                </a:tc>
                <a:tc>
                  <a:txBody>
                    <a:bodyPr/>
                    <a:lstStyle/>
                    <a:p>
                      <a:r>
                        <a:rPr sz="1200">
                          <a:solidFill>
                            <a:srgbClr val="475569"/>
                          </a:solidFill>
                          <a:latin typeface="Calibri"/>
                        </a:rPr>
                        <a:t>37.6</a:t>
                      </a:r>
                    </a:p>
                  </a:txBody>
                  <a:tcPr marT="27432" marB="27432">
                    <a:solidFill>
                      <a:srgbClr val="FFFFFF"/>
                    </a:solidFill>
                  </a:tcPr>
                </a:tc>
                <a:tc>
                  <a:txBody>
                    <a:bodyPr/>
                    <a:lstStyle/>
                    <a:p>
                      <a:r>
                        <a:rPr sz="1200">
                          <a:solidFill>
                            <a:srgbClr val="475569"/>
                          </a:solidFill>
                          <a:latin typeface="Calibri"/>
                        </a:rPr>
                        <a:t>1,033</a:t>
                      </a:r>
                    </a:p>
                  </a:txBody>
                  <a:tcPr marT="27432" marB="27432">
                    <a:solidFill>
                      <a:srgbClr val="FFFFFF"/>
                    </a:solidFill>
                  </a:tcPr>
                </a:tc>
                <a:tc>
                  <a:txBody>
                    <a:bodyPr/>
                    <a:lstStyle/>
                    <a:p>
                      <a:r>
                        <a:rPr sz="1200">
                          <a:solidFill>
                            <a:srgbClr val="475569"/>
                          </a:solidFill>
                          <a:latin typeface="Calibri"/>
                        </a:rPr>
                        <a:t>0.1406</a:t>
                      </a:r>
                    </a:p>
                  </a:txBody>
                  <a:tcPr marT="27432" marB="27432">
                    <a:solidFill>
                      <a:srgbClr val="FFFFFF"/>
                    </a:solidFill>
                  </a:tcPr>
                </a:tc>
                <a:tc>
                  <a:txBody>
                    <a:bodyPr/>
                    <a:lstStyle/>
                    <a:p>
                      <a:r>
                        <a:rPr sz="1200">
                          <a:solidFill>
                            <a:srgbClr val="475569"/>
                          </a:solidFill>
                          <a:latin typeface="Calibri"/>
                        </a:rPr>
                        <a:t>0.0563</a:t>
                      </a:r>
                    </a:p>
                  </a:txBody>
                  <a:tcPr marT="27432" marB="27432">
                    <a:solidFill>
                      <a:srgbClr val="FFFFFF"/>
                    </a:solidFill>
                  </a:tcPr>
                </a:tc>
                <a:tc>
                  <a:txBody>
                    <a:bodyPr/>
                    <a:lstStyle/>
                    <a:p>
                      <a:r>
                        <a:rPr sz="1200">
                          <a:solidFill>
                            <a:srgbClr val="475569"/>
                          </a:solidFill>
                          <a:latin typeface="Calibri"/>
                        </a:rPr>
                        <a:t>29.0</a:t>
                      </a:r>
                    </a:p>
                  </a:txBody>
                  <a:tcPr marT="27432" marB="27432">
                    <a:solidFill>
                      <a:srgbClr val="FFFFFF"/>
                    </a:solidFill>
                  </a:tcPr>
                </a:tc>
              </a:tr>
              <a:tr h="384048">
                <a:tc>
                  <a:txBody>
                    <a:bodyPr/>
                    <a:lstStyle/>
                    <a:p>
                      <a:r>
                        <a:rPr sz="1200">
                          <a:solidFill>
                            <a:srgbClr val="475569"/>
                          </a:solidFill>
                          <a:latin typeface="Calibri"/>
                        </a:rPr>
                        <a:t>Cheapest-Cost</a:t>
                      </a:r>
                    </a:p>
                  </a:txBody>
                  <a:tcPr marT="27432" marB="27432">
                    <a:solidFill>
                      <a:srgbClr val="F1F5F9"/>
                    </a:solidFill>
                  </a:tcPr>
                </a:tc>
                <a:tc>
                  <a:txBody>
                    <a:bodyPr/>
                    <a:lstStyle/>
                    <a:p>
                      <a:r>
                        <a:rPr sz="1200">
                          <a:solidFill>
                            <a:srgbClr val="475569"/>
                          </a:solidFill>
                          <a:latin typeface="Calibri"/>
                        </a:rPr>
                        <a:t>41.5</a:t>
                      </a:r>
                    </a:p>
                  </a:txBody>
                  <a:tcPr marT="27432" marB="27432">
                    <a:solidFill>
                      <a:srgbClr val="F1F5F9"/>
                    </a:solidFill>
                  </a:tcPr>
                </a:tc>
                <a:tc>
                  <a:txBody>
                    <a:bodyPr/>
                    <a:lstStyle/>
                    <a:p>
                      <a:r>
                        <a:rPr sz="1200">
                          <a:solidFill>
                            <a:srgbClr val="475569"/>
                          </a:solidFill>
                          <a:latin typeface="Calibri"/>
                        </a:rPr>
                        <a:t>1,033</a:t>
                      </a:r>
                    </a:p>
                  </a:txBody>
                  <a:tcPr marT="27432" marB="27432">
                    <a:solidFill>
                      <a:srgbClr val="F1F5F9"/>
                    </a:solidFill>
                  </a:tcPr>
                </a:tc>
                <a:tc>
                  <a:txBody>
                    <a:bodyPr/>
                    <a:lstStyle/>
                    <a:p>
                      <a:r>
                        <a:rPr sz="1200">
                          <a:solidFill>
                            <a:srgbClr val="475569"/>
                          </a:solidFill>
                          <a:latin typeface="Calibri"/>
                        </a:rPr>
                        <a:t>0.1406</a:t>
                      </a:r>
                    </a:p>
                  </a:txBody>
                  <a:tcPr marT="27432" marB="27432">
                    <a:solidFill>
                      <a:srgbClr val="F1F5F9"/>
                    </a:solidFill>
                  </a:tcPr>
                </a:tc>
                <a:tc>
                  <a:txBody>
                    <a:bodyPr/>
                    <a:lstStyle/>
                    <a:p>
                      <a:r>
                        <a:rPr sz="1200">
                          <a:solidFill>
                            <a:srgbClr val="475569"/>
                          </a:solidFill>
                          <a:latin typeface="Calibri"/>
                        </a:rPr>
                        <a:t>0.0563</a:t>
                      </a:r>
                    </a:p>
                  </a:txBody>
                  <a:tcPr marT="27432" marB="27432">
                    <a:solidFill>
                      <a:srgbClr val="F1F5F9"/>
                    </a:solidFill>
                  </a:tcPr>
                </a:tc>
                <a:tc>
                  <a:txBody>
                    <a:bodyPr/>
                    <a:lstStyle/>
                    <a:p>
                      <a:r>
                        <a:rPr sz="1200">
                          <a:solidFill>
                            <a:srgbClr val="475569"/>
                          </a:solidFill>
                          <a:latin typeface="Calibri"/>
                        </a:rPr>
                        <a:t>29.0</a:t>
                      </a:r>
                    </a:p>
                  </a:txBody>
                  <a:tcPr marT="27432" marB="27432">
                    <a:solidFill>
                      <a:srgbClr val="F1F5F9"/>
                    </a:solidFill>
                  </a:tcPr>
                </a:tc>
              </a:tr>
              <a:tr h="384048">
                <a:tc>
                  <a:txBody>
                    <a:bodyPr/>
                    <a:lstStyle/>
                    <a:p>
                      <a:r>
                        <a:rPr sz="1200">
                          <a:solidFill>
                            <a:srgbClr val="475569"/>
                          </a:solidFill>
                          <a:latin typeface="Calibri"/>
                        </a:rPr>
                        <a:t>Greenest</a:t>
                      </a:r>
                    </a:p>
                  </a:txBody>
                  <a:tcPr marT="27432" marB="27432">
                    <a:solidFill>
                      <a:srgbClr val="FFFFFF"/>
                    </a:solidFill>
                  </a:tcPr>
                </a:tc>
                <a:tc>
                  <a:txBody>
                    <a:bodyPr/>
                    <a:lstStyle/>
                    <a:p>
                      <a:r>
                        <a:rPr sz="1200">
                          <a:solidFill>
                            <a:srgbClr val="475569"/>
                          </a:solidFill>
                          <a:latin typeface="Calibri"/>
                        </a:rPr>
                        <a:t>41.4</a:t>
                      </a:r>
                    </a:p>
                  </a:txBody>
                  <a:tcPr marT="27432" marB="27432">
                    <a:solidFill>
                      <a:srgbClr val="FFFFFF"/>
                    </a:solidFill>
                  </a:tcPr>
                </a:tc>
                <a:tc>
                  <a:txBody>
                    <a:bodyPr/>
                    <a:lstStyle/>
                    <a:p>
                      <a:r>
                        <a:rPr sz="1200">
                          <a:solidFill>
                            <a:srgbClr val="475569"/>
                          </a:solidFill>
                          <a:latin typeface="Calibri"/>
                        </a:rPr>
                        <a:t>1,033</a:t>
                      </a:r>
                    </a:p>
                  </a:txBody>
                  <a:tcPr marT="27432" marB="27432">
                    <a:solidFill>
                      <a:srgbClr val="FFFFFF"/>
                    </a:solidFill>
                  </a:tcPr>
                </a:tc>
                <a:tc>
                  <a:txBody>
                    <a:bodyPr/>
                    <a:lstStyle/>
                    <a:p>
                      <a:r>
                        <a:rPr sz="1200">
                          <a:solidFill>
                            <a:srgbClr val="475569"/>
                          </a:solidFill>
                          <a:latin typeface="Calibri"/>
                        </a:rPr>
                        <a:t>0.1406</a:t>
                      </a:r>
                    </a:p>
                  </a:txBody>
                  <a:tcPr marT="27432" marB="27432">
                    <a:solidFill>
                      <a:srgbClr val="FFFFFF"/>
                    </a:solidFill>
                  </a:tcPr>
                </a:tc>
                <a:tc>
                  <a:txBody>
                    <a:bodyPr/>
                    <a:lstStyle/>
                    <a:p>
                      <a:r>
                        <a:rPr sz="1200">
                          <a:solidFill>
                            <a:srgbClr val="475569"/>
                          </a:solidFill>
                          <a:latin typeface="Calibri"/>
                        </a:rPr>
                        <a:t>0.0563</a:t>
                      </a:r>
                    </a:p>
                  </a:txBody>
                  <a:tcPr marT="27432" marB="27432">
                    <a:solidFill>
                      <a:srgbClr val="FFFFFF"/>
                    </a:solidFill>
                  </a:tcPr>
                </a:tc>
                <a:tc>
                  <a:txBody>
                    <a:bodyPr/>
                    <a:lstStyle/>
                    <a:p>
                      <a:r>
                        <a:rPr sz="1200">
                          <a:solidFill>
                            <a:srgbClr val="475569"/>
                          </a:solidFill>
                          <a:latin typeface="Calibri"/>
                        </a:rPr>
                        <a:t>29.0</a:t>
                      </a:r>
                    </a:p>
                  </a:txBody>
                  <a:tcPr marT="27432" marB="27432">
                    <a:solidFill>
                      <a:srgbClr val="FFFFFF"/>
                    </a:solidFill>
                  </a:tcPr>
                </a:tc>
              </a:tr>
              <a:tr h="384048">
                <a:tc>
                  <a:txBody>
                    <a:bodyPr/>
                    <a:lstStyle/>
                    <a:p>
                      <a:r>
                        <a:rPr sz="1200">
                          <a:solidFill>
                            <a:srgbClr val="475569"/>
                          </a:solidFill>
                          <a:latin typeface="Calibri"/>
                        </a:rPr>
                        <a:t>Bandit</a:t>
                      </a:r>
                    </a:p>
                  </a:txBody>
                  <a:tcPr marT="27432" marB="27432">
                    <a:solidFill>
                      <a:srgbClr val="F1F5F9"/>
                    </a:solidFill>
                  </a:tcPr>
                </a:tc>
                <a:tc>
                  <a:txBody>
                    <a:bodyPr/>
                    <a:lstStyle/>
                    <a:p>
                      <a:r>
                        <a:rPr sz="1200">
                          <a:solidFill>
                            <a:srgbClr val="475569"/>
                          </a:solidFill>
                          <a:latin typeface="Calibri"/>
                        </a:rPr>
                        <a:t>43.1</a:t>
                      </a:r>
                    </a:p>
                  </a:txBody>
                  <a:tcPr marT="27432" marB="27432">
                    <a:solidFill>
                      <a:srgbClr val="F1F5F9"/>
                    </a:solidFill>
                  </a:tcPr>
                </a:tc>
                <a:tc>
                  <a:txBody>
                    <a:bodyPr/>
                    <a:lstStyle/>
                    <a:p>
                      <a:r>
                        <a:rPr sz="1200">
                          <a:solidFill>
                            <a:srgbClr val="475569"/>
                          </a:solidFill>
                          <a:latin typeface="Calibri"/>
                        </a:rPr>
                        <a:t>1,033</a:t>
                      </a:r>
                    </a:p>
                  </a:txBody>
                  <a:tcPr marT="27432" marB="27432">
                    <a:solidFill>
                      <a:srgbClr val="F1F5F9"/>
                    </a:solidFill>
                  </a:tcPr>
                </a:tc>
                <a:tc>
                  <a:txBody>
                    <a:bodyPr/>
                    <a:lstStyle/>
                    <a:p>
                      <a:r>
                        <a:rPr sz="1200">
                          <a:solidFill>
                            <a:srgbClr val="475569"/>
                          </a:solidFill>
                          <a:latin typeface="Calibri"/>
                        </a:rPr>
                        <a:t>0.1406</a:t>
                      </a:r>
                    </a:p>
                  </a:txBody>
                  <a:tcPr marT="27432" marB="27432">
                    <a:solidFill>
                      <a:srgbClr val="F1F5F9"/>
                    </a:solidFill>
                  </a:tcPr>
                </a:tc>
                <a:tc>
                  <a:txBody>
                    <a:bodyPr/>
                    <a:lstStyle/>
                    <a:p>
                      <a:r>
                        <a:rPr sz="1200">
                          <a:solidFill>
                            <a:srgbClr val="475569"/>
                          </a:solidFill>
                          <a:latin typeface="Calibri"/>
                        </a:rPr>
                        <a:t>0.0563</a:t>
                      </a:r>
                    </a:p>
                  </a:txBody>
                  <a:tcPr marT="27432" marB="27432">
                    <a:solidFill>
                      <a:srgbClr val="F1F5F9"/>
                    </a:solidFill>
                  </a:tcPr>
                </a:tc>
                <a:tc>
                  <a:txBody>
                    <a:bodyPr/>
                    <a:lstStyle/>
                    <a:p>
                      <a:r>
                        <a:rPr sz="1200">
                          <a:solidFill>
                            <a:srgbClr val="475569"/>
                          </a:solidFill>
                          <a:latin typeface="Calibri"/>
                        </a:rPr>
                        <a:t>29.0</a:t>
                      </a:r>
                    </a:p>
                  </a:txBody>
                  <a:tcPr marT="27432" marB="27432">
                    <a:solidFill>
                      <a:srgbClr val="F1F5F9"/>
                    </a:solidFill>
                  </a:tcPr>
                </a:tc>
              </a:tr>
              <a:tr h="384048">
                <a:tc>
                  <a:txBody>
                    <a:bodyPr/>
                    <a:lstStyle/>
                    <a:p>
                      <a:r>
                        <a:rPr sz="1200">
                          <a:solidFill>
                            <a:srgbClr val="475569"/>
                          </a:solidFill>
                          <a:latin typeface="Calibri"/>
                        </a:rPr>
                        <a:t>Resilient</a:t>
                      </a:r>
                    </a:p>
                  </a:txBody>
                  <a:tcPr marT="27432" marB="27432">
                    <a:solidFill>
                      <a:srgbClr val="FFFFFF"/>
                    </a:solidFill>
                  </a:tcPr>
                </a:tc>
                <a:tc>
                  <a:txBody>
                    <a:bodyPr/>
                    <a:lstStyle/>
                    <a:p>
                      <a:r>
                        <a:rPr sz="1200">
                          <a:solidFill>
                            <a:srgbClr val="475569"/>
                          </a:solidFill>
                          <a:latin typeface="Calibri"/>
                        </a:rPr>
                        <a:t>27.7</a:t>
                      </a:r>
                    </a:p>
                  </a:txBody>
                  <a:tcPr marT="27432" marB="27432">
                    <a:solidFill>
                      <a:srgbClr val="FFFFFF"/>
                    </a:solidFill>
                  </a:tcPr>
                </a:tc>
                <a:tc>
                  <a:txBody>
                    <a:bodyPr/>
                    <a:lstStyle/>
                    <a:p>
                      <a:r>
                        <a:rPr sz="1200">
                          <a:solidFill>
                            <a:srgbClr val="475569"/>
                          </a:solidFill>
                          <a:latin typeface="Calibri"/>
                        </a:rPr>
                        <a:t>1,229</a:t>
                      </a:r>
                    </a:p>
                  </a:txBody>
                  <a:tcPr marT="27432" marB="27432">
                    <a:solidFill>
                      <a:srgbClr val="FFFFFF"/>
                    </a:solidFill>
                  </a:tcPr>
                </a:tc>
                <a:tc>
                  <a:txBody>
                    <a:bodyPr/>
                    <a:lstStyle/>
                    <a:p>
                      <a:r>
                        <a:rPr sz="1200">
                          <a:solidFill>
                            <a:srgbClr val="475569"/>
                          </a:solidFill>
                          <a:latin typeface="Calibri"/>
                        </a:rPr>
                        <a:t>0.1417</a:t>
                      </a:r>
                    </a:p>
                  </a:txBody>
                  <a:tcPr marT="27432" marB="27432">
                    <a:solidFill>
                      <a:srgbClr val="FFFFFF"/>
                    </a:solidFill>
                  </a:tcPr>
                </a:tc>
                <a:tc>
                  <a:txBody>
                    <a:bodyPr/>
                    <a:lstStyle/>
                    <a:p>
                      <a:r>
                        <a:rPr sz="1200">
                          <a:solidFill>
                            <a:srgbClr val="475569"/>
                          </a:solidFill>
                          <a:latin typeface="Calibri"/>
                        </a:rPr>
                        <a:t>2.2284</a:t>
                      </a:r>
                    </a:p>
                  </a:txBody>
                  <a:tcPr marT="27432" marB="27432">
                    <a:solidFill>
                      <a:srgbClr val="FFFFFF"/>
                    </a:solidFill>
                  </a:tcPr>
                </a:tc>
                <a:tc>
                  <a:txBody>
                    <a:bodyPr/>
                    <a:lstStyle/>
                    <a:p>
                      <a:r>
                        <a:rPr sz="1200">
                          <a:solidFill>
                            <a:srgbClr val="475569"/>
                          </a:solidFill>
                          <a:latin typeface="Calibri"/>
                        </a:rPr>
                        <a:t>28.6</a:t>
                      </a:r>
                    </a:p>
                  </a:txBody>
                  <a:tcPr marT="27432" marB="27432">
                    <a:solidFill>
                      <a:srgbClr val="FFFFFF"/>
                    </a:solidFill>
                  </a:tcPr>
                </a:tc>
              </a:tr>
              <a:tr h="384048">
                <a:tc>
                  <a:txBody>
                    <a:bodyPr/>
                    <a:lstStyle/>
                    <a:p>
                      <a:r>
                        <a:rPr sz="1200">
                          <a:solidFill>
                            <a:srgbClr val="475569"/>
                          </a:solidFill>
                          <a:latin typeface="Calibri"/>
                        </a:rPr>
                        <a:t>RL-Markov</a:t>
                      </a:r>
                    </a:p>
                  </a:txBody>
                  <a:tcPr marT="27432" marB="27432">
                    <a:solidFill>
                      <a:srgbClr val="F1F5F9"/>
                    </a:solidFill>
                  </a:tcPr>
                </a:tc>
                <a:tc>
                  <a:txBody>
                    <a:bodyPr/>
                    <a:lstStyle/>
                    <a:p>
                      <a:r>
                        <a:rPr sz="1200">
                          <a:solidFill>
                            <a:srgbClr val="475569"/>
                          </a:solidFill>
                          <a:latin typeface="Calibri"/>
                        </a:rPr>
                        <a:t>1,617.8</a:t>
                      </a:r>
                    </a:p>
                  </a:txBody>
                  <a:tcPr marT="27432" marB="27432">
                    <a:solidFill>
                      <a:srgbClr val="F1F5F9"/>
                    </a:solidFill>
                  </a:tcPr>
                </a:tc>
                <a:tc>
                  <a:txBody>
                    <a:bodyPr/>
                    <a:lstStyle/>
                    <a:p>
                      <a:r>
                        <a:rPr sz="1200">
                          <a:solidFill>
                            <a:srgbClr val="475569"/>
                          </a:solidFill>
                          <a:latin typeface="Calibri"/>
                        </a:rPr>
                        <a:t>1,120</a:t>
                      </a:r>
                    </a:p>
                  </a:txBody>
                  <a:tcPr marT="27432" marB="27432">
                    <a:solidFill>
                      <a:srgbClr val="F1F5F9"/>
                    </a:solidFill>
                  </a:tcPr>
                </a:tc>
                <a:tc>
                  <a:txBody>
                    <a:bodyPr/>
                    <a:lstStyle/>
                    <a:p>
                      <a:r>
                        <a:rPr sz="1200">
                          <a:solidFill>
                            <a:srgbClr val="475569"/>
                          </a:solidFill>
                          <a:latin typeface="Calibri"/>
                        </a:rPr>
                        <a:t>0.1782</a:t>
                      </a:r>
                    </a:p>
                  </a:txBody>
                  <a:tcPr marT="27432" marB="27432">
                    <a:solidFill>
                      <a:srgbClr val="F1F5F9"/>
                    </a:solidFill>
                  </a:tcPr>
                </a:tc>
                <a:tc>
                  <a:txBody>
                    <a:bodyPr/>
                    <a:lstStyle/>
                    <a:p>
                      <a:r>
                        <a:rPr sz="1200">
                          <a:solidFill>
                            <a:srgbClr val="475569"/>
                          </a:solidFill>
                          <a:latin typeface="Calibri"/>
                        </a:rPr>
                        <a:t>0.0622</a:t>
                      </a:r>
                    </a:p>
                  </a:txBody>
                  <a:tcPr marT="27432" marB="27432">
                    <a:solidFill>
                      <a:srgbClr val="F1F5F9"/>
                    </a:solidFill>
                  </a:tcPr>
                </a:tc>
                <a:tc>
                  <a:txBody>
                    <a:bodyPr/>
                    <a:lstStyle/>
                    <a:p>
                      <a:r>
                        <a:rPr sz="1200">
                          <a:solidFill>
                            <a:srgbClr val="475569"/>
                          </a:solidFill>
                          <a:latin typeface="Calibri"/>
                        </a:rPr>
                        <a:t>35.8</a:t>
                      </a:r>
                    </a:p>
                  </a:txBody>
                  <a:tcPr marT="27432" marB="27432">
                    <a:solidFill>
                      <a:srgbClr val="F1F5F9"/>
                    </a:solidFill>
                  </a:tcPr>
                </a:tc>
              </a:tr>
            </a:tbl>
          </a:graphicData>
        </a:graphic>
      </p:graphicFrame>
      <p:sp>
        <p:nvSpPr>
          <p:cNvPr id="8" name="Rectangle 7"/>
          <p:cNvSpPr/>
          <p:nvPr/>
        </p:nvSpPr>
        <p:spPr>
          <a:xfrm>
            <a:off x="7095744" y="1152144"/>
            <a:ext cx="4736592" cy="2122239"/>
          </a:xfrm>
          <a:prstGeom prst="rect">
            <a:avLst/>
          </a:prstGeom>
          <a:solidFill>
            <a:srgbClr val="FFFFFF"/>
          </a:solidFill>
          <a:ln>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planner_latency.png"/>
          <p:cNvPicPr>
            <a:picLocks noChangeAspect="1"/>
          </p:cNvPicPr>
          <p:nvPr/>
        </p:nvPicPr>
        <p:blipFill>
          <a:blip r:embed="rId2"/>
          <a:stretch>
            <a:fillRect/>
          </a:stretch>
        </p:blipFill>
        <p:spPr>
          <a:xfrm>
            <a:off x="7132320" y="1188720"/>
            <a:ext cx="4663440" cy="2049087"/>
          </a:xfrm>
          <a:prstGeom prst="rect">
            <a:avLst/>
          </a:prstGeom>
        </p:spPr>
      </p:pic>
      <p:sp>
        <p:nvSpPr>
          <p:cNvPr id="10" name="Rectangle 9"/>
          <p:cNvSpPr/>
          <p:nvPr/>
        </p:nvSpPr>
        <p:spPr>
          <a:xfrm>
            <a:off x="7095744" y="3438144"/>
            <a:ext cx="4736592" cy="1980922"/>
          </a:xfrm>
          <a:prstGeom prst="rect">
            <a:avLst/>
          </a:prstGeom>
          <a:solidFill>
            <a:srgbClr val="FFFFFF"/>
          </a:solidFill>
          <a:ln>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_cost_co2.png"/>
          <p:cNvPicPr>
            <a:picLocks noChangeAspect="1"/>
          </p:cNvPicPr>
          <p:nvPr/>
        </p:nvPicPr>
        <p:blipFill>
          <a:blip r:embed="rId3"/>
          <a:stretch>
            <a:fillRect/>
          </a:stretch>
        </p:blipFill>
        <p:spPr>
          <a:xfrm>
            <a:off x="7132320" y="3474720"/>
            <a:ext cx="4663440" cy="1907770"/>
          </a:xfrm>
          <a:prstGeom prst="rect">
            <a:avLst/>
          </a:prstGeom>
        </p:spPr>
      </p:pic>
      <p:sp>
        <p:nvSpPr>
          <p:cNvPr id="12" name="TextBox 11"/>
          <p:cNvSpPr txBox="1"/>
          <p:nvPr/>
        </p:nvSpPr>
        <p:spPr>
          <a:xfrm>
            <a:off x="457200" y="4480560"/>
            <a:ext cx="6400800" cy="1828800"/>
          </a:xfrm>
          <a:prstGeom prst="rect">
            <a:avLst/>
          </a:prstGeom>
          <a:noFill/>
        </p:spPr>
        <p:txBody>
          <a:bodyPr wrap="square" anchor="t">
            <a:spAutoFit/>
          </a:bodyPr>
          <a:lstStyle/>
          <a:p>
            <a:pPr algn="l">
              <a:spcAft>
                <a:spcPts val="500"/>
              </a:spcAft>
            </a:pPr>
            <a:r>
              <a:rPr sz="1300" b="0">
                <a:solidFill>
                  <a:srgbClr val="475569"/>
                </a:solidFill>
                <a:latin typeface="Calibri"/>
              </a:rPr>
              <a:t>• Five strategies place all 36 stages on hpc-080</a:t>
            </a:r>
          </a:p>
          <a:p>
            <a:pPr algn="l">
              <a:spcAft>
                <a:spcPts val="500"/>
              </a:spcAft>
            </a:pPr>
            <a:r>
              <a:rPr sz="1300" b="0">
                <a:solidFill>
                  <a:srgbClr val="475569"/>
                </a:solidFill>
                <a:latin typeface="Calibri"/>
              </a:rPr>
              <a:t>• Resilient: 97% of cost is cross-zone egress (2.9 zones/job)</a:t>
            </a:r>
          </a:p>
          <a:p>
            <a:pPr algn="l">
              <a:spcAft>
                <a:spcPts val="500"/>
              </a:spcAft>
            </a:pPr>
            <a:r>
              <a:rPr sz="1300" b="0">
                <a:solidFill>
                  <a:srgbClr val="475569"/>
                </a:solidFill>
                <a:latin typeface="Calibri"/>
              </a:rPr>
              <a:t>• Greedy planning 38.7 ms vs SRS target 5 ms: about 60% is node-table copying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nchor="ctr">
            <a:spAutoFit/>
          </a:bodyPr>
          <a:lstStyle/>
          <a:p>
            <a:pPr algn="l">
              <a:spcAft>
                <a:spcPts val="500"/>
              </a:spcAft>
            </a:pPr>
            <a:r>
              <a:rPr sz="3000" b="1">
                <a:solidFill>
                  <a:srgbClr val="FFFFFF"/>
                </a:solidFill>
                <a:latin typeface="Calibri"/>
              </a:rPr>
              <a:t>Results: Contention, Gate and What-If</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500"/>
              </a:spcAft>
            </a:pPr>
            <a:r>
              <a:rPr sz="1100" b="0">
                <a:solidFill>
                  <a:srgbClr val="475569"/>
                </a:solidFill>
                <a:latin typeface="Calibri"/>
              </a:rPr>
              <a:t>• RAP twin | Group 01 | Department Research Colloquium 2026</a:t>
            </a:r>
          </a:p>
        </p:txBody>
      </p:sp>
      <p:sp>
        <p:nvSpPr>
          <p:cNvPr id="6" name="TextBox 5"/>
          <p:cNvSpPr txBox="1"/>
          <p:nvPr/>
        </p:nvSpPr>
        <p:spPr>
          <a:xfrm>
            <a:off x="11155680" y="6446520"/>
            <a:ext cx="731520" cy="320040"/>
          </a:xfrm>
          <a:prstGeom prst="rect">
            <a:avLst/>
          </a:prstGeom>
          <a:noFill/>
        </p:spPr>
        <p:txBody>
          <a:bodyPr wrap="square" anchor="t">
            <a:spAutoFit/>
          </a:bodyPr>
          <a:lstStyle/>
          <a:p>
            <a:pPr algn="r">
              <a:spcAft>
                <a:spcPts val="500"/>
              </a:spcAft>
            </a:pPr>
            <a:r>
              <a:rPr sz="1100" b="0">
                <a:solidFill>
                  <a:srgbClr val="475569"/>
                </a:solidFill>
                <a:latin typeface="Calibri"/>
              </a:rPr>
              <a:t>17</a:t>
            </a:r>
          </a:p>
        </p:txBody>
      </p:sp>
      <p:graphicFrame>
        <p:nvGraphicFramePr>
          <p:cNvPr id="7" name="Table 6"/>
          <p:cNvGraphicFramePr>
            <a:graphicFrameLocks noGrp="1"/>
          </p:cNvGraphicFramePr>
          <p:nvPr/>
        </p:nvGraphicFramePr>
        <p:xfrm>
          <a:off x="365760" y="1188720"/>
          <a:ext cx="6035040" cy="2304288"/>
        </p:xfrm>
        <a:graphic>
          <a:graphicData uri="http://schemas.openxmlformats.org/drawingml/2006/table">
            <a:tbl>
              <a:tblPr firstRow="1" bandRow="1">
                <a:tableStyleId>{5C22544A-7EE6-4342-B048-85BDC9FD1C3A}</a:tableStyleId>
              </a:tblPr>
              <a:tblGrid>
                <a:gridCol w="1737360"/>
                <a:gridCol w="822960"/>
                <a:gridCol w="1188720"/>
                <a:gridCol w="1188720"/>
                <a:gridCol w="1097280"/>
              </a:tblGrid>
              <a:tr h="384048">
                <a:tc>
                  <a:txBody>
                    <a:bodyPr/>
                    <a:lstStyle/>
                    <a:p>
                      <a:r>
                        <a:rPr sz="1200" b="1">
                          <a:solidFill>
                            <a:srgbClr val="FFFFFF"/>
                          </a:solidFill>
                          <a:latin typeface="Calibri"/>
                        </a:rPr>
                        <a:t>Strategy</a:t>
                      </a:r>
                    </a:p>
                  </a:txBody>
                  <a:tcPr marT="27432" marB="27432">
                    <a:solidFill>
                      <a:srgbClr val="142A4D"/>
                    </a:solidFill>
                  </a:tcPr>
                </a:tc>
                <a:tc>
                  <a:txBody>
                    <a:bodyPr/>
                    <a:lstStyle/>
                    <a:p>
                      <a:r>
                        <a:rPr sz="1200" b="1">
                          <a:solidFill>
                            <a:srgbClr val="FFFFFF"/>
                          </a:solidFill>
                          <a:latin typeface="Calibri"/>
                        </a:rPr>
                        <a:t>Infeas.</a:t>
                      </a:r>
                    </a:p>
                  </a:txBody>
                  <a:tcPr marT="27432" marB="27432">
                    <a:solidFill>
                      <a:srgbClr val="142A4D"/>
                    </a:solidFill>
                  </a:tcPr>
                </a:tc>
                <a:tc>
                  <a:txBody>
                    <a:bodyPr/>
                    <a:lstStyle/>
                    <a:p>
                      <a:r>
                        <a:rPr sz="1200" b="1">
                          <a:solidFill>
                            <a:srgbClr val="FFFFFF"/>
                          </a:solidFill>
                          <a:latin typeface="Calibri"/>
                        </a:rPr>
                        <a:t>Mean ms</a:t>
                      </a:r>
                    </a:p>
                  </a:txBody>
                  <a:tcPr marT="27432" marB="27432">
                    <a:solidFill>
                      <a:srgbClr val="142A4D"/>
                    </a:solidFill>
                  </a:tcPr>
                </a:tc>
                <a:tc>
                  <a:txBody>
                    <a:bodyPr/>
                    <a:lstStyle/>
                    <a:p>
                      <a:r>
                        <a:rPr sz="1200" b="1">
                          <a:solidFill>
                            <a:srgbClr val="FFFFFF"/>
                          </a:solidFill>
                          <a:latin typeface="Calibri"/>
                        </a:rPr>
                        <a:t>Cost Rs</a:t>
                      </a:r>
                    </a:p>
                  </a:txBody>
                  <a:tcPr marT="27432" marB="27432">
                    <a:solidFill>
                      <a:srgbClr val="142A4D"/>
                    </a:solidFill>
                  </a:tcPr>
                </a:tc>
                <a:tc>
                  <a:txBody>
                    <a:bodyPr/>
                    <a:lstStyle/>
                    <a:p>
                      <a:r>
                        <a:rPr sz="1200" b="1">
                          <a:solidFill>
                            <a:srgbClr val="FFFFFF"/>
                          </a:solidFill>
                          <a:latin typeface="Calibri"/>
                        </a:rPr>
                        <a:t>Reserv.</a:t>
                      </a:r>
                    </a:p>
                  </a:txBody>
                  <a:tcPr marT="27432" marB="27432">
                    <a:solidFill>
                      <a:srgbClr val="142A4D"/>
                    </a:solidFill>
                  </a:tcPr>
                </a:tc>
              </a:tr>
              <a:tr h="384048">
                <a:tc>
                  <a:txBody>
                    <a:bodyPr/>
                    <a:lstStyle/>
                    <a:p>
                      <a:r>
                        <a:rPr sz="1200">
                          <a:solidFill>
                            <a:srgbClr val="475569"/>
                          </a:solidFill>
                          <a:latin typeface="Calibri"/>
                        </a:rPr>
                        <a:t>Greedy</a:t>
                      </a:r>
                    </a:p>
                  </a:txBody>
                  <a:tcPr marT="27432" marB="27432">
                    <a:solidFill>
                      <a:srgbClr val="F1F5F9"/>
                    </a:solidFill>
                  </a:tcPr>
                </a:tc>
                <a:tc>
                  <a:txBody>
                    <a:bodyPr/>
                    <a:lstStyle/>
                    <a:p>
                      <a:r>
                        <a:rPr sz="1200">
                          <a:solidFill>
                            <a:srgbClr val="475569"/>
                          </a:solidFill>
                          <a:latin typeface="Calibri"/>
                        </a:rPr>
                        <a:t>0</a:t>
                      </a:r>
                    </a:p>
                  </a:txBody>
                  <a:tcPr marT="27432" marB="27432">
                    <a:solidFill>
                      <a:srgbClr val="F1F5F9"/>
                    </a:solidFill>
                  </a:tcPr>
                </a:tc>
                <a:tc>
                  <a:txBody>
                    <a:bodyPr/>
                    <a:lstStyle/>
                    <a:p>
                      <a:r>
                        <a:rPr sz="1200">
                          <a:solidFill>
                            <a:srgbClr val="475569"/>
                          </a:solidFill>
                          <a:latin typeface="Calibri"/>
                        </a:rPr>
                        <a:t>1,100</a:t>
                      </a:r>
                    </a:p>
                  </a:txBody>
                  <a:tcPr marT="27432" marB="27432">
                    <a:solidFill>
                      <a:srgbClr val="F1F5F9"/>
                    </a:solidFill>
                  </a:tcPr>
                </a:tc>
                <a:tc>
                  <a:txBody>
                    <a:bodyPr/>
                    <a:lstStyle/>
                    <a:p>
                      <a:r>
                        <a:rPr sz="1200">
                          <a:solidFill>
                            <a:srgbClr val="475569"/>
                          </a:solidFill>
                          <a:latin typeface="Calibri"/>
                        </a:rPr>
                        <a:t>0.808</a:t>
                      </a:r>
                    </a:p>
                  </a:txBody>
                  <a:tcPr marT="27432" marB="27432">
                    <a:solidFill>
                      <a:srgbClr val="F1F5F9"/>
                    </a:solidFill>
                  </a:tcPr>
                </a:tc>
                <a:tc>
                  <a:txBody>
                    <a:bodyPr/>
                    <a:lstStyle/>
                    <a:p>
                      <a:r>
                        <a:rPr sz="1200">
                          <a:solidFill>
                            <a:srgbClr val="475569"/>
                          </a:solidFill>
                          <a:latin typeface="Calibri"/>
                        </a:rPr>
                        <a:t>36</a:t>
                      </a:r>
                    </a:p>
                  </a:txBody>
                  <a:tcPr marT="27432" marB="27432">
                    <a:solidFill>
                      <a:srgbClr val="F1F5F9"/>
                    </a:solidFill>
                  </a:tcPr>
                </a:tc>
              </a:tr>
              <a:tr h="384048">
                <a:tc>
                  <a:txBody>
                    <a:bodyPr/>
                    <a:lstStyle/>
                    <a:p>
                      <a:r>
                        <a:rPr sz="1200">
                          <a:solidFill>
                            <a:srgbClr val="475569"/>
                          </a:solidFill>
                          <a:latin typeface="Calibri"/>
                        </a:rPr>
                        <a:t>Cheapest-Cost</a:t>
                      </a:r>
                    </a:p>
                  </a:txBody>
                  <a:tcPr marT="27432" marB="27432">
                    <a:solidFill>
                      <a:srgbClr val="FFFFFF"/>
                    </a:solidFill>
                  </a:tcPr>
                </a:tc>
                <a:tc>
                  <a:txBody>
                    <a:bodyPr/>
                    <a:lstStyle/>
                    <a:p>
                      <a:r>
                        <a:rPr sz="1200">
                          <a:solidFill>
                            <a:srgbClr val="475569"/>
                          </a:solidFill>
                          <a:latin typeface="Calibri"/>
                        </a:rPr>
                        <a:t>0</a:t>
                      </a:r>
                    </a:p>
                  </a:txBody>
                  <a:tcPr marT="27432" marB="27432">
                    <a:solidFill>
                      <a:srgbClr val="FFFFFF"/>
                    </a:solidFill>
                  </a:tcPr>
                </a:tc>
                <a:tc>
                  <a:txBody>
                    <a:bodyPr/>
                    <a:lstStyle/>
                    <a:p>
                      <a:r>
                        <a:rPr sz="1200">
                          <a:solidFill>
                            <a:srgbClr val="475569"/>
                          </a:solidFill>
                          <a:latin typeface="Calibri"/>
                        </a:rPr>
                        <a:t>1,139</a:t>
                      </a:r>
                    </a:p>
                  </a:txBody>
                  <a:tcPr marT="27432" marB="27432">
                    <a:solidFill>
                      <a:srgbClr val="FFFFFF"/>
                    </a:solidFill>
                  </a:tcPr>
                </a:tc>
                <a:tc>
                  <a:txBody>
                    <a:bodyPr/>
                    <a:lstStyle/>
                    <a:p>
                      <a:r>
                        <a:rPr sz="1200">
                          <a:solidFill>
                            <a:srgbClr val="475569"/>
                          </a:solidFill>
                          <a:latin typeface="Calibri"/>
                        </a:rPr>
                        <a:t>0.059</a:t>
                      </a:r>
                    </a:p>
                  </a:txBody>
                  <a:tcPr marT="27432" marB="27432">
                    <a:solidFill>
                      <a:srgbClr val="FFFFFF"/>
                    </a:solidFill>
                  </a:tcPr>
                </a:tc>
                <a:tc>
                  <a:txBody>
                    <a:bodyPr/>
                    <a:lstStyle/>
                    <a:p>
                      <a:r>
                        <a:rPr sz="1200">
                          <a:solidFill>
                            <a:srgbClr val="475569"/>
                          </a:solidFill>
                          <a:latin typeface="Calibri"/>
                        </a:rPr>
                        <a:t>36</a:t>
                      </a:r>
                    </a:p>
                  </a:txBody>
                  <a:tcPr marT="27432" marB="27432">
                    <a:solidFill>
                      <a:srgbClr val="FFFFFF"/>
                    </a:solidFill>
                  </a:tcPr>
                </a:tc>
              </a:tr>
              <a:tr h="384048">
                <a:tc>
                  <a:txBody>
                    <a:bodyPr/>
                    <a:lstStyle/>
                    <a:p>
                      <a:r>
                        <a:rPr sz="1200">
                          <a:solidFill>
                            <a:srgbClr val="475569"/>
                          </a:solidFill>
                          <a:latin typeface="Calibri"/>
                        </a:rPr>
                        <a:t>Greenest</a:t>
                      </a:r>
                    </a:p>
                  </a:txBody>
                  <a:tcPr marT="27432" marB="27432">
                    <a:solidFill>
                      <a:srgbClr val="F1F5F9"/>
                    </a:solidFill>
                  </a:tcPr>
                </a:tc>
                <a:tc>
                  <a:txBody>
                    <a:bodyPr/>
                    <a:lstStyle/>
                    <a:p>
                      <a:r>
                        <a:rPr sz="1200">
                          <a:solidFill>
                            <a:srgbClr val="475569"/>
                          </a:solidFill>
                          <a:latin typeface="Calibri"/>
                        </a:rPr>
                        <a:t>0</a:t>
                      </a:r>
                    </a:p>
                  </a:txBody>
                  <a:tcPr marT="27432" marB="27432">
                    <a:solidFill>
                      <a:srgbClr val="F1F5F9"/>
                    </a:solidFill>
                  </a:tcPr>
                </a:tc>
                <a:tc>
                  <a:txBody>
                    <a:bodyPr/>
                    <a:lstStyle/>
                    <a:p>
                      <a:r>
                        <a:rPr sz="1200">
                          <a:solidFill>
                            <a:srgbClr val="475569"/>
                          </a:solidFill>
                          <a:latin typeface="Calibri"/>
                        </a:rPr>
                        <a:t>1,122</a:t>
                      </a:r>
                    </a:p>
                  </a:txBody>
                  <a:tcPr marT="27432" marB="27432">
                    <a:solidFill>
                      <a:srgbClr val="F1F5F9"/>
                    </a:solidFill>
                  </a:tcPr>
                </a:tc>
                <a:tc>
                  <a:txBody>
                    <a:bodyPr/>
                    <a:lstStyle/>
                    <a:p>
                      <a:r>
                        <a:rPr sz="1200">
                          <a:solidFill>
                            <a:srgbClr val="475569"/>
                          </a:solidFill>
                          <a:latin typeface="Calibri"/>
                        </a:rPr>
                        <a:t>1.042</a:t>
                      </a:r>
                    </a:p>
                  </a:txBody>
                  <a:tcPr marT="27432" marB="27432">
                    <a:solidFill>
                      <a:srgbClr val="F1F5F9"/>
                    </a:solidFill>
                  </a:tcPr>
                </a:tc>
                <a:tc>
                  <a:txBody>
                    <a:bodyPr/>
                    <a:lstStyle/>
                    <a:p>
                      <a:r>
                        <a:rPr sz="1200">
                          <a:solidFill>
                            <a:srgbClr val="475569"/>
                          </a:solidFill>
                          <a:latin typeface="Calibri"/>
                        </a:rPr>
                        <a:t>36</a:t>
                      </a:r>
                    </a:p>
                  </a:txBody>
                  <a:tcPr marT="27432" marB="27432">
                    <a:solidFill>
                      <a:srgbClr val="F1F5F9"/>
                    </a:solidFill>
                  </a:tcPr>
                </a:tc>
              </a:tr>
              <a:tr h="384048">
                <a:tc>
                  <a:txBody>
                    <a:bodyPr/>
                    <a:lstStyle/>
                    <a:p>
                      <a:r>
                        <a:rPr sz="1200">
                          <a:solidFill>
                            <a:srgbClr val="475569"/>
                          </a:solidFill>
                          <a:latin typeface="Calibri"/>
                        </a:rPr>
                        <a:t>Resilient</a:t>
                      </a:r>
                    </a:p>
                  </a:txBody>
                  <a:tcPr marT="27432" marB="27432">
                    <a:solidFill>
                      <a:srgbClr val="FFFFFF"/>
                    </a:solidFill>
                  </a:tcPr>
                </a:tc>
                <a:tc>
                  <a:txBody>
                    <a:bodyPr/>
                    <a:lstStyle/>
                    <a:p>
                      <a:r>
                        <a:rPr sz="1200">
                          <a:solidFill>
                            <a:srgbClr val="475569"/>
                          </a:solidFill>
                          <a:latin typeface="Calibri"/>
                        </a:rPr>
                        <a:t>0</a:t>
                      </a:r>
                    </a:p>
                  </a:txBody>
                  <a:tcPr marT="27432" marB="27432">
                    <a:solidFill>
                      <a:srgbClr val="FFFFFF"/>
                    </a:solidFill>
                  </a:tcPr>
                </a:tc>
                <a:tc>
                  <a:txBody>
                    <a:bodyPr/>
                    <a:lstStyle/>
                    <a:p>
                      <a:r>
                        <a:rPr sz="1200">
                          <a:solidFill>
                            <a:srgbClr val="475569"/>
                          </a:solidFill>
                          <a:latin typeface="Calibri"/>
                        </a:rPr>
                        <a:t>1,278</a:t>
                      </a:r>
                    </a:p>
                  </a:txBody>
                  <a:tcPr marT="27432" marB="27432">
                    <a:solidFill>
                      <a:srgbClr val="FFFFFF"/>
                    </a:solidFill>
                  </a:tcPr>
                </a:tc>
                <a:tc>
                  <a:txBody>
                    <a:bodyPr/>
                    <a:lstStyle/>
                    <a:p>
                      <a:r>
                        <a:rPr sz="1200">
                          <a:solidFill>
                            <a:srgbClr val="475569"/>
                          </a:solidFill>
                          <a:latin typeface="Calibri"/>
                        </a:rPr>
                        <a:t>2.659</a:t>
                      </a:r>
                    </a:p>
                  </a:txBody>
                  <a:tcPr marT="27432" marB="27432">
                    <a:solidFill>
                      <a:srgbClr val="FFFFFF"/>
                    </a:solidFill>
                  </a:tcPr>
                </a:tc>
                <a:tc>
                  <a:txBody>
                    <a:bodyPr/>
                    <a:lstStyle/>
                    <a:p>
                      <a:r>
                        <a:rPr sz="1200">
                          <a:solidFill>
                            <a:srgbClr val="475569"/>
                          </a:solidFill>
                          <a:latin typeface="Calibri"/>
                        </a:rPr>
                        <a:t>72</a:t>
                      </a:r>
                    </a:p>
                  </a:txBody>
                  <a:tcPr marT="27432" marB="27432">
                    <a:solidFill>
                      <a:srgbClr val="FFFFFF"/>
                    </a:solidFill>
                  </a:tcPr>
                </a:tc>
              </a:tr>
              <a:tr h="384048">
                <a:tc>
                  <a:txBody>
                    <a:bodyPr/>
                    <a:lstStyle/>
                    <a:p>
                      <a:r>
                        <a:rPr sz="1200">
                          <a:solidFill>
                            <a:srgbClr val="475569"/>
                          </a:solidFill>
                          <a:latin typeface="Calibri"/>
                        </a:rPr>
                        <a:t>RL-Markov</a:t>
                      </a:r>
                    </a:p>
                  </a:txBody>
                  <a:tcPr marT="27432" marB="27432">
                    <a:solidFill>
                      <a:srgbClr val="F1F5F9"/>
                    </a:solidFill>
                  </a:tcPr>
                </a:tc>
                <a:tc>
                  <a:txBody>
                    <a:bodyPr/>
                    <a:lstStyle/>
                    <a:p>
                      <a:r>
                        <a:rPr sz="1200">
                          <a:solidFill>
                            <a:srgbClr val="475569"/>
                          </a:solidFill>
                          <a:latin typeface="Calibri"/>
                        </a:rPr>
                        <a:t>3</a:t>
                      </a:r>
                    </a:p>
                  </a:txBody>
                  <a:tcPr marT="27432" marB="27432">
                    <a:solidFill>
                      <a:srgbClr val="F1F5F9"/>
                    </a:solidFill>
                  </a:tcPr>
                </a:tc>
                <a:tc>
                  <a:txBody>
                    <a:bodyPr/>
                    <a:lstStyle/>
                    <a:p>
                      <a:r>
                        <a:rPr sz="1200">
                          <a:solidFill>
                            <a:srgbClr val="475569"/>
                          </a:solidFill>
                          <a:latin typeface="Calibri"/>
                        </a:rPr>
                        <a:t>1,181</a:t>
                      </a:r>
                    </a:p>
                  </a:txBody>
                  <a:tcPr marT="27432" marB="27432">
                    <a:solidFill>
                      <a:srgbClr val="F1F5F9"/>
                    </a:solidFill>
                  </a:tcPr>
                </a:tc>
                <a:tc>
                  <a:txBody>
                    <a:bodyPr/>
                    <a:lstStyle/>
                    <a:p>
                      <a:r>
                        <a:rPr sz="1200">
                          <a:solidFill>
                            <a:srgbClr val="475569"/>
                          </a:solidFill>
                          <a:latin typeface="Calibri"/>
                        </a:rPr>
                        <a:t>0.362</a:t>
                      </a:r>
                    </a:p>
                  </a:txBody>
                  <a:tcPr marT="27432" marB="27432">
                    <a:solidFill>
                      <a:srgbClr val="F1F5F9"/>
                    </a:solidFill>
                  </a:tcPr>
                </a:tc>
                <a:tc>
                  <a:txBody>
                    <a:bodyPr/>
                    <a:lstStyle/>
                    <a:p>
                      <a:r>
                        <a:rPr sz="1200">
                          <a:solidFill>
                            <a:srgbClr val="475569"/>
                          </a:solidFill>
                          <a:latin typeface="Calibri"/>
                        </a:rPr>
                        <a:t>33</a:t>
                      </a:r>
                    </a:p>
                  </a:txBody>
                  <a:tcPr marT="27432" marB="27432">
                    <a:solidFill>
                      <a:srgbClr val="F1F5F9"/>
                    </a:solidFill>
                  </a:tcPr>
                </a:tc>
              </a:tr>
            </a:tbl>
          </a:graphicData>
        </a:graphic>
      </p:graphicFrame>
      <p:sp>
        <p:nvSpPr>
          <p:cNvPr id="8" name="Rectangle 7"/>
          <p:cNvSpPr/>
          <p:nvPr/>
        </p:nvSpPr>
        <p:spPr>
          <a:xfrm>
            <a:off x="6547104" y="1152144"/>
            <a:ext cx="5285232" cy="2126395"/>
          </a:xfrm>
          <a:prstGeom prst="rect">
            <a:avLst/>
          </a:prstGeom>
          <a:solidFill>
            <a:srgbClr val="FFFFFF"/>
          </a:solidFill>
          <a:ln>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contention.png"/>
          <p:cNvPicPr>
            <a:picLocks noChangeAspect="1"/>
          </p:cNvPicPr>
          <p:nvPr/>
        </p:nvPicPr>
        <p:blipFill>
          <a:blip r:embed="rId2"/>
          <a:stretch>
            <a:fillRect/>
          </a:stretch>
        </p:blipFill>
        <p:spPr>
          <a:xfrm>
            <a:off x="6583680" y="1188720"/>
            <a:ext cx="5212080" cy="2053243"/>
          </a:xfrm>
          <a:prstGeom prst="rect">
            <a:avLst/>
          </a:prstGeom>
        </p:spPr>
      </p:pic>
      <p:sp>
        <p:nvSpPr>
          <p:cNvPr id="10" name="Rectangle 9"/>
          <p:cNvSpPr/>
          <p:nvPr/>
        </p:nvSpPr>
        <p:spPr>
          <a:xfrm>
            <a:off x="329184" y="3712463"/>
            <a:ext cx="5876075" cy="2359152"/>
          </a:xfrm>
          <a:prstGeom prst="rect">
            <a:avLst/>
          </a:prstGeom>
          <a:solidFill>
            <a:srgbClr val="FFFFFF"/>
          </a:solidFill>
          <a:ln>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_gate_timeline.png"/>
          <p:cNvPicPr>
            <a:picLocks noChangeAspect="1"/>
          </p:cNvPicPr>
          <p:nvPr/>
        </p:nvPicPr>
        <p:blipFill>
          <a:blip r:embed="rId3"/>
          <a:stretch>
            <a:fillRect/>
          </a:stretch>
        </p:blipFill>
        <p:spPr>
          <a:xfrm>
            <a:off x="365760" y="3749039"/>
            <a:ext cx="5802923" cy="2286000"/>
          </a:xfrm>
          <a:prstGeom prst="rect">
            <a:avLst/>
          </a:prstGeom>
        </p:spPr>
      </p:pic>
      <p:sp>
        <p:nvSpPr>
          <p:cNvPr id="12" name="TextBox 11"/>
          <p:cNvSpPr txBox="1"/>
          <p:nvPr/>
        </p:nvSpPr>
        <p:spPr>
          <a:xfrm>
            <a:off x="182880" y="6099048"/>
            <a:ext cx="6168683" cy="320040"/>
          </a:xfrm>
          <a:prstGeom prst="rect">
            <a:avLst/>
          </a:prstGeom>
          <a:noFill/>
        </p:spPr>
        <p:txBody>
          <a:bodyPr wrap="square" anchor="t">
            <a:spAutoFit/>
          </a:bodyPr>
          <a:lstStyle/>
          <a:p>
            <a:pPr algn="ctr">
              <a:spcAft>
                <a:spcPts val="500"/>
              </a:spcAft>
            </a:pPr>
            <a:r>
              <a:rPr sz="1100" b="0">
                <a:solidFill>
                  <a:srgbClr val="475569"/>
                </a:solidFill>
                <a:latin typeface="Calibri"/>
              </a:rPr>
              <a:t>p95 latency per gate checkpoint</a:t>
            </a:r>
          </a:p>
        </p:txBody>
      </p:sp>
      <p:graphicFrame>
        <p:nvGraphicFramePr>
          <p:cNvPr id="13" name="Table 12"/>
          <p:cNvGraphicFramePr>
            <a:graphicFrameLocks noGrp="1"/>
          </p:cNvGraphicFramePr>
          <p:nvPr/>
        </p:nvGraphicFramePr>
        <p:xfrm>
          <a:off x="6583680" y="3566160"/>
          <a:ext cx="5212080" cy="1536192"/>
        </p:xfrm>
        <a:graphic>
          <a:graphicData uri="http://schemas.openxmlformats.org/drawingml/2006/table">
            <a:tbl>
              <a:tblPr firstRow="1" bandRow="1">
                <a:tableStyleId>{5C22544A-7EE6-4342-B048-85BDC9FD1C3A}</a:tableStyleId>
              </a:tblPr>
              <a:tblGrid>
                <a:gridCol w="1463040"/>
                <a:gridCol w="914400"/>
                <a:gridCol w="1463040"/>
                <a:gridCol w="1371600"/>
              </a:tblGrid>
              <a:tr h="384048">
                <a:tc>
                  <a:txBody>
                    <a:bodyPr/>
                    <a:lstStyle/>
                    <a:p>
                      <a:r>
                        <a:rPr sz="1100" b="1">
                          <a:solidFill>
                            <a:srgbClr val="FFFFFF"/>
                          </a:solidFill>
                          <a:latin typeface="Calibri"/>
                        </a:rPr>
                        <a:t>What-if change</a:t>
                      </a:r>
                    </a:p>
                  </a:txBody>
                  <a:tcPr marT="27432" marB="27432">
                    <a:solidFill>
                      <a:srgbClr val="142A4D"/>
                    </a:solidFill>
                  </a:tcPr>
                </a:tc>
                <a:tc>
                  <a:txBody>
                    <a:bodyPr/>
                    <a:lstStyle/>
                    <a:p>
                      <a:r>
                        <a:rPr sz="1100" b="1">
                          <a:solidFill>
                            <a:srgbClr val="FFFFFF"/>
                          </a:solidFill>
                          <a:latin typeface="Calibri"/>
                        </a:rPr>
                        <a:t>Deadlines</a:t>
                      </a:r>
                    </a:p>
                  </a:txBody>
                  <a:tcPr marT="27432" marB="27432">
                    <a:solidFill>
                      <a:srgbClr val="142A4D"/>
                    </a:solidFill>
                  </a:tcPr>
                </a:tc>
                <a:tc>
                  <a:txBody>
                    <a:bodyPr/>
                    <a:lstStyle/>
                    <a:p>
                      <a:r>
                        <a:rPr sz="1100" b="1">
                          <a:solidFill>
                            <a:srgbClr val="FFFFFF"/>
                          </a:solidFill>
                          <a:latin typeface="Calibri"/>
                        </a:rPr>
                        <a:t>p95 ms</a:t>
                      </a:r>
                    </a:p>
                  </a:txBody>
                  <a:tcPr marT="27432" marB="27432">
                    <a:solidFill>
                      <a:srgbClr val="142A4D"/>
                    </a:solidFill>
                  </a:tcPr>
                </a:tc>
                <a:tc>
                  <a:txBody>
                    <a:bodyPr/>
                    <a:lstStyle/>
                    <a:p>
                      <a:r>
                        <a:rPr sz="1100" b="1">
                          <a:solidFill>
                            <a:srgbClr val="FFFFFF"/>
                          </a:solidFill>
                          <a:latin typeface="Calibri"/>
                        </a:rPr>
                        <a:t>Cost Rs</a:t>
                      </a:r>
                    </a:p>
                  </a:txBody>
                  <a:tcPr marT="27432" marB="27432">
                    <a:solidFill>
                      <a:srgbClr val="142A4D"/>
                    </a:solidFill>
                  </a:tcPr>
                </a:tc>
              </a:tr>
              <a:tr h="384048">
                <a:tc>
                  <a:txBody>
                    <a:bodyPr/>
                    <a:lstStyle/>
                    <a:p>
                      <a:r>
                        <a:rPr sz="1100">
                          <a:solidFill>
                            <a:srgbClr val="475569"/>
                          </a:solidFill>
                          <a:latin typeface="Calibri"/>
                        </a:rPr>
                        <a:t>+2 x srv-015</a:t>
                      </a:r>
                    </a:p>
                  </a:txBody>
                  <a:tcPr marT="27432" marB="27432">
                    <a:solidFill>
                      <a:srgbClr val="F1F5F9"/>
                    </a:solidFill>
                  </a:tcPr>
                </a:tc>
                <a:tc>
                  <a:txBody>
                    <a:bodyPr/>
                    <a:lstStyle/>
                    <a:p>
                      <a:r>
                        <a:rPr sz="1100">
                          <a:solidFill>
                            <a:srgbClr val="475569"/>
                          </a:solidFill>
                          <a:latin typeface="Calibri"/>
                        </a:rPr>
                        <a:t>11 to 11</a:t>
                      </a:r>
                    </a:p>
                  </a:txBody>
                  <a:tcPr marT="27432" marB="27432">
                    <a:solidFill>
                      <a:srgbClr val="F1F5F9"/>
                    </a:solidFill>
                  </a:tcPr>
                </a:tc>
                <a:tc>
                  <a:txBody>
                    <a:bodyPr/>
                    <a:lstStyle/>
                    <a:p>
                      <a:r>
                        <a:rPr sz="1100">
                          <a:solidFill>
                            <a:srgbClr val="475569"/>
                          </a:solidFill>
                          <a:latin typeface="Calibri"/>
                        </a:rPr>
                        <a:t>1,409 to 1,409</a:t>
                      </a:r>
                    </a:p>
                  </a:txBody>
                  <a:tcPr marT="27432" marB="27432">
                    <a:solidFill>
                      <a:srgbClr val="F1F5F9"/>
                    </a:solidFill>
                  </a:tcPr>
                </a:tc>
                <a:tc>
                  <a:txBody>
                    <a:bodyPr/>
                    <a:lstStyle/>
                    <a:p>
                      <a:r>
                        <a:rPr sz="1100">
                          <a:solidFill>
                            <a:srgbClr val="475569"/>
                          </a:solidFill>
                          <a:latin typeface="Calibri"/>
                        </a:rPr>
                        <a:t>0.808 to 0.808</a:t>
                      </a:r>
                    </a:p>
                  </a:txBody>
                  <a:tcPr marT="27432" marB="27432">
                    <a:solidFill>
                      <a:srgbClr val="F1F5F9"/>
                    </a:solidFill>
                  </a:tcPr>
                </a:tc>
              </a:tr>
              <a:tr h="384048">
                <a:tc>
                  <a:txBody>
                    <a:bodyPr/>
                    <a:lstStyle/>
                    <a:p>
                      <a:r>
                        <a:rPr sz="1100">
                          <a:solidFill>
                            <a:srgbClr val="475569"/>
                          </a:solidFill>
                          <a:latin typeface="Calibri"/>
                        </a:rPr>
                        <a:t>- hpc-080</a:t>
                      </a:r>
                    </a:p>
                  </a:txBody>
                  <a:tcPr marT="27432" marB="27432">
                    <a:solidFill>
                      <a:srgbClr val="FFFFFF"/>
                    </a:solidFill>
                  </a:tcPr>
                </a:tc>
                <a:tc>
                  <a:txBody>
                    <a:bodyPr/>
                    <a:lstStyle/>
                    <a:p>
                      <a:r>
                        <a:rPr sz="1100">
                          <a:solidFill>
                            <a:srgbClr val="475569"/>
                          </a:solidFill>
                          <a:latin typeface="Calibri"/>
                        </a:rPr>
                        <a:t>11 to 11</a:t>
                      </a:r>
                    </a:p>
                  </a:txBody>
                  <a:tcPr marT="27432" marB="27432">
                    <a:solidFill>
                      <a:srgbClr val="FFFFFF"/>
                    </a:solidFill>
                  </a:tcPr>
                </a:tc>
                <a:tc>
                  <a:txBody>
                    <a:bodyPr/>
                    <a:lstStyle/>
                    <a:p>
                      <a:r>
                        <a:rPr sz="1100">
                          <a:solidFill>
                            <a:srgbClr val="475569"/>
                          </a:solidFill>
                          <a:latin typeface="Calibri"/>
                        </a:rPr>
                        <a:t>1,409 to 1,466</a:t>
                      </a:r>
                    </a:p>
                  </a:txBody>
                  <a:tcPr marT="27432" marB="27432">
                    <a:solidFill>
                      <a:srgbClr val="FFFFFF"/>
                    </a:solidFill>
                  </a:tcPr>
                </a:tc>
                <a:tc>
                  <a:txBody>
                    <a:bodyPr/>
                    <a:lstStyle/>
                    <a:p>
                      <a:r>
                        <a:rPr sz="1100">
                          <a:solidFill>
                            <a:srgbClr val="475569"/>
                          </a:solidFill>
                          <a:latin typeface="Calibri"/>
                        </a:rPr>
                        <a:t>0.808 to 1.276</a:t>
                      </a:r>
                    </a:p>
                  </a:txBody>
                  <a:tcPr marT="27432" marB="27432">
                    <a:solidFill>
                      <a:srgbClr val="FFFFFF"/>
                    </a:solidFill>
                  </a:tcPr>
                </a:tc>
              </a:tr>
              <a:tr h="384048">
                <a:tc>
                  <a:txBody>
                    <a:bodyPr/>
                    <a:lstStyle/>
                    <a:p>
                      <a:r>
                        <a:rPr sz="1100">
                          <a:solidFill>
                            <a:srgbClr val="475569"/>
                          </a:solidFill>
                          <a:latin typeface="Calibri"/>
                        </a:rPr>
                        <a:t>- 3 HPC nodes</a:t>
                      </a:r>
                    </a:p>
                  </a:txBody>
                  <a:tcPr marT="27432" marB="27432">
                    <a:solidFill>
                      <a:srgbClr val="F1F5F9"/>
                    </a:solidFill>
                  </a:tcPr>
                </a:tc>
                <a:tc>
                  <a:txBody>
                    <a:bodyPr/>
                    <a:lstStyle/>
                    <a:p>
                      <a:r>
                        <a:rPr sz="1100">
                          <a:solidFill>
                            <a:srgbClr val="475569"/>
                          </a:solidFill>
                          <a:latin typeface="Calibri"/>
                        </a:rPr>
                        <a:t>11 to 11</a:t>
                      </a:r>
                    </a:p>
                  </a:txBody>
                  <a:tcPr marT="27432" marB="27432">
                    <a:solidFill>
                      <a:srgbClr val="F1F5F9"/>
                    </a:solidFill>
                  </a:tcPr>
                </a:tc>
                <a:tc>
                  <a:txBody>
                    <a:bodyPr/>
                    <a:lstStyle/>
                    <a:p>
                      <a:r>
                        <a:rPr sz="1100">
                          <a:solidFill>
                            <a:srgbClr val="475569"/>
                          </a:solidFill>
                          <a:latin typeface="Calibri"/>
                        </a:rPr>
                        <a:t>1,409 to 1,433</a:t>
                      </a:r>
                    </a:p>
                  </a:txBody>
                  <a:tcPr marT="27432" marB="27432">
                    <a:solidFill>
                      <a:srgbClr val="F1F5F9"/>
                    </a:solidFill>
                  </a:tcPr>
                </a:tc>
                <a:tc>
                  <a:txBody>
                    <a:bodyPr/>
                    <a:lstStyle/>
                    <a:p>
                      <a:r>
                        <a:rPr sz="1100">
                          <a:solidFill>
                            <a:srgbClr val="475569"/>
                          </a:solidFill>
                          <a:latin typeface="Calibri"/>
                        </a:rPr>
                        <a:t>0.808 to 0.526</a:t>
                      </a:r>
                    </a:p>
                  </a:txBody>
                  <a:tcPr marT="27432" marB="27432">
                    <a:solidFill>
                      <a:srgbClr val="F1F5F9"/>
                    </a:solidFill>
                  </a:tcPr>
                </a:tc>
              </a:tr>
            </a:tbl>
          </a:graphicData>
        </a:graphic>
      </p:graphicFrame>
      <p:sp>
        <p:nvSpPr>
          <p:cNvPr id="14" name="TextBox 13"/>
          <p:cNvSpPr txBox="1"/>
          <p:nvPr/>
        </p:nvSpPr>
        <p:spPr>
          <a:xfrm>
            <a:off x="6583680" y="5212080"/>
            <a:ext cx="5212080" cy="1097280"/>
          </a:xfrm>
          <a:prstGeom prst="rect">
            <a:avLst/>
          </a:prstGeom>
          <a:noFill/>
        </p:spPr>
        <p:txBody>
          <a:bodyPr wrap="square" anchor="t">
            <a:spAutoFit/>
          </a:bodyPr>
          <a:lstStyle/>
          <a:p>
            <a:pPr algn="l">
              <a:spcAft>
                <a:spcPts val="500"/>
              </a:spcAft>
            </a:pPr>
            <a:r>
              <a:rPr sz="1200" b="0">
                <a:solidFill>
                  <a:srgbClr val="475569"/>
                </a:solidFill>
                <a:latin typeface="Calibri"/>
              </a:rPr>
              <a:t>• Blast radius: 16 faults, 62 placements; both jobs survive. Monte-Carlo, 1,000 trials: 516 ms mean, 632 ms p99, 100% SLO.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nchor="ctr">
            <a:spAutoFit/>
          </a:bodyPr>
          <a:lstStyle/>
          <a:p>
            <a:pPr algn="l">
              <a:spcAft>
                <a:spcPts val="500"/>
              </a:spcAft>
            </a:pPr>
            <a:r>
              <a:rPr sz="3000" b="1">
                <a:solidFill>
                  <a:srgbClr val="FFFFFF"/>
                </a:solidFill>
                <a:latin typeface="Calibri"/>
              </a:rPr>
              <a:t>Testing and Known Limitations</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500"/>
              </a:spcAft>
            </a:pPr>
            <a:r>
              <a:rPr sz="1100" b="0">
                <a:solidFill>
                  <a:srgbClr val="475569"/>
                </a:solidFill>
                <a:latin typeface="Calibri"/>
              </a:rPr>
              <a:t>• RAP twin | Group 01 | Department Research Colloquium 2026</a:t>
            </a:r>
          </a:p>
        </p:txBody>
      </p:sp>
      <p:sp>
        <p:nvSpPr>
          <p:cNvPr id="6" name="TextBox 5"/>
          <p:cNvSpPr txBox="1"/>
          <p:nvPr/>
        </p:nvSpPr>
        <p:spPr>
          <a:xfrm>
            <a:off x="11155680" y="6446520"/>
            <a:ext cx="731520" cy="320040"/>
          </a:xfrm>
          <a:prstGeom prst="rect">
            <a:avLst/>
          </a:prstGeom>
          <a:noFill/>
        </p:spPr>
        <p:txBody>
          <a:bodyPr wrap="square" anchor="t">
            <a:spAutoFit/>
          </a:bodyPr>
          <a:lstStyle/>
          <a:p>
            <a:pPr algn="r">
              <a:spcAft>
                <a:spcPts val="500"/>
              </a:spcAft>
            </a:pPr>
            <a:r>
              <a:rPr sz="1100" b="0">
                <a:solidFill>
                  <a:srgbClr val="475569"/>
                </a:solidFill>
                <a:latin typeface="Calibri"/>
              </a:rPr>
              <a:t>18</a:t>
            </a:r>
          </a:p>
        </p:txBody>
      </p:sp>
      <p:graphicFrame>
        <p:nvGraphicFramePr>
          <p:cNvPr id="7" name="Table 6"/>
          <p:cNvGraphicFramePr>
            <a:graphicFrameLocks noGrp="1"/>
          </p:cNvGraphicFramePr>
          <p:nvPr/>
        </p:nvGraphicFramePr>
        <p:xfrm>
          <a:off x="365760" y="1188720"/>
          <a:ext cx="5120640" cy="3456432"/>
        </p:xfrm>
        <a:graphic>
          <a:graphicData uri="http://schemas.openxmlformats.org/drawingml/2006/table">
            <a:tbl>
              <a:tblPr firstRow="1" bandRow="1">
                <a:tableStyleId>{5C22544A-7EE6-4342-B048-85BDC9FD1C3A}</a:tableStyleId>
              </a:tblPr>
              <a:tblGrid>
                <a:gridCol w="3657600"/>
                <a:gridCol w="1463040"/>
              </a:tblGrid>
              <a:tr h="384048">
                <a:tc>
                  <a:txBody>
                    <a:bodyPr/>
                    <a:lstStyle/>
                    <a:p>
                      <a:r>
                        <a:rPr sz="1200" b="1">
                          <a:solidFill>
                            <a:srgbClr val="FFFFFF"/>
                          </a:solidFill>
                          <a:latin typeface="Calibri"/>
                        </a:rPr>
                        <a:t>Suite</a:t>
                      </a:r>
                    </a:p>
                  </a:txBody>
                  <a:tcPr marT="27432" marB="27432">
                    <a:solidFill>
                      <a:srgbClr val="142A4D"/>
                    </a:solidFill>
                  </a:tcPr>
                </a:tc>
                <a:tc>
                  <a:txBody>
                    <a:bodyPr/>
                    <a:lstStyle/>
                    <a:p>
                      <a:r>
                        <a:rPr sz="1200" b="1">
                          <a:solidFill>
                            <a:srgbClr val="FFFFFF"/>
                          </a:solidFill>
                          <a:latin typeface="Calibri"/>
                        </a:rPr>
                        <a:t>Tests</a:t>
                      </a:r>
                    </a:p>
                  </a:txBody>
                  <a:tcPr marT="27432" marB="27432">
                    <a:solidFill>
                      <a:srgbClr val="142A4D"/>
                    </a:solidFill>
                  </a:tcPr>
                </a:tc>
              </a:tr>
              <a:tr h="384048">
                <a:tc>
                  <a:txBody>
                    <a:bodyPr/>
                    <a:lstStyle/>
                    <a:p>
                      <a:r>
                        <a:rPr sz="1200">
                          <a:solidFill>
                            <a:srgbClr val="475569"/>
                          </a:solidFill>
                          <a:latin typeface="Calibri"/>
                        </a:rPr>
                        <a:t>API + auth + management</a:t>
                      </a:r>
                    </a:p>
                  </a:txBody>
                  <a:tcPr marT="27432" marB="27432">
                    <a:solidFill>
                      <a:srgbClr val="F1F5F9"/>
                    </a:solidFill>
                  </a:tcPr>
                </a:tc>
                <a:tc>
                  <a:txBody>
                    <a:bodyPr/>
                    <a:lstStyle/>
                    <a:p>
                      <a:r>
                        <a:rPr sz="1200">
                          <a:solidFill>
                            <a:srgbClr val="475569"/>
                          </a:solidFill>
                          <a:latin typeface="Calibri"/>
                        </a:rPr>
                        <a:t>34</a:t>
                      </a:r>
                    </a:p>
                  </a:txBody>
                  <a:tcPr marT="27432" marB="27432">
                    <a:solidFill>
                      <a:srgbClr val="F1F5F9"/>
                    </a:solidFill>
                  </a:tcPr>
                </a:tc>
              </a:tr>
              <a:tr h="384048">
                <a:tc>
                  <a:txBody>
                    <a:bodyPr/>
                    <a:lstStyle/>
                    <a:p>
                      <a:r>
                        <a:rPr sz="1200">
                          <a:solidFill>
                            <a:srgbClr val="475569"/>
                          </a:solidFill>
                          <a:latin typeface="Calibri"/>
                        </a:rPr>
                        <a:t>CI gate</a:t>
                      </a:r>
                    </a:p>
                  </a:txBody>
                  <a:tcPr marT="27432" marB="27432">
                    <a:solidFill>
                      <a:srgbClr val="FFFFFF"/>
                    </a:solidFill>
                  </a:tcPr>
                </a:tc>
                <a:tc>
                  <a:txBody>
                    <a:bodyPr/>
                    <a:lstStyle/>
                    <a:p>
                      <a:r>
                        <a:rPr sz="1200">
                          <a:solidFill>
                            <a:srgbClr val="475569"/>
                          </a:solidFill>
                          <a:latin typeface="Calibri"/>
                        </a:rPr>
                        <a:t>19</a:t>
                      </a:r>
                    </a:p>
                  </a:txBody>
                  <a:tcPr marT="27432" marB="27432">
                    <a:solidFill>
                      <a:srgbClr val="FFFFFF"/>
                    </a:solidFill>
                  </a:tcPr>
                </a:tc>
              </a:tr>
              <a:tr h="384048">
                <a:tc>
                  <a:txBody>
                    <a:bodyPr/>
                    <a:lstStyle/>
                    <a:p>
                      <a:r>
                        <a:rPr sz="1200">
                          <a:solidFill>
                            <a:srgbClr val="475569"/>
                          </a:solidFill>
                          <a:latin typeface="Calibri"/>
                        </a:rPr>
                        <a:t>Economics</a:t>
                      </a:r>
                    </a:p>
                  </a:txBody>
                  <a:tcPr marT="27432" marB="27432">
                    <a:solidFill>
                      <a:srgbClr val="F1F5F9"/>
                    </a:solidFill>
                  </a:tcPr>
                </a:tc>
                <a:tc>
                  <a:txBody>
                    <a:bodyPr/>
                    <a:lstStyle/>
                    <a:p>
                      <a:r>
                        <a:rPr sz="1200">
                          <a:solidFill>
                            <a:srgbClr val="475569"/>
                          </a:solidFill>
                          <a:latin typeface="Calibri"/>
                        </a:rPr>
                        <a:t>11</a:t>
                      </a:r>
                    </a:p>
                  </a:txBody>
                  <a:tcPr marT="27432" marB="27432">
                    <a:solidFill>
                      <a:srgbClr val="F1F5F9"/>
                    </a:solidFill>
                  </a:tcPr>
                </a:tc>
              </a:tr>
              <a:tr h="384048">
                <a:tc>
                  <a:txBody>
                    <a:bodyPr/>
                    <a:lstStyle/>
                    <a:p>
                      <a:r>
                        <a:rPr sz="1200">
                          <a:solidFill>
                            <a:srgbClr val="475569"/>
                          </a:solidFill>
                          <a:latin typeface="Calibri"/>
                        </a:rPr>
                        <a:t>Blast radius</a:t>
                      </a:r>
                    </a:p>
                  </a:txBody>
                  <a:tcPr marT="27432" marB="27432">
                    <a:solidFill>
                      <a:srgbClr val="FFFFFF"/>
                    </a:solidFill>
                  </a:tcPr>
                </a:tc>
                <a:tc>
                  <a:txBody>
                    <a:bodyPr/>
                    <a:lstStyle/>
                    <a:p>
                      <a:r>
                        <a:rPr sz="1200">
                          <a:solidFill>
                            <a:srgbClr val="475569"/>
                          </a:solidFill>
                          <a:latin typeface="Calibri"/>
                        </a:rPr>
                        <a:t>13</a:t>
                      </a:r>
                    </a:p>
                  </a:txBody>
                  <a:tcPr marT="27432" marB="27432">
                    <a:solidFill>
                      <a:srgbClr val="FFFFFF"/>
                    </a:solidFill>
                  </a:tcPr>
                </a:tc>
              </a:tr>
              <a:tr h="384048">
                <a:tc>
                  <a:txBody>
                    <a:bodyPr/>
                    <a:lstStyle/>
                    <a:p>
                      <a:r>
                        <a:rPr sz="1200">
                          <a:solidFill>
                            <a:srgbClr val="475569"/>
                          </a:solidFill>
                          <a:latin typeface="Calibri"/>
                        </a:rPr>
                        <a:t>What-if</a:t>
                      </a:r>
                    </a:p>
                  </a:txBody>
                  <a:tcPr marT="27432" marB="27432">
                    <a:solidFill>
                      <a:srgbClr val="F1F5F9"/>
                    </a:solidFill>
                  </a:tcPr>
                </a:tc>
                <a:tc>
                  <a:txBody>
                    <a:bodyPr/>
                    <a:lstStyle/>
                    <a:p>
                      <a:r>
                        <a:rPr sz="1200">
                          <a:solidFill>
                            <a:srgbClr val="475569"/>
                          </a:solidFill>
                          <a:latin typeface="Calibri"/>
                        </a:rPr>
                        <a:t>18</a:t>
                      </a:r>
                    </a:p>
                  </a:txBody>
                  <a:tcPr marT="27432" marB="27432">
                    <a:solidFill>
                      <a:srgbClr val="F1F5F9"/>
                    </a:solidFill>
                  </a:tcPr>
                </a:tc>
              </a:tr>
              <a:tr h="384048">
                <a:tc>
                  <a:txBody>
                    <a:bodyPr/>
                    <a:lstStyle/>
                    <a:p>
                      <a:r>
                        <a:rPr sz="1200">
                          <a:solidFill>
                            <a:srgbClr val="475569"/>
                          </a:solidFill>
                          <a:latin typeface="Calibri"/>
                        </a:rPr>
                        <a:t>Bundle / import / MQTT / launcher</a:t>
                      </a:r>
                    </a:p>
                  </a:txBody>
                  <a:tcPr marT="27432" marB="27432">
                    <a:solidFill>
                      <a:srgbClr val="FFFFFF"/>
                    </a:solidFill>
                  </a:tcPr>
                </a:tc>
                <a:tc>
                  <a:txBody>
                    <a:bodyPr/>
                    <a:lstStyle/>
                    <a:p>
                      <a:r>
                        <a:rPr sz="1200">
                          <a:solidFill>
                            <a:srgbClr val="475569"/>
                          </a:solidFill>
                          <a:latin typeface="Calibri"/>
                        </a:rPr>
                        <a:t>61</a:t>
                      </a:r>
                    </a:p>
                  </a:txBody>
                  <a:tcPr marT="27432" marB="27432">
                    <a:solidFill>
                      <a:srgbClr val="FFFFFF"/>
                    </a:solidFill>
                  </a:tcPr>
                </a:tc>
              </a:tr>
              <a:tr h="384048">
                <a:tc>
                  <a:txBody>
                    <a:bodyPr/>
                    <a:lstStyle/>
                    <a:p>
                      <a:r>
                        <a:rPr sz="1200">
                          <a:solidFill>
                            <a:srgbClr val="475569"/>
                          </a:solidFill>
                          <a:latin typeface="Calibri"/>
                        </a:rPr>
                        <a:t>Benchmarks</a:t>
                      </a:r>
                    </a:p>
                  </a:txBody>
                  <a:tcPr marT="27432" marB="27432">
                    <a:solidFill>
                      <a:srgbClr val="F1F5F9"/>
                    </a:solidFill>
                  </a:tcPr>
                </a:tc>
                <a:tc>
                  <a:txBody>
                    <a:bodyPr/>
                    <a:lstStyle/>
                    <a:p>
                      <a:r>
                        <a:rPr sz="1200">
                          <a:solidFill>
                            <a:srgbClr val="475569"/>
                          </a:solidFill>
                          <a:latin typeface="Calibri"/>
                        </a:rPr>
                        <a:t>10</a:t>
                      </a:r>
                    </a:p>
                  </a:txBody>
                  <a:tcPr marT="27432" marB="27432">
                    <a:solidFill>
                      <a:srgbClr val="F1F5F9"/>
                    </a:solidFill>
                  </a:tcPr>
                </a:tc>
              </a:tr>
              <a:tr h="384048">
                <a:tc>
                  <a:txBody>
                    <a:bodyPr/>
                    <a:lstStyle/>
                    <a:p>
                      <a:r>
                        <a:rPr sz="1200">
                          <a:solidFill>
                            <a:srgbClr val="475569"/>
                          </a:solidFill>
                          <a:latin typeface="Calibri"/>
                        </a:rPr>
                        <a:t>Total (all pass)</a:t>
                      </a:r>
                    </a:p>
                  </a:txBody>
                  <a:tcPr marT="27432" marB="27432">
                    <a:solidFill>
                      <a:srgbClr val="FFFFFF"/>
                    </a:solidFill>
                  </a:tcPr>
                </a:tc>
                <a:tc>
                  <a:txBody>
                    <a:bodyPr/>
                    <a:lstStyle/>
                    <a:p>
                      <a:r>
                        <a:rPr sz="1200">
                          <a:solidFill>
                            <a:srgbClr val="475569"/>
                          </a:solidFill>
                          <a:latin typeface="Calibri"/>
                        </a:rPr>
                        <a:t>166</a:t>
                      </a:r>
                    </a:p>
                  </a:txBody>
                  <a:tcPr marT="27432" marB="27432">
                    <a:solidFill>
                      <a:srgbClr val="FFFFFF"/>
                    </a:solidFill>
                  </a:tcPr>
                </a:tc>
              </a:tr>
            </a:tbl>
          </a:graphicData>
        </a:graphic>
      </p:graphicFrame>
      <p:graphicFrame>
        <p:nvGraphicFramePr>
          <p:cNvPr id="8" name="Table 7"/>
          <p:cNvGraphicFramePr>
            <a:graphicFrameLocks noGrp="1"/>
          </p:cNvGraphicFramePr>
          <p:nvPr/>
        </p:nvGraphicFramePr>
        <p:xfrm>
          <a:off x="5669280" y="1188720"/>
          <a:ext cx="6126480" cy="3657600"/>
        </p:xfrm>
        <a:graphic>
          <a:graphicData uri="http://schemas.openxmlformats.org/drawingml/2006/table">
            <a:tbl>
              <a:tblPr firstRow="1" bandRow="1">
                <a:tableStyleId>{5C22544A-7EE6-4342-B048-85BDC9FD1C3A}</a:tableStyleId>
              </a:tblPr>
              <a:tblGrid>
                <a:gridCol w="3200400"/>
                <a:gridCol w="2926080"/>
              </a:tblGrid>
              <a:tr h="457200">
                <a:tc>
                  <a:txBody>
                    <a:bodyPr/>
                    <a:lstStyle/>
                    <a:p>
                      <a:r>
                        <a:rPr sz="1100" b="1">
                          <a:solidFill>
                            <a:srgbClr val="FFFFFF"/>
                          </a:solidFill>
                          <a:latin typeface="Calibri"/>
                        </a:rPr>
                        <a:t>Limitation</a:t>
                      </a:r>
                    </a:p>
                  </a:txBody>
                  <a:tcPr marT="27432" marB="27432">
                    <a:solidFill>
                      <a:srgbClr val="142A4D"/>
                    </a:solidFill>
                  </a:tcPr>
                </a:tc>
                <a:tc>
                  <a:txBody>
                    <a:bodyPr/>
                    <a:lstStyle/>
                    <a:p>
                      <a:r>
                        <a:rPr sz="1100" b="1">
                          <a:solidFill>
                            <a:srgbClr val="FFFFFF"/>
                          </a:solidFill>
                          <a:latin typeface="Calibri"/>
                        </a:rPr>
                        <a:t>Effect</a:t>
                      </a:r>
                    </a:p>
                  </a:txBody>
                  <a:tcPr marT="27432" marB="27432">
                    <a:solidFill>
                      <a:srgbClr val="142A4D"/>
                    </a:solidFill>
                  </a:tcPr>
                </a:tc>
              </a:tr>
              <a:tr h="457200">
                <a:tc>
                  <a:txBody>
                    <a:bodyPr/>
                    <a:lstStyle/>
                    <a:p>
                      <a:r>
                        <a:rPr sz="1100">
                          <a:solidFill>
                            <a:srgbClr val="475569"/>
                          </a:solidFill>
                          <a:latin typeface="Calibri"/>
                        </a:rPr>
                        <a:t>Link p95 forecast uses accumulator</a:t>
                      </a:r>
                    </a:p>
                  </a:txBody>
                  <a:tcPr marT="27432" marB="27432">
                    <a:solidFill>
                      <a:srgbClr val="F1F5F9"/>
                    </a:solidFill>
                  </a:tcPr>
                </a:tc>
                <a:tc>
                  <a:txBody>
                    <a:bodyPr/>
                    <a:lstStyle/>
                    <a:p>
                      <a:r>
                        <a:rPr sz="1100">
                          <a:solidFill>
                            <a:srgbClr val="475569"/>
                          </a:solidFill>
                          <a:latin typeface="Calibri"/>
                        </a:rPr>
                        <a:t>about 7e12 ms on registered links</a:t>
                      </a:r>
                    </a:p>
                  </a:txBody>
                  <a:tcPr marT="27432" marB="27432">
                    <a:solidFill>
                      <a:srgbClr val="F1F5F9"/>
                    </a:solidFill>
                  </a:tcPr>
                </a:tc>
              </a:tr>
              <a:tr h="457200">
                <a:tc>
                  <a:txBody>
                    <a:bodyPr/>
                    <a:lstStyle/>
                    <a:p>
                      <a:r>
                        <a:rPr sz="1100">
                          <a:solidFill>
                            <a:srgbClr val="475569"/>
                          </a:solidFill>
                          <a:latin typeface="Calibri"/>
                        </a:rPr>
                        <a:t>Trend with epoch-ms timestamps</a:t>
                      </a:r>
                    </a:p>
                  </a:txBody>
                  <a:tcPr marT="27432" marB="27432">
                    <a:solidFill>
                      <a:srgbClr val="FFFFFF"/>
                    </a:solidFill>
                  </a:tcPr>
                </a:tc>
                <a:tc>
                  <a:txBody>
                    <a:bodyPr/>
                    <a:lstStyle/>
                    <a:p>
                      <a:r>
                        <a:rPr sz="1100">
                          <a:solidFill>
                            <a:srgbClr val="475569"/>
                          </a:solidFill>
                          <a:latin typeface="Calibri"/>
                        </a:rPr>
                        <a:t>30 s look-ahead inert</a:t>
                      </a:r>
                    </a:p>
                  </a:txBody>
                  <a:tcPr marT="27432" marB="27432">
                    <a:solidFill>
                      <a:srgbClr val="FFFFFF"/>
                    </a:solidFill>
                  </a:tcPr>
                </a:tc>
              </a:tr>
              <a:tr h="457200">
                <a:tc>
                  <a:txBody>
                    <a:bodyPr/>
                    <a:lstStyle/>
                    <a:p>
                      <a:r>
                        <a:rPr sz="1100">
                          <a:solidFill>
                            <a:srgbClr val="475569"/>
                          </a:solidFill>
                          <a:latin typeface="Calibri"/>
                        </a:rPr>
                        <a:t>WASM penalty clamped</a:t>
                      </a:r>
                    </a:p>
                  </a:txBody>
                  <a:tcPr marT="27432" marB="27432">
                    <a:solidFill>
                      <a:srgbClr val="F1F5F9"/>
                    </a:solidFill>
                  </a:tcPr>
                </a:tc>
                <a:tc>
                  <a:txBody>
                    <a:bodyPr/>
                    <a:lstStyle/>
                    <a:p>
                      <a:r>
                        <a:rPr sz="1100">
                          <a:solidFill>
                            <a:srgbClr val="475569"/>
                          </a:solidFill>
                          <a:latin typeface="Calibri"/>
                        </a:rPr>
                        <a:t>no effect</a:t>
                      </a:r>
                    </a:p>
                  </a:txBody>
                  <a:tcPr marT="27432" marB="27432">
                    <a:solidFill>
                      <a:srgbClr val="F1F5F9"/>
                    </a:solidFill>
                  </a:tcPr>
                </a:tc>
              </a:tr>
              <a:tr h="457200">
                <a:tc>
                  <a:txBody>
                    <a:bodyPr/>
                    <a:lstStyle/>
                    <a:p>
                      <a:r>
                        <a:rPr sz="1100">
                          <a:solidFill>
                            <a:srgbClr val="475569"/>
                          </a:solidFill>
                          <a:latin typeface="Calibri"/>
                        </a:rPr>
                        <a:t>MDP ignores in-job capacity</a:t>
                      </a:r>
                    </a:p>
                  </a:txBody>
                  <a:tcPr marT="27432" marB="27432">
                    <a:solidFill>
                      <a:srgbClr val="FFFFFF"/>
                    </a:solidFill>
                  </a:tcPr>
                </a:tc>
                <a:tc>
                  <a:txBody>
                    <a:bodyPr/>
                    <a:lstStyle/>
                    <a:p>
                      <a:r>
                        <a:rPr sz="1100">
                          <a:solidFill>
                            <a:srgbClr val="475569"/>
                          </a:solidFill>
                          <a:latin typeface="Calibri"/>
                        </a:rPr>
                        <a:t>3/11 jobs infeasible</a:t>
                      </a:r>
                    </a:p>
                  </a:txBody>
                  <a:tcPr marT="27432" marB="27432">
                    <a:solidFill>
                      <a:srgbClr val="FFFFFF"/>
                    </a:solidFill>
                  </a:tcPr>
                </a:tc>
              </a:tr>
              <a:tr h="457200">
                <a:tc>
                  <a:txBody>
                    <a:bodyPr/>
                    <a:lstStyle/>
                    <a:p>
                      <a:r>
                        <a:rPr sz="1100">
                          <a:solidFill>
                            <a:srgbClr val="475569"/>
                          </a:solidFill>
                          <a:latin typeface="Calibri"/>
                        </a:rPr>
                        <a:t>core_link_cut targets absent nodes</a:t>
                      </a:r>
                    </a:p>
                  </a:txBody>
                  <a:tcPr marT="27432" marB="27432">
                    <a:solidFill>
                      <a:srgbClr val="F1F5F9"/>
                    </a:solidFill>
                  </a:tcPr>
                </a:tc>
                <a:tc>
                  <a:txBody>
                    <a:bodyPr/>
                    <a:lstStyle/>
                    <a:p>
                      <a:r>
                        <a:rPr sz="1100">
                          <a:solidFill>
                            <a:srgbClr val="475569"/>
                          </a:solidFill>
                          <a:latin typeface="Calibri"/>
                        </a:rPr>
                        <a:t>no effect on plans</a:t>
                      </a:r>
                    </a:p>
                  </a:txBody>
                  <a:tcPr marT="27432" marB="27432">
                    <a:solidFill>
                      <a:srgbClr val="F1F5F9"/>
                    </a:solidFill>
                  </a:tcPr>
                </a:tc>
              </a:tr>
              <a:tr h="457200">
                <a:tc>
                  <a:txBody>
                    <a:bodyPr/>
                    <a:lstStyle/>
                    <a:p>
                      <a:r>
                        <a:rPr sz="1100">
                          <a:solidFill>
                            <a:srgbClr val="475569"/>
                          </a:solidFill>
                          <a:latin typeface="Calibri"/>
                        </a:rPr>
                        <a:t>Schemas / validators not wired</a:t>
                      </a:r>
                    </a:p>
                  </a:txBody>
                  <a:tcPr marT="27432" marB="27432">
                    <a:solidFill>
                      <a:srgbClr val="FFFFFF"/>
                    </a:solidFill>
                  </a:tcPr>
                </a:tc>
                <a:tc>
                  <a:txBody>
                    <a:bodyPr/>
                    <a:lstStyle/>
                    <a:p>
                      <a:r>
                        <a:rPr sz="1100">
                          <a:solidFill>
                            <a:srgbClr val="475569"/>
                          </a:solidFill>
                          <a:latin typeface="Calibri"/>
                        </a:rPr>
                        <a:t>25/100 nodes fail</a:t>
                      </a:r>
                    </a:p>
                  </a:txBody>
                  <a:tcPr marT="27432" marB="27432">
                    <a:solidFill>
                      <a:srgbClr val="FFFFFF"/>
                    </a:solidFill>
                  </a:tcPr>
                </a:tc>
              </a:tr>
              <a:tr h="457200">
                <a:tc>
                  <a:txBody>
                    <a:bodyPr/>
                    <a:lstStyle/>
                    <a:p>
                      <a:r>
                        <a:rPr sz="1100">
                          <a:solidFill>
                            <a:srgbClr val="475569"/>
                          </a:solidFill>
                          <a:latin typeface="Calibri"/>
                        </a:rPr>
                        <a:t>Predictions, not executions</a:t>
                      </a:r>
                    </a:p>
                  </a:txBody>
                  <a:tcPr marT="27432" marB="27432">
                    <a:solidFill>
                      <a:srgbClr val="F1F5F9"/>
                    </a:solidFill>
                  </a:tcPr>
                </a:tc>
                <a:tc>
                  <a:txBody>
                    <a:bodyPr/>
                    <a:lstStyle/>
                    <a:p>
                      <a:r>
                        <a:rPr sz="1100">
                          <a:solidFill>
                            <a:srgbClr val="475569"/>
                          </a:solidFill>
                          <a:latin typeface="Calibri"/>
                        </a:rPr>
                        <a:t>single seed</a:t>
                      </a:r>
                    </a:p>
                  </a:txBody>
                  <a:tcPr marT="27432" marB="27432">
                    <a:solidFill>
                      <a:srgbClr val="F1F5F9"/>
                    </a:solidFill>
                  </a:tcPr>
                </a:tc>
              </a:tr>
            </a:tbl>
          </a:graphicData>
        </a:graphic>
      </p:graphicFrame>
      <p:sp>
        <p:nvSpPr>
          <p:cNvPr id="9" name="TextBox 8"/>
          <p:cNvSpPr txBox="1"/>
          <p:nvPr/>
        </p:nvSpPr>
        <p:spPr>
          <a:xfrm>
            <a:off x="457200" y="4937760"/>
            <a:ext cx="5120640" cy="1280160"/>
          </a:xfrm>
          <a:prstGeom prst="rect">
            <a:avLst/>
          </a:prstGeom>
          <a:noFill/>
        </p:spPr>
        <p:txBody>
          <a:bodyPr wrap="square" anchor="t">
            <a:spAutoFit/>
          </a:bodyPr>
          <a:lstStyle/>
          <a:p>
            <a:pPr algn="l">
              <a:spcAft>
                <a:spcPts val="500"/>
              </a:spcAft>
            </a:pPr>
            <a:r>
              <a:rPr sz="1300" b="0">
                <a:solidFill>
                  <a:srgbClr val="475569"/>
                </a:solidFill>
                <a:latin typeface="Calibri"/>
              </a:rPr>
              <a:t>166 tests pass in 8.6 s; the gate is deterministic (byte-identical reruns).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nchor="ctr">
            <a:spAutoFit/>
          </a:bodyPr>
          <a:lstStyle/>
          <a:p>
            <a:pPr algn="l">
              <a:spcAft>
                <a:spcPts val="500"/>
              </a:spcAft>
            </a:pPr>
            <a:r>
              <a:rPr sz="3000" b="1">
                <a:solidFill>
                  <a:srgbClr val="FFFFFF"/>
                </a:solidFill>
                <a:latin typeface="Calibri"/>
              </a:rPr>
              <a:t>Conclusion and Future Scope</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500"/>
              </a:spcAft>
            </a:pPr>
            <a:r>
              <a:rPr sz="1100" b="0">
                <a:solidFill>
                  <a:srgbClr val="475569"/>
                </a:solidFill>
                <a:latin typeface="Calibri"/>
              </a:rPr>
              <a:t>• RAP twin | Group 01 | Department Research Colloquium 2026</a:t>
            </a:r>
          </a:p>
        </p:txBody>
      </p:sp>
      <p:sp>
        <p:nvSpPr>
          <p:cNvPr id="6" name="TextBox 5"/>
          <p:cNvSpPr txBox="1"/>
          <p:nvPr/>
        </p:nvSpPr>
        <p:spPr>
          <a:xfrm>
            <a:off x="11155680" y="6446520"/>
            <a:ext cx="731520" cy="320040"/>
          </a:xfrm>
          <a:prstGeom prst="rect">
            <a:avLst/>
          </a:prstGeom>
          <a:noFill/>
        </p:spPr>
        <p:txBody>
          <a:bodyPr wrap="square" anchor="t">
            <a:spAutoFit/>
          </a:bodyPr>
          <a:lstStyle/>
          <a:p>
            <a:pPr algn="r">
              <a:spcAft>
                <a:spcPts val="500"/>
              </a:spcAft>
            </a:pPr>
            <a:r>
              <a:rPr sz="1100" b="0">
                <a:solidFill>
                  <a:srgbClr val="475569"/>
                </a:solidFill>
                <a:latin typeface="Calibri"/>
              </a:rPr>
              <a:t>19</a:t>
            </a:r>
          </a:p>
        </p:txBody>
      </p:sp>
      <p:sp>
        <p:nvSpPr>
          <p:cNvPr id="7" name="Rectangle 6"/>
          <p:cNvSpPr/>
          <p:nvPr/>
        </p:nvSpPr>
        <p:spPr>
          <a:xfrm>
            <a:off x="457200" y="1280160"/>
            <a:ext cx="3749039" cy="49377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280160"/>
            <a:ext cx="73152" cy="493776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353312"/>
            <a:ext cx="3474720" cy="457200"/>
          </a:xfrm>
          <a:prstGeom prst="rect">
            <a:avLst/>
          </a:prstGeom>
          <a:noFill/>
        </p:spPr>
        <p:txBody>
          <a:bodyPr wrap="square" anchor="t">
            <a:spAutoFit/>
          </a:bodyPr>
          <a:lstStyle/>
          <a:p>
            <a:pPr algn="l">
              <a:spcAft>
                <a:spcPts val="500"/>
              </a:spcAft>
            </a:pPr>
            <a:r>
              <a:rPr sz="1800" b="1">
                <a:solidFill>
                  <a:srgbClr val="15803D"/>
                </a:solidFill>
                <a:latin typeface="Calibri"/>
              </a:rPr>
              <a:t>Conclusion</a:t>
            </a:r>
          </a:p>
        </p:txBody>
      </p:sp>
      <p:sp>
        <p:nvSpPr>
          <p:cNvPr id="10" name="TextBox 9"/>
          <p:cNvSpPr txBox="1"/>
          <p:nvPr/>
        </p:nvSpPr>
        <p:spPr>
          <a:xfrm>
            <a:off x="640080" y="1828800"/>
            <a:ext cx="3428999" cy="4343400"/>
          </a:xfrm>
          <a:prstGeom prst="rect">
            <a:avLst/>
          </a:prstGeom>
          <a:noFill/>
        </p:spPr>
        <p:txBody>
          <a:bodyPr wrap="square" anchor="t">
            <a:spAutoFit/>
          </a:bodyPr>
          <a:lstStyle/>
          <a:p>
            <a:pPr algn="l">
              <a:spcAft>
                <a:spcPts val="500"/>
              </a:spcAft>
            </a:pPr>
            <a:r>
              <a:rPr sz="1400" b="0">
                <a:solidFill>
                  <a:srgbClr val="475569"/>
                </a:solidFill>
                <a:latin typeface="Calibri"/>
              </a:rPr>
              <a:t>• Working, deployed sandbox with 166 passing tests</a:t>
            </a:r>
          </a:p>
          <a:p>
            <a:pPr algn="l">
              <a:spcAft>
                <a:spcPts val="500"/>
              </a:spcAft>
            </a:pPr>
            <a:r>
              <a:rPr sz="1400" b="0">
                <a:solidFill>
                  <a:srgbClr val="475569"/>
                </a:solidFill>
                <a:latin typeface="Calibri"/>
              </a:rPr>
              <a:t>• No strategy wins every metric</a:t>
            </a:r>
          </a:p>
          <a:p>
            <a:pPr algn="l">
              <a:spcAft>
                <a:spcPts val="500"/>
              </a:spcAft>
            </a:pPr>
            <a:r>
              <a:rPr sz="1400" b="0">
                <a:solidFill>
                  <a:srgbClr val="475569"/>
                </a:solidFill>
                <a:latin typeface="Calibri"/>
              </a:rPr>
              <a:t>• Rate-based carbon/cost objectives are proxies</a:t>
            </a:r>
          </a:p>
          <a:p>
            <a:pPr algn="l">
              <a:spcAft>
                <a:spcPts val="500"/>
              </a:spcAft>
            </a:pPr>
            <a:r>
              <a:rPr sz="1400" b="0">
                <a:solidFill>
                  <a:srgbClr val="475569"/>
                </a:solidFill>
                <a:latin typeface="Calibri"/>
              </a:rPr>
              <a:t>• Gate, scripts and honest limits are results themselves</a:t>
            </a:r>
          </a:p>
        </p:txBody>
      </p:sp>
      <p:sp>
        <p:nvSpPr>
          <p:cNvPr id="11" name="Rectangle 10"/>
          <p:cNvSpPr/>
          <p:nvPr/>
        </p:nvSpPr>
        <p:spPr>
          <a:xfrm>
            <a:off x="4389120" y="1280160"/>
            <a:ext cx="3200400" cy="49377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280160"/>
            <a:ext cx="73152" cy="49377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353312"/>
            <a:ext cx="2926080" cy="457200"/>
          </a:xfrm>
          <a:prstGeom prst="rect">
            <a:avLst/>
          </a:prstGeom>
          <a:noFill/>
        </p:spPr>
        <p:txBody>
          <a:bodyPr wrap="square" anchor="t">
            <a:spAutoFit/>
          </a:bodyPr>
          <a:lstStyle/>
          <a:p>
            <a:pPr algn="l">
              <a:spcAft>
                <a:spcPts val="500"/>
              </a:spcAft>
            </a:pPr>
            <a:r>
              <a:rPr sz="1800" b="1">
                <a:solidFill>
                  <a:srgbClr val="B45309"/>
                </a:solidFill>
                <a:latin typeface="Calibri"/>
              </a:rPr>
              <a:t>Limitations</a:t>
            </a:r>
          </a:p>
        </p:txBody>
      </p:sp>
      <p:sp>
        <p:nvSpPr>
          <p:cNvPr id="14" name="TextBox 13"/>
          <p:cNvSpPr txBox="1"/>
          <p:nvPr/>
        </p:nvSpPr>
        <p:spPr>
          <a:xfrm>
            <a:off x="4572000" y="1828800"/>
            <a:ext cx="2880360" cy="4343400"/>
          </a:xfrm>
          <a:prstGeom prst="rect">
            <a:avLst/>
          </a:prstGeom>
          <a:noFill/>
        </p:spPr>
        <p:txBody>
          <a:bodyPr wrap="square" anchor="t">
            <a:spAutoFit/>
          </a:bodyPr>
          <a:lstStyle/>
          <a:p>
            <a:pPr algn="l">
              <a:spcAft>
                <a:spcPts val="500"/>
              </a:spcAft>
            </a:pPr>
            <a:r>
              <a:rPr sz="1400" b="0">
                <a:solidFill>
                  <a:srgbClr val="475569"/>
                </a:solidFill>
                <a:latin typeface="Calibri"/>
              </a:rPr>
              <a:t>• Latencies are model predictions, not executed workloads</a:t>
            </a:r>
          </a:p>
          <a:p>
            <a:pPr algn="l">
              <a:spcAft>
                <a:spcPts val="500"/>
              </a:spcAft>
            </a:pPr>
            <a:r>
              <a:rPr sz="1400" b="0">
                <a:solidFill>
                  <a:srgbClr val="475569"/>
                </a:solidFill>
                <a:latin typeface="Calibri"/>
              </a:rPr>
              <a:t>• Single seed</a:t>
            </a:r>
          </a:p>
          <a:p>
            <a:pPr algn="l">
              <a:spcAft>
                <a:spcPts val="500"/>
              </a:spcAft>
            </a:pPr>
            <a:r>
              <a:rPr sz="1400" b="0">
                <a:solidFill>
                  <a:srgbClr val="475569"/>
                </a:solidFill>
                <a:latin typeface="Calibri"/>
              </a:rPr>
              <a:t>• Over-provisioned fabric</a:t>
            </a:r>
          </a:p>
        </p:txBody>
      </p:sp>
      <p:sp>
        <p:nvSpPr>
          <p:cNvPr id="15" name="Rectangle 14"/>
          <p:cNvSpPr/>
          <p:nvPr/>
        </p:nvSpPr>
        <p:spPr>
          <a:xfrm>
            <a:off x="7772400" y="1280160"/>
            <a:ext cx="3931920" cy="49377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0" y="1280160"/>
            <a:ext cx="73152" cy="49377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79" y="1353312"/>
            <a:ext cx="3657600" cy="457200"/>
          </a:xfrm>
          <a:prstGeom prst="rect">
            <a:avLst/>
          </a:prstGeom>
          <a:noFill/>
        </p:spPr>
        <p:txBody>
          <a:bodyPr wrap="square" anchor="t">
            <a:spAutoFit/>
          </a:bodyPr>
          <a:lstStyle/>
          <a:p>
            <a:pPr algn="l">
              <a:spcAft>
                <a:spcPts val="500"/>
              </a:spcAft>
            </a:pPr>
            <a:r>
              <a:rPr sz="1800" b="1">
                <a:solidFill>
                  <a:srgbClr val="2563EB"/>
                </a:solidFill>
                <a:latin typeface="Calibri"/>
              </a:rPr>
              <a:t>Future scope</a:t>
            </a:r>
          </a:p>
        </p:txBody>
      </p:sp>
      <p:sp>
        <p:nvSpPr>
          <p:cNvPr id="18" name="TextBox 17"/>
          <p:cNvSpPr txBox="1"/>
          <p:nvPr/>
        </p:nvSpPr>
        <p:spPr>
          <a:xfrm>
            <a:off x="7955279" y="1828800"/>
            <a:ext cx="3611879" cy="4343400"/>
          </a:xfrm>
          <a:prstGeom prst="rect">
            <a:avLst/>
          </a:prstGeom>
          <a:noFill/>
        </p:spPr>
        <p:txBody>
          <a:bodyPr wrap="square" anchor="t">
            <a:spAutoFit/>
          </a:bodyPr>
          <a:lstStyle/>
          <a:p>
            <a:pPr algn="l">
              <a:spcAft>
                <a:spcPts val="500"/>
              </a:spcAft>
            </a:pPr>
            <a:r>
              <a:rPr sz="1400" b="0">
                <a:solidFill>
                  <a:srgbClr val="475569"/>
                </a:solidFill>
                <a:latin typeface="Calibri"/>
              </a:rPr>
              <a:t>• Algorithm recommendation: rank strategies per job</a:t>
            </a:r>
          </a:p>
          <a:p>
            <a:pPr algn="l">
              <a:spcAft>
                <a:spcPts val="500"/>
              </a:spcAft>
            </a:pPr>
            <a:r>
              <a:rPr sz="1400" b="0">
                <a:solidFill>
                  <a:srgbClr val="475569"/>
                </a:solidFill>
                <a:latin typeface="Calibri"/>
              </a:rPr>
              <a:t>• Fix RL-Markov capacity accounting and known defects; re-baseline gate</a:t>
            </a:r>
          </a:p>
          <a:p>
            <a:pPr algn="l">
              <a:spcAft>
                <a:spcPts val="500"/>
              </a:spcAft>
            </a:pPr>
            <a:r>
              <a:rPr sz="1400" b="0">
                <a:solidFill>
                  <a:srgbClr val="475569"/>
                </a:solidFill>
                <a:latin typeface="Calibri"/>
              </a:rPr>
              <a:t>• Validate against real containers; real RL loop; 5G/6G test-bed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4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nchor="ctr">
            <a:spAutoFit/>
          </a:bodyPr>
          <a:lstStyle/>
          <a:p>
            <a:pPr algn="l">
              <a:spcAft>
                <a:spcPts val="500"/>
              </a:spcAft>
            </a:pPr>
            <a:r>
              <a:rPr sz="3000" b="1">
                <a:solidFill>
                  <a:srgbClr val="FFFFFF"/>
                </a:solidFill>
                <a:latin typeface="Calibri"/>
              </a:rPr>
              <a:t>References and Acknowledgment</a:t>
            </a: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500"/>
              </a:spcAft>
            </a:pPr>
            <a:r>
              <a:rPr sz="1100" b="0">
                <a:solidFill>
                  <a:srgbClr val="475569"/>
                </a:solidFill>
                <a:latin typeface="Calibri"/>
              </a:rPr>
              <a:t>• RAP twin | Group 01 | Department Research Colloquium 2026</a:t>
            </a:r>
          </a:p>
        </p:txBody>
      </p:sp>
      <p:sp>
        <p:nvSpPr>
          <p:cNvPr id="6" name="TextBox 5"/>
          <p:cNvSpPr txBox="1"/>
          <p:nvPr/>
        </p:nvSpPr>
        <p:spPr>
          <a:xfrm>
            <a:off x="11155680" y="6446520"/>
            <a:ext cx="731520" cy="320040"/>
          </a:xfrm>
          <a:prstGeom prst="rect">
            <a:avLst/>
          </a:prstGeom>
          <a:noFill/>
        </p:spPr>
        <p:txBody>
          <a:bodyPr wrap="square" anchor="t">
            <a:spAutoFit/>
          </a:bodyPr>
          <a:lstStyle/>
          <a:p>
            <a:pPr algn="r">
              <a:spcAft>
                <a:spcPts val="500"/>
              </a:spcAft>
            </a:pPr>
            <a:r>
              <a:rPr sz="1100" b="0">
                <a:solidFill>
                  <a:srgbClr val="475569"/>
                </a:solidFill>
                <a:latin typeface="Calibri"/>
              </a:rPr>
              <a:t>20</a:t>
            </a:r>
          </a:p>
        </p:txBody>
      </p:sp>
      <p:sp>
        <p:nvSpPr>
          <p:cNvPr id="7" name="TextBox 6"/>
          <p:cNvSpPr txBox="1"/>
          <p:nvPr/>
        </p:nvSpPr>
        <p:spPr>
          <a:xfrm>
            <a:off x="457200" y="1188720"/>
            <a:ext cx="11247120" cy="4206240"/>
          </a:xfrm>
          <a:prstGeom prst="rect">
            <a:avLst/>
          </a:prstGeom>
          <a:noFill/>
        </p:spPr>
        <p:txBody>
          <a:bodyPr wrap="square" anchor="t">
            <a:spAutoFit/>
          </a:bodyPr>
          <a:lstStyle/>
          <a:p>
            <a:pPr algn="l">
              <a:spcAft>
                <a:spcPts val="500"/>
              </a:spcAft>
            </a:pPr>
            <a:r>
              <a:rPr sz="1250" b="0">
                <a:solidFill>
                  <a:srgbClr val="475569"/>
                </a:solidFill>
                <a:latin typeface="Calibri"/>
              </a:rPr>
              <a:t>[1] Q. Qi et al., "A review of digital twins in smart industries," IEEE Access, vol. 7, pp. 14232–14252, 2019.</a:t>
            </a:r>
          </a:p>
          <a:p>
            <a:pPr algn="l">
              <a:spcAft>
                <a:spcPts val="500"/>
              </a:spcAft>
            </a:pPr>
            <a:r>
              <a:rPr sz="1250" b="0">
                <a:solidFill>
                  <a:srgbClr val="475569"/>
                </a:solidFill>
                <a:latin typeface="Calibri"/>
              </a:rPr>
              <a:t>[2] A. Fuller et al., "Digital Twin: Enabling technologies, challenges and open research," IEEE Access, vol. 8, pp. 108952–108971, 2020.</a:t>
            </a:r>
          </a:p>
          <a:p>
            <a:pPr algn="l">
              <a:spcAft>
                <a:spcPts val="500"/>
              </a:spcAft>
            </a:pPr>
            <a:r>
              <a:rPr sz="1250" b="0">
                <a:solidFill>
                  <a:srgbClr val="475569"/>
                </a:solidFill>
                <a:latin typeface="Calibri"/>
              </a:rPr>
              <a:t>[3] Z. Lv et al., "Digital twins: A survey on enabling technologies, challenges, trends, and future prospects," IEEE Commun. Surveys Tuts., vol. 24, no. 1, pp. 54–87, 2022.</a:t>
            </a:r>
          </a:p>
          <a:p>
            <a:pPr algn="l">
              <a:spcAft>
                <a:spcPts val="500"/>
              </a:spcAft>
            </a:pPr>
            <a:r>
              <a:rPr sz="1250" b="0">
                <a:solidFill>
                  <a:srgbClr val="475569"/>
                </a:solidFill>
                <a:latin typeface="Calibri"/>
              </a:rPr>
              <a:t>[4] C. Xu et al., "Digital twin-driven collaborative scheduling for heterogeneous task and edge-end resource via multi-agent deep reinforcement learning," IEEE JSAC, vol. 41, no. 10, pp. 3056–3069, 2023.</a:t>
            </a:r>
          </a:p>
          <a:p>
            <a:pPr algn="l">
              <a:spcAft>
                <a:spcPts val="500"/>
              </a:spcAft>
            </a:pPr>
            <a:r>
              <a:rPr sz="1250" b="0">
                <a:solidFill>
                  <a:srgbClr val="475569"/>
                </a:solidFill>
                <a:latin typeface="Calibri"/>
              </a:rPr>
              <a:t>[5] Y. Dai et al., "Federated deep reinforcement learning for task offloading in digital twin edge networks," IEEE TNSE, vol. 11, no. 3, pp. 2849–2861, 2024.</a:t>
            </a:r>
          </a:p>
          <a:p>
            <a:pPr algn="l">
              <a:spcAft>
                <a:spcPts val="500"/>
              </a:spcAft>
            </a:pPr>
            <a:r>
              <a:rPr sz="1250" b="0">
                <a:solidFill>
                  <a:srgbClr val="475569"/>
                </a:solidFill>
                <a:latin typeface="Calibri"/>
              </a:rPr>
              <a:t>[6] E. Esen, A. Akbulut and C. Catal, "Chaos experiments in microservice architectures: A systematic literature review," Comput. Stand. Interfaces, vol. 97, p. 104116, 2026.</a:t>
            </a:r>
          </a:p>
          <a:p>
            <a:pPr algn="l">
              <a:spcAft>
                <a:spcPts val="500"/>
              </a:spcAft>
            </a:pPr>
            <a:r>
              <a:rPr sz="1250" b="0">
                <a:solidFill>
                  <a:srgbClr val="475569"/>
                </a:solidFill>
                <a:latin typeface="Calibri"/>
              </a:rPr>
              <a:t>[7] F. Poltronieri, M. Tortonesi and C. Stefanelli, "ChaosTwin: A chaos engineering and digital twin approach for the design of resilient IT services," in Proc. 17th CNSM, 2021.</a:t>
            </a:r>
          </a:p>
        </p:txBody>
      </p:sp>
      <p:sp>
        <p:nvSpPr>
          <p:cNvPr id="8" name="Rectangle 7"/>
          <p:cNvSpPr/>
          <p:nvPr/>
        </p:nvSpPr>
        <p:spPr>
          <a:xfrm>
            <a:off x="457200" y="5440680"/>
            <a:ext cx="11247120" cy="8686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486400"/>
            <a:ext cx="10881360" cy="777240"/>
          </a:xfrm>
          <a:prstGeom prst="rect">
            <a:avLst/>
          </a:prstGeom>
          <a:noFill/>
        </p:spPr>
        <p:txBody>
          <a:bodyPr wrap="square" anchor="ctr">
            <a:spAutoFit/>
          </a:bodyPr>
          <a:lstStyle/>
          <a:p>
            <a:pPr algn="l">
              <a:spcAft>
                <a:spcPts val="500"/>
              </a:spcAft>
            </a:pPr>
            <a:r>
              <a:rPr sz="1300" b="0">
                <a:solidFill>
                  <a:srgbClr val="2563EB"/>
                </a:solidFill>
                <a:latin typeface="Calibri"/>
              </a:rPr>
              <a:t>• Acknowledgment: We thank our guide Prof. K. K. Deshmukh, the Head of Department Prof. Dr. D. V. Medhane, and the Department of AI and DS, KKWIEER, Nashik, for guidance and support.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